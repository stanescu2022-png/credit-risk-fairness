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aafd786c6d4fb2" /><Relationship Type="http://schemas.openxmlformats.org/officeDocument/2006/relationships/extended-properties" Target="/docProps/app.xml" Id="R61d13549fae8438e" /><Relationship Type="http://schemas.openxmlformats.org/officeDocument/2006/relationships/officeDocument" Target="/ppt/presentation.xml" Id="R3ab6277d9dd44c88" /></Relationships>
</file>

<file path=ppt/presentation.xml><?xml version="1.0" encoding="utf-8"?>
<p:presentation xmlns:p="http://schemas.openxmlformats.org/presentationml/2006/main">
  <p:sldMasterIdLst>
    <p:sldMasterId xmlns:r="http://schemas.openxmlformats.org/officeDocument/2006/relationships" id="2147483648" r:id="Rf2bed15f90e742ce"/>
  </p:sldMasterIdLst>
  <p:notesMasterIdLst>
    <p:notesMasterId xmlns:r="http://schemas.openxmlformats.org/officeDocument/2006/relationships" r:id="R7c2a07085a43421e"/>
  </p:notesMasterIdLst>
  <p:sldIdLst>
    <p:sldId xmlns:r="http://schemas.openxmlformats.org/officeDocument/2006/relationships" id="256" r:id="R8b2c8aba65484119"/>
    <p:sldId xmlns:r="http://schemas.openxmlformats.org/officeDocument/2006/relationships" id="257" r:id="R0d8e3912264f4d06"/>
    <p:sldId xmlns:r="http://schemas.openxmlformats.org/officeDocument/2006/relationships" id="258" r:id="R1139300390844037"/>
    <p:sldId xmlns:r="http://schemas.openxmlformats.org/officeDocument/2006/relationships" id="259" r:id="R3829bdae66c84f80"/>
    <p:sldId xmlns:r="http://schemas.openxmlformats.org/officeDocument/2006/relationships" id="260" r:id="Rbe83d44bf79148ce"/>
    <p:sldId xmlns:r="http://schemas.openxmlformats.org/officeDocument/2006/relationships" id="261" r:id="R48173915c3204cbb"/>
    <p:sldId xmlns:r="http://schemas.openxmlformats.org/officeDocument/2006/relationships" id="262" r:id="R7823058de7674661"/>
    <p:sldId xmlns:r="http://schemas.openxmlformats.org/officeDocument/2006/relationships" id="263" r:id="R2c39c29df2054d71"/>
    <p:sldId xmlns:r="http://schemas.openxmlformats.org/officeDocument/2006/relationships" id="264" r:id="R89b87e961c6149a9"/>
    <p:sldId xmlns:r="http://schemas.openxmlformats.org/officeDocument/2006/relationships" id="265" r:id="R6fe81216b992439c"/>
    <p:sldId xmlns:r="http://schemas.openxmlformats.org/officeDocument/2006/relationships" id="266" r:id="R7a97f4ac566f4f0c"/>
    <p:sldId xmlns:r="http://schemas.openxmlformats.org/officeDocument/2006/relationships" id="267" r:id="Rfc65f541623649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531a0f5d80414a" /><Relationship Type="http://schemas.openxmlformats.org/officeDocument/2006/relationships/slideMaster" Target="/ppt/slideMasters/slideMaster1.xml" Id="Rf2bed15f90e742ce" /><Relationship Type="http://schemas.openxmlformats.org/officeDocument/2006/relationships/notesMaster" Target="/ppt/notesMasters/notesMaster1.xml" Id="R7c2a07085a43421e" /><Relationship Type="http://schemas.openxmlformats.org/officeDocument/2006/relationships/presProps" Target="/ppt/presProps.xml" Id="Rb84c013fdddf4e97" /><Relationship Type="http://schemas.openxmlformats.org/officeDocument/2006/relationships/tableStyles" Target="/ppt/tableStyles.xml" Id="Rd35f3cd59aac467d" /><Relationship Type="http://schemas.openxmlformats.org/officeDocument/2006/relationships/slide" Target="/ppt/slides/slide1.xml" Id="R8b2c8aba65484119" /><Relationship Type="http://schemas.openxmlformats.org/officeDocument/2006/relationships/slide" Target="/ppt/slides/slide2.xml" Id="R0d8e3912264f4d06" /><Relationship Type="http://schemas.openxmlformats.org/officeDocument/2006/relationships/slide" Target="/ppt/slides/slide3.xml" Id="R1139300390844037" /><Relationship Type="http://schemas.openxmlformats.org/officeDocument/2006/relationships/slide" Target="/ppt/slides/slide4.xml" Id="R3829bdae66c84f80" /><Relationship Type="http://schemas.openxmlformats.org/officeDocument/2006/relationships/slide" Target="/ppt/slides/slide5.xml" Id="Rbe83d44bf79148ce" /><Relationship Type="http://schemas.openxmlformats.org/officeDocument/2006/relationships/slide" Target="/ppt/slides/slide6.xml" Id="R48173915c3204cbb" /><Relationship Type="http://schemas.openxmlformats.org/officeDocument/2006/relationships/slide" Target="/ppt/slides/slide7.xml" Id="R7823058de7674661" /><Relationship Type="http://schemas.openxmlformats.org/officeDocument/2006/relationships/slide" Target="/ppt/slides/slide8.xml" Id="R2c39c29df2054d71" /><Relationship Type="http://schemas.openxmlformats.org/officeDocument/2006/relationships/slide" Target="/ppt/slides/slide9.xml" Id="R89b87e961c6149a9" /><Relationship Type="http://schemas.openxmlformats.org/officeDocument/2006/relationships/slide" Target="/ppt/slides/slide10.xml" Id="R6fe81216b992439c" /><Relationship Type="http://schemas.openxmlformats.org/officeDocument/2006/relationships/slide" Target="/ppt/slides/slide11.xml" Id="R7a97f4ac566f4f0c" /><Relationship Type="http://schemas.openxmlformats.org/officeDocument/2006/relationships/slide" Target="/ppt/slides/slide12.xml" Id="Rfc65f541623649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c34e76fb7a46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f913ab66944c48" /><Relationship Type="http://schemas.openxmlformats.org/officeDocument/2006/relationships/notesMaster" Target="/ppt/notesMasters/notesMaster1.xml" Id="R886fd616af6544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7150a0a61648e3" /><Relationship Type="http://schemas.openxmlformats.org/officeDocument/2006/relationships/notesMaster" Target="/ppt/notesMasters/notesMaster1.xml" Id="R6e6011da02ed4f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2d0d40a37d4369" /><Relationship Type="http://schemas.openxmlformats.org/officeDocument/2006/relationships/notesMaster" Target="/ppt/notesMasters/notesMaster1.xml" Id="R69867bd8d4cf4d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b5410cc4f941da" /><Relationship Type="http://schemas.openxmlformats.org/officeDocument/2006/relationships/notesMaster" Target="/ppt/notesMasters/notesMaster1.xml" Id="Rae4dfc7e11f94a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71687112044f67" /><Relationship Type="http://schemas.openxmlformats.org/officeDocument/2006/relationships/notesMaster" Target="/ppt/notesMasters/notesMaster1.xml" Id="Rbf5da697b38a41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c931556f874520" /><Relationship Type="http://schemas.openxmlformats.org/officeDocument/2006/relationships/notesMaster" Target="/ppt/notesMasters/notesMaster1.xml" Id="R3a31d1866927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ffc943a3744c69" /><Relationship Type="http://schemas.openxmlformats.org/officeDocument/2006/relationships/notesMaster" Target="/ppt/notesMasters/notesMaster1.xml" Id="R733a0f877cc841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498298bfe84e73" /><Relationship Type="http://schemas.openxmlformats.org/officeDocument/2006/relationships/notesMaster" Target="/ppt/notesMasters/notesMaster1.xml" Id="R67d4f3528a9a40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50e61d7cfa4573" /><Relationship Type="http://schemas.openxmlformats.org/officeDocument/2006/relationships/notesMaster" Target="/ppt/notesMasters/notesMaster1.xml" Id="Rdf4f4f2c21ee4b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eab94d7b0a480a" /><Relationship Type="http://schemas.openxmlformats.org/officeDocument/2006/relationships/notesMaster" Target="/ppt/notesMasters/notesMaster1.xml" Id="Re7dfa664f78246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efe7da3f6b45ac" /><Relationship Type="http://schemas.openxmlformats.org/officeDocument/2006/relationships/notesMaster" Target="/ppt/notesMasters/notesMaster1.xml" Id="R500880ddb3674b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14ae8b5a1a45e5" /><Relationship Type="http://schemas.openxmlformats.org/officeDocument/2006/relationships/notesMaster" Target="/ppt/notesMasters/notesMaster1.xml" Id="Rae0f1277b9a84b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30-45 secunde. Întrebarea de pornire este ce câștigăm printr-un model mai complex și ce compromisuri apar. Comparăm rezultatele empirice ale logisticii și boostingului, apoi discutăm intenția cadrului propus. Nu prezentăm acest cadru ca fiind deja validat și nu revendicăm o metodă statistică nouă.</a:t>
            </a:r>
          </a:p>
          <a:p xmlns:a="http://schemas.openxmlformats.org/drawingml/2006/main">
            <a:r>
              <a:t/>
            </a:r>
          </a:p>
          <a:p xmlns:a="http://schemas.openxmlformats.org/drawingml/2006/main">
            <a:r>
              <a:t>Surse în proiect:</a:t>
            </a:r>
          </a:p>
          <a:p xmlns:a="http://schemas.openxmlformats.org/drawingml/2006/main">
            <a:r>
              <a:t>outputs/stabilization_report.md; data/README.md; README.md</a:t>
            </a:r>
          </a:p>
          <a:p xmlns:a="http://schemas.openxmlformats.org/drawingml/2006/main">
            <a:r>
              <a:t>docs/context/sources/Trustworthy-AI-Framework-Proposal_new.docx; extrasul text corespunzător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Setul public UCI conține 30.000 de înregistrări Taiwan, cu default în luna următoare. Am păstrat toate rândurile. Gruparea pe cei 22 de predictori a eliminat overlap-ul exact prin modificarea a 34 de atribuiri. Predictorii identici nu dovedesc că este aceeași persoană. Modelele finale și preprocesarea sunt salvate. CV folosește modele temporare în antrenare. Holdout-ul fusese inspectat înainte de blocare, fapt care trebuie declarat.</a:t>
            </a:r>
          </a:p>
          <a:p xmlns:a="http://schemas.openxmlformats.org/drawingml/2006/main">
            <a:r>
              <a:t/>
            </a:r>
          </a:p>
          <a:p xmlns:a="http://schemas.openxmlformats.org/drawingml/2006/main">
            <a:r>
              <a:t>Surse în proiect:</a:t>
            </a:r>
          </a:p>
          <a:p xmlns:a="http://schemas.openxmlformats.org/drawingml/2006/main">
            <a:r>
              <a:t>outputs/stabilization_report.md; data/README.md; README.md</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AUC și AP descriu ordonarea riscului; recall descrie câte default-uri detectăm la 0,50. Logistică: AUC 0,7569, AP 0,5270, accuracy 0,8180, recall 0,3545. Boosting: AUC 0,7781, AP 0,5521, accuracy 0,8177, recall 0,3515. Brier și log loss sunt mai mici pentru boosting. Intervalele din explorer sunt marginale și nu reprezintă un test al diferenței între modele. Nu am selectat un prag nou.</a:t>
            </a:r>
          </a:p>
          <a:p xmlns:a="http://schemas.openxmlformats.org/drawingml/2006/main">
            <a:r>
              <a:t/>
            </a:r>
          </a:p>
          <a:p xmlns:a="http://schemas.openxmlformats.org/drawingml/2006/main">
            <a:r>
              <a:t>Surse în proiect:</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pp înseamnă puncte procentuale. Recall și FPR sunt femei minus bărbați. SAFE parity este gapul unsigned max-minus-min între RGA-urile de grup. În acest set binar, RGA coincide numeric cu AUC; nu presupunem identitatea în orice problemă. Boosting are gap SAFE mai mic, dar gapuri absolute de recall/FPR mai mari. Intervalele semnate includ zero, fără a dovedi echivalență sau absența disparităților. Flagul pozitiv este un risc de default, nu o aprobare.</a:t>
            </a:r>
          </a:p>
          <a:p xmlns:a="http://schemas.openxmlformats.org/drawingml/2006/main">
            <a:r>
              <a:t/>
            </a:r>
          </a:p>
          <a:p xmlns:a="http://schemas.openxmlformats.org/drawingml/2006/main">
            <a:r>
              <a:t>Surse în proiect:</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PAY_0 și LIMIT_BAL conduc ambele modele. Primele trei variabile sunt PAY_0, LIMIT_BAL, PAY_6 la logistică și PAY_0, LIMIT_BAL, PAY_AMT1 la boosting. SHAP explică log-odds față de un background de 100 de rânduri de training. Contribuțiile pentru 85 de coloane transformate sunt agregate la 22 de predictori; pentru boosting aceasta nu este un joc nou de coaliții pe inputuri brute. RGE măsoară schimbarea ordonării la înlocuirea cu referințe training. SHAP apare deja în KAIRI. Exemplul ID 2 din explorer este un default ratat de ambele modele; cazurile sunt ilustrative, nu reprezentative.</a:t>
            </a:r>
          </a:p>
          <a:p xmlns:a="http://schemas.openxmlformats.org/drawingml/2006/main">
            <a:r>
              <a:t/>
            </a:r>
          </a:p>
          <a:p xmlns:a="http://schemas.openxmlformats.org/drawingml/2006/main">
            <a:r>
              <a:t>Surse în proiect:</a:t>
            </a:r>
          </a:p>
          <a:p xmlns:a="http://schemas.openxmlformats.org/drawingml/2006/main">
            <a:r>
              <a:t>outputs/explainability_evaluation_report.md; outputs/tables/explainability_evaluation/model_summary.csv; local_shap_contributions.csv</a:t>
            </a:r>
          </a:p>
          <a:p xmlns:a="http://schemas.openxmlformats.org/drawingml/2006/main">
            <a:r>
              <a:t>docs/context/sources/3. 1-s2.0-S0957417423017220-main.pdf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secunde. SAFE p=0,05 schimbă cozi opuse; p nu înseamnă o modificare de 5% a fiecărei valori. Joint SAFE schimbă inputuri pentru aproximativ 65,14% din holdout. Semantic q=0,10 selectează circa 10% și aplică reguli cu IQR de training, vârstă, întârzieri pozitive valide și substituții categoriale. Există 30 de repetări semantice. Mișcarea medie este 0,51 pp la logistică și 0,83 pp la boosting. Diferența pereche este 0,318 pp, cu IC95% condiționat [0,297; 0,340] pp. RGR are doar estimări punctuale și normalizare specifică modelului. Stresurile nu sunt echivalente; outcome-ul observat rămâne fix.</a:t>
            </a:r>
          </a:p>
          <a:p xmlns:a="http://schemas.openxmlformats.org/drawingml/2006/main">
            <a:r>
              <a:t/>
            </a:r>
          </a:p>
          <a:p xmlns:a="http://schemas.openxmlformats.org/drawingml/2006/main">
            <a:r>
              <a:t>Surse în proiect:</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Acesta este un rezumat al propunerii colegului, nu o validare. Documentul cere indicatori complementari cu formule, teste, clasificare după accesul la model și surse. Propune o axă de incertitudine/calibrare și bias transversal. Maparea la EU AI Act, NIST și HLEG rămâne propusă, fără validare juridică. Tabelul de incertitudine din draft repetă rânduri de explainability; pentru acest rezumat folosim intenția explicită din introducere, iar draftul va trebui corectat.</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secunde. Nu calculăm un procent de framework finalizat. Brier și log loss există, dar DM, DeLong și MCS nu au fost executate. Ratele/gapurile/rapoartele de grup și IC există, însă nu testele z/permutare propuse și nici entropia. Corupțiile semantice nu echivalează cu energy/MMD sau DeepFool. SHAP/RGE nu echivalează cu AOPC/fidelitate/randomizare, iar grupurile SHAP nu au teste KS. ECE global și intervalele condiționate nu sunt decompoziție aleatorică/epistemică sau conformal. Acoperirea este parțială, la nivelul unor indicatori și diagnostice.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Întrebarea este dacă procedurile propuse răspund estimanzilor și dependenței din date. Bootstrap-ul curent nu înlocuiește automat alte teste. Analiza actuală include rezultate/erori pe SEX, asocieri descriptive în training, SHAP pe grupuri și robustețe pe grupuri; nu avem o baterie completă de bias transversal sau calibrare pe grupuri. Un singur set Taiwan și un holdout anterior inspectat limitează confirmarea. PSI, monitorizarea temporală și datele românești rămân în afara muncii executate.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docs/context/sources/3. 1-s2.0-S0957417423017220-main.pdf</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Încheiem cerând feedback concret: adecvarea bazei, prioritatea extensiilor și formularea contribuției. Nu cerem validarea implicită a tuturor indicatorilor din draft. Propunem un subset coerent, cu ipoteze și proceduri adecvate, înainte de implementare. Păstrăm cea mai mare parte din întâlnirea de 30 de minute pentru dialog. Explorerul poate susține o întrebare fără a-l parcurge integral.</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outputs/stabilization_report.md; data/README.md;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întrebări tehnice. Bootstrap-ul are 2.000 de resample-uri pe grupuri exacte, seed 42, intervale percentile. Grupurile pot traversa SEX/outcome și sunt păstrate intacte. Modelele împart resample-urile. Intervalele sunt condiționate pe modele și date observate, iar robustețea pe realizările salvate; fiecare repetare semantică este recalculată ca metrică în resample înainte de mediere. SD între 30 de repetări nu este un interval de sampling. Verificarea salvată a robusteții raportează 30 de teste și 24 de CSV/cache identice în două rulări. Explorerul este un snapshot offline, nu un acces live la bază de date.</a:t>
            </a:r>
          </a:p>
          <a:p xmlns:a="http://schemas.openxmlformats.org/drawingml/2006/main">
            <a:r>
              <a:t/>
            </a:r>
          </a:p>
          <a:p xmlns:a="http://schemas.openxmlformats.org/drawingml/2006/main">
            <a:r>
              <a:t>Surse în proiect:</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outputs/robustness_evaluation_report.md; outputs/tables/robustness_evaluation/protocol.json; diagnostic_summary.csv; sampling_intervals.csv</a:t>
            </a:r>
          </a:p>
          <a:p xmlns:a="http://schemas.openxmlformats.org/drawingml/2006/main">
            <a:r>
              <a:t>explorer/README.md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acoperirea indicatorilor. Scor calculat și test executat sunt două stări distincte. Interpretarea rapoartelor de flagging depinde de sensul labelului pozitiv; nu mapăm automat un raport de default la discriminare în aprobarea creditelor. Media probabilității versus frecvență este descriptivă, fără test t. Datele SHAP sunt salvate, dar testele KS/Gini nu au fost rulate. Testele propuse trebuie revizuite pentru adecvare statistică; nu le tratăm ca o listă obligatorie validată. MCS, AOPC și conformal sunt neimplementate.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9dd63264364f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c79db8443b4b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7df9d066b54a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1d56f3a8b848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419207dca54d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113b5422924e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8A1463-6BA1-4BFF-A792-71BE248443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27C10C-6641-4C1A-8A7A-C53C6BA00C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E6D0-5242-47FD-A157-F602C1434D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82B0D8-A9D7-4F40-A3B8-ECBF37A2F8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35C194-F55E-4E39-BDE6-ABB96FC116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0D840F-1982-4D25-AE78-5B1C97E4DD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506D1A-7884-4C6C-8EC4-FDF36D78D3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E6134C-48A2-4EE7-909A-A92B66A33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7DBC4-160B-4F9B-95EE-D9EE38D6ED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CB653C-7621-43E1-ADB3-55D3F2F618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59f90746824061" /><Relationship Type="http://schemas.openxmlformats.org/officeDocument/2006/relationships/slideLayout" Target="/ppt/slideLayouts/slideLayout1.xml" Id="R16cfb98f8f734842" /><Relationship Type="http://schemas.openxmlformats.org/officeDocument/2006/relationships/slideLayout" Target="/ppt/slideLayouts/slideLayout2.xml" Id="R32a9c2b2699d4c9e" /><Relationship Type="http://schemas.openxmlformats.org/officeDocument/2006/relationships/slideLayout" Target="/ppt/slideLayouts/slideLayout3.xml" Id="R234ac4e3a28c4dc7" /><Relationship Type="http://schemas.openxmlformats.org/officeDocument/2006/relationships/slideLayout" Target="/ppt/slideLayouts/slideLayout4.xml" Id="Rc8d2b5f812934d9e" /><Relationship Type="http://schemas.openxmlformats.org/officeDocument/2006/relationships/slideLayout" Target="/ppt/slideLayouts/slideLayout5.xml" Id="Rafff686ec6ed4e0e" /><Relationship Type="http://schemas.openxmlformats.org/officeDocument/2006/relationships/slideLayout" Target="/ppt/slideLayouts/slideLayout6.xml" Id="R606bf367e35046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cfb98f8f734842"/>
    <p:sldLayoutId xmlns:r="http://schemas.openxmlformats.org/officeDocument/2006/relationships" id="2147483650" r:id="R32a9c2b2699d4c9e"/>
    <p:sldLayoutId xmlns:r="http://schemas.openxmlformats.org/officeDocument/2006/relationships" id="2147483651" r:id="R234ac4e3a28c4dc7"/>
    <p:sldLayoutId xmlns:r="http://schemas.openxmlformats.org/officeDocument/2006/relationships" id="2147483652" r:id="Rc8d2b5f812934d9e"/>
    <p:sldLayoutId xmlns:r="http://schemas.openxmlformats.org/officeDocument/2006/relationships" id="2147483653" r:id="Rafff686ec6ed4e0e"/>
    <p:sldLayoutId xmlns:r="http://schemas.openxmlformats.org/officeDocument/2006/relationships" id="2147483654" r:id="R606bf367e35046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a78e8a4d3749f0" /><Relationship Type="http://schemas.openxmlformats.org/officeDocument/2006/relationships/notesSlide" Target="/ppt/notesSlides/notesSlide1.xml" Id="Ra7cdcac14f344a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485d54fd444d2c" /><Relationship Type="http://schemas.openxmlformats.org/officeDocument/2006/relationships/notesSlide" Target="/ppt/notesSlides/notesSlide2.xml" Id="Rb37121c5d2474f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2387d0beae44ff" /><Relationship Type="http://schemas.openxmlformats.org/officeDocument/2006/relationships/chart" Target="/ppt/slides/charts/chart1.xml" Id="R7ed17c5718fb48f0" /><Relationship Type="http://schemas.openxmlformats.org/officeDocument/2006/relationships/notesSlide" Target="/ppt/notesSlides/notesSlide3.xml" Id="R0df1c24c611249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b196c5d83b46b8" /><Relationship Type="http://schemas.openxmlformats.org/officeDocument/2006/relationships/notesSlide" Target="/ppt/notesSlides/notesSlide4.xml" Id="R8c8cf4f626fa4f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16dd39d4f94d3e" /><Relationship Type="http://schemas.openxmlformats.org/officeDocument/2006/relationships/chart" Target="/ppt/slides/charts/chart2.xml" Id="R46feeb275ffe492d" /><Relationship Type="http://schemas.openxmlformats.org/officeDocument/2006/relationships/notesSlide" Target="/ppt/notesSlides/notesSlide5.xml" Id="R2d0a74acb2a44a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58817d601c4380" /><Relationship Type="http://schemas.openxmlformats.org/officeDocument/2006/relationships/notesSlide" Target="/ppt/notesSlides/notesSlide6.xml" Id="R339fb54df1244c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521f6680254835" /><Relationship Type="http://schemas.openxmlformats.org/officeDocument/2006/relationships/notesSlide" Target="/ppt/notesSlides/notesSlide7.xml" Id="R0326c3c6a3e54b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57cca2d47a4010" /><Relationship Type="http://schemas.openxmlformats.org/officeDocument/2006/relationships/notesSlide" Target="/ppt/notesSlides/notesSlide8.xml" Id="R4d720fdd80404d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19e098c44040b1" /><Relationship Type="http://schemas.openxmlformats.org/officeDocument/2006/relationships/notesSlide" Target="/ppt/notesSlides/notesSlide9.xml" Id="R09ba27add29942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bab531acd35403c" /><Relationship Type="http://schemas.openxmlformats.org/officeDocument/2006/relationships/notesSlide" Target="/ppt/notesSlides/notesSlide10.xml" Id="Ra4cd8f30192b4f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d25bbc1d5d402b" /><Relationship Type="http://schemas.openxmlformats.org/officeDocument/2006/relationships/notesSlide" Target="/ppt/notesSlides/notesSlide11.xml" Id="Rdfeda0c70f6144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22e92d19064d4c" /><Relationship Type="http://schemas.openxmlformats.org/officeDocument/2006/relationships/notesSlide" Target="/ppt/notesSlides/notesSlide12.xml" Id="R69bf153f5c6347e9" /></Relationships>
</file>

<file path=ppt/slides/charts/chart1.xml><?xml version="1.0" encoding="utf-8"?>
<c:chartSpace xmlns:c="http://schemas.openxmlformats.org/drawingml/2006/chart">
  <c:lang val="en-US"/>
  <c:chart>
    <c:plotArea>
      <c:barChart>
        <c:barDir val="col"/>
        <c:grouping val="clustered"/>
        <c:varyColors val="0"/>
        <c:ser>
          <c:idx val="0"/>
          <c:order val="0"/>
          <c:tx>
            <c:v>Logistică</c:v>
          </c:tx>
          <c:spPr>
            <a:solidFill xmlns:a="http://schemas.openxmlformats.org/drawingml/2006/main">
              <a:srgbClr val="245FC9"/>
            </a:solidFill>
          </c:spPr>
          <c:cat>
            <c:strLit>
              <c:ptCount val="2"/>
              <c:pt idx="0">
                <c:v>ROC-AUC</c:v>
              </c:pt>
              <c:pt idx="1">
                <c:v>Average precision</c:v>
              </c:pt>
            </c:strLit>
          </c:cat>
          <c:val>
            <c:numLit>
              <c:formatCode>0.000</c:formatCode>
              <c:ptCount val="2"/>
              <c:pt idx="0">
                <c:v>0.7569488458148638</c:v>
              </c:pt>
              <c:pt idx="1">
                <c:v>0.527009028152027</c:v>
              </c:pt>
            </c:numLit>
          </c:val>
        </c:ser>
        <c:ser>
          <c:idx val="1"/>
          <c:order val="1"/>
          <c:tx>
            <c:v>Gradient boosting</c:v>
          </c:tx>
          <c:spPr>
            <a:solidFill xmlns:a="http://schemas.openxmlformats.org/drawingml/2006/main">
              <a:srgbClr val="BF570D"/>
            </a:solidFill>
          </c:spPr>
          <c:cat>
            <c:strLit>
              <c:ptCount val="2"/>
              <c:pt idx="0">
                <c:v>ROC-AUC</c:v>
              </c:pt>
              <c:pt idx="1">
                <c:v>Average precision</c:v>
              </c:pt>
            </c:strLit>
          </c:cat>
          <c:val>
            <c:numLit>
              <c:formatCode>0.000</c:formatCode>
              <c:ptCount val="2"/>
              <c:pt idx="0">
                <c:v>0.7781322906135781</c:v>
              </c:pt>
              <c:pt idx="1">
                <c:v>0.5521356691545415</c:v>
              </c:pt>
            </c:numLit>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Logistică</c:v>
          </c:tx>
          <c:spPr>
            <a:solidFill xmlns:a="http://schemas.openxmlformats.org/drawingml/2006/main">
              <a:srgbClr val="245FC9"/>
            </a:solidFill>
          </c:spPr>
          <c:cat>
            <c:strLit>
              <c:ptCount val="1"/>
              <c:pt idx="0">
                <c:v>Pondere SHAP a primelor 3 variabile</c:v>
              </c:pt>
            </c:strLit>
          </c:cat>
          <c:val>
            <c:numLit>
              <c:formatCode>0.0%</c:formatCode>
              <c:ptCount val="1"/>
              <c:pt idx="0">
                <c:v>0.5416015088125941</c:v>
              </c:pt>
            </c:numLit>
          </c:val>
        </c:ser>
        <c:ser>
          <c:idx val="1"/>
          <c:order val="1"/>
          <c:tx>
            <c:v>Gradient boosting</c:v>
          </c:tx>
          <c:spPr>
            <a:solidFill xmlns:a="http://schemas.openxmlformats.org/drawingml/2006/main">
              <a:srgbClr val="BF570D"/>
            </a:solidFill>
          </c:spPr>
          <c:cat>
            <c:strLit>
              <c:ptCount val="1"/>
              <c:pt idx="0">
                <c:v>Pondere SHAP a primelor 3 variabile</c:v>
              </c:pt>
            </c:strLit>
          </c:cat>
          <c:val>
            <c:numLit>
              <c:formatCode>0.0%</c:formatCode>
              <c:ptCount val="1"/>
              <c:pt idx="0">
                <c:v>0.4092822607029114</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5900FE-4073-4A63-B1DB-49A6C0192980}"/>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Modele de risc de credit și încrederea în AI</a:t>
            </a:r>
          </a:p>
        </p:txBody>
      </p:sp>
      <p:sp>
        <p:nvSpPr>
          <p:cNvPr id="2" name="">
            <a:extLst xmlns:a="http://schemas.openxmlformats.org/drawingml/2006/main">
              <a:ext uri="{FF2B5EF4-FFF2-40B4-BE49-F238E27FC236}">
                <a16:creationId xmlns:a16="http://schemas.microsoft.com/office/drawing/2014/main" id="{3A4FA86C-2558-4565-8A01-AFEE92B5E590}"/>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Rezultate implementate și propunerea unui cadru extins</a:t>
            </a:r>
          </a:p>
        </p:txBody>
      </p:sp>
      <p:sp>
        <p:nvSpPr>
          <p:cNvPr id="3" name="">
            <a:extLst xmlns:a="http://schemas.openxmlformats.org/drawingml/2006/main">
              <a:ext uri="{FF2B5EF4-FFF2-40B4-BE49-F238E27FC236}">
                <a16:creationId xmlns:a16="http://schemas.microsoft.com/office/drawing/2014/main" id="{8D6F1365-7D82-4414-A9A5-71CA8861E4D1}"/>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C6581E4C-7A4C-4A10-923F-AC8ABFAA4937}"/>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CD8FB50-A918-46C8-B892-2B35CEE04501}"/>
              </a:ext>
            </a:extLst>
          </p:cNvPr>
          <p:cNvSpPr>
            <a:spLocks xmlns:a="http://schemas.openxmlformats.org/drawingml/2006/main" noGrp="1"/>
          </p:cNvSpPr>
          <p:nvPr/>
        </p:nvSpPr>
        <p:spPr>
          <a:xfrm xmlns:a="http://schemas.openxmlformats.org/drawingml/2006/main">
            <a:off x="685800" y="28575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2B46"/>
                </a:solidFill>
                <a:latin typeface="Arial"/>
                <a:ea typeface="Arial"/>
                <a:cs typeface="Arial"/>
              </a:defRPr>
            </a:defPPr>
          </a:lstStyle>
          <a:p xmlns:a="http://schemas.openxmlformats.org/drawingml/2006/main">
            <a:pPr>
              <a:defRPr sz="3150" b="1">
                <a:solidFill>
                  <a:srgbClr val="162B46"/>
                </a:solidFill>
                <a:latin typeface="Arial"/>
                <a:ea typeface="Arial"/>
                <a:cs typeface="Arial"/>
              </a:defRPr>
            </a:pPr>
            <a:r>
              <a:rPr sz="3150" b="1">
                <a:solidFill>
                  <a:srgbClr val="162B46"/>
                </a:solidFill>
                <a:latin typeface="Arial"/>
                <a:ea typeface="Arial"/>
                <a:cs typeface="Arial"/>
              </a:rPr>
              <a:t>Cum se compară logistică și boosting în performanță,</a:t>
            </a:r>
          </a:p>
          <a:p xmlns:a="http://schemas.openxmlformats.org/drawingml/2006/main">
            <a:pPr>
              <a:defRPr sz="3150" b="1">
                <a:solidFill>
                  <a:srgbClr val="162B46"/>
                </a:solidFill>
                <a:latin typeface="Arial"/>
                <a:ea typeface="Arial"/>
                <a:cs typeface="Arial"/>
              </a:defRPr>
            </a:pPr>
            <a:r>
              <a:rPr sz="3150" b="1">
                <a:solidFill>
                  <a:srgbClr val="162B46"/>
                </a:solidFill>
                <a:latin typeface="Arial"/>
                <a:ea typeface="Arial"/>
                <a:cs typeface="Arial"/>
              </a:rPr>
              <a:t>echitate, explicabilitate și robustețe?</a:t>
            </a:r>
          </a:p>
        </p:txBody>
      </p:sp>
      <p:sp>
        <p:nvSpPr>
          <p:cNvPr id="6" name="">
            <a:extLst xmlns:a="http://schemas.openxmlformats.org/drawingml/2006/main">
              <a:ext uri="{FF2B5EF4-FFF2-40B4-BE49-F238E27FC236}">
                <a16:creationId xmlns:a16="http://schemas.microsoft.com/office/drawing/2014/main" id="{28599BB4-0E43-4C9D-A553-3442617BC002}"/>
              </a:ext>
            </a:extLst>
          </p:cNvPr>
          <p:cNvSpPr>
            <a:spLocks xmlns:a="http://schemas.openxmlformats.org/drawingml/2006/main" noGrp="1"/>
          </p:cNvSpPr>
          <p:nvPr/>
        </p:nvSpPr>
        <p:spPr>
          <a:xfrm xmlns:a="http://schemas.openxmlformats.org/drawingml/2006/main">
            <a:off x="685800" y="4619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83"/>
                </a:solidFill>
                <a:latin typeface="Arial"/>
                <a:ea typeface="Arial"/>
                <a:cs typeface="Arial"/>
              </a:defRPr>
            </a:defPPr>
          </a:lstStyle>
          <a:p xmlns:a="http://schemas.openxmlformats.org/drawingml/2006/main">
            <a:pPr>
              <a:defRPr sz="2100" b="0">
                <a:solidFill>
                  <a:srgbClr val="007F83"/>
                </a:solidFill>
                <a:latin typeface="Arial"/>
                <a:ea typeface="Arial"/>
                <a:cs typeface="Arial"/>
              </a:defRPr>
            </a:pPr>
            <a:r>
              <a:rPr sz="2100" b="0">
                <a:solidFill>
                  <a:srgbClr val="007F83"/>
                </a:solidFill>
                <a:latin typeface="Arial"/>
                <a:ea typeface="Arial"/>
                <a:cs typeface="Arial"/>
              </a:rPr>
              <a:t>O bază empirică reproductibilă pentru discuția metodologică</a:t>
            </a:r>
          </a:p>
        </p:txBody>
      </p:sp>
    </p:spTree>
    <p:extLst>
      <p:ext uri="{BB962C8B-B14F-4D97-AF65-F5344CB8AC3E}">
        <p14:creationId xmlns:p14="http://schemas.microsoft.com/office/powerpoint/2010/main" val="20323559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7BFD3E-7780-48EA-86EF-EA4F25857542}"/>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Date și protocolul comparației</a:t>
            </a:r>
          </a:p>
        </p:txBody>
      </p:sp>
      <p:sp>
        <p:nvSpPr>
          <p:cNvPr id="2" name="">
            <a:extLst xmlns:a="http://schemas.openxmlformats.org/drawingml/2006/main">
              <a:ext uri="{FF2B5EF4-FFF2-40B4-BE49-F238E27FC236}">
                <a16:creationId xmlns:a16="http://schemas.microsoft.com/office/drawing/2014/main" id="{3718CFC8-CD01-421D-842C-2B416AADD15B}"/>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Aceleași date, aceiași predictori și aceeași regulă de clasificare</a:t>
            </a:r>
          </a:p>
        </p:txBody>
      </p:sp>
      <p:sp>
        <p:nvSpPr>
          <p:cNvPr id="3" name="">
            <a:extLst xmlns:a="http://schemas.openxmlformats.org/drawingml/2006/main">
              <a:ext uri="{FF2B5EF4-FFF2-40B4-BE49-F238E27FC236}">
                <a16:creationId xmlns:a16="http://schemas.microsoft.com/office/drawing/2014/main" id="{EC0F6E66-842A-4F7A-80CF-7793061D77A8}"/>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04354B38-7446-4075-B4A5-1B61351D8820}"/>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D5727DED-0019-4BE4-A07A-C787054D6C4A}"/>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143250"/>
                <a:gridCol w="7677150"/>
              </a:tblGrid>
              <a:tr h="571500">
                <a:tc>
                  <a:txBody>
                    <a:bodyPr wrap="square" lIns="95250" tIns="95250" rIns="95250" bIns="95250">
                      <a:noAutofit/>
                    </a:bodyPr>
                    <a:lstStyle/>
                    <a:p>
                      <a:r>
                        <a:rPr sz="1800" b="1">
                          <a:solidFill>
                            <a:srgbClr val="162B46"/>
                          </a:solidFill>
                          <a:latin typeface="Arial"/>
                          <a:ea typeface="Arial"/>
                          <a:cs typeface="Arial"/>
                        </a:rPr>
                        <a:t>Element</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Protocol actual</a:t>
                      </a:r>
                    </a:p>
                  </a:txBody>
                  <a:tcPr marL="91440" marR="91440" marT="45720" marB="45720" anchor="ctr">
                    <a:solidFill>
                      <a:srgbClr val="F0F5FB"/>
                    </a:solidFill>
                  </a:tcPr>
                </a:tc>
              </a:tr>
              <a:tr h="571500">
                <a:tc>
                  <a:txBody>
                    <a:bodyPr wrap="square" lIns="95250" tIns="95250" rIns="95250" bIns="95250">
                      <a:noAutofit/>
                    </a:bodyPr>
                    <a:lstStyle/>
                    <a:p>
                      <a:r>
                        <a:rPr sz="1800" b="0">
                          <a:solidFill>
                            <a:srgbClr val="162B46"/>
                          </a:solidFill>
                          <a:latin typeface="Arial"/>
                          <a:ea typeface="Arial"/>
                          <a:cs typeface="Arial"/>
                        </a:rPr>
                        <a:t>Date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30.000 înregistrări Taiwan; default în luna următoare</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Partiție reparată</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24.004 antrenare / 5.996 holdout; fără overlap exact</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 input</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22 predictori; ID și SEX rămân metadate</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Modele și prag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Pipeline-uri salvate; default dacă p &gt; 0,50</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Validare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CV în 5 folduri pe grupuri de predictori identici</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0E71F86-85E1-47BC-A478-43C75CD88927}"/>
              </a:ext>
            </a:extLst>
          </p:cNvPr>
          <p:cNvSpPr>
            <a:spLocks xmlns:a="http://schemas.openxmlformats.org/drawingml/2006/main" noGrp="1"/>
          </p:cNvSpPr>
          <p:nvPr/>
        </p:nvSpPr>
        <p:spPr>
          <a:xfrm xmlns:a="http://schemas.openxmlformats.org/drawingml/2006/main">
            <a:off x="685800" y="59817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Holdout-ul rămâne blocat pentru selecție, tuning și recalibrare.</a:t>
            </a:r>
          </a:p>
        </p:txBody>
      </p:sp>
    </p:spTree>
    <p:extLst>
      <p:ext uri="{BB962C8B-B14F-4D97-AF65-F5344CB8AC3E}">
        <p14:creationId xmlns:p14="http://schemas.microsoft.com/office/powerpoint/2010/main" val="14805852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7F7FF2-5C65-49BA-987E-09FFAD066541}"/>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Boosting ordonează mai bine riscul</a:t>
            </a:r>
          </a:p>
        </p:txBody>
      </p:sp>
      <p:sp>
        <p:nvSpPr>
          <p:cNvPr id="2" name="">
            <a:extLst xmlns:a="http://schemas.openxmlformats.org/drawingml/2006/main">
              <a:ext uri="{FF2B5EF4-FFF2-40B4-BE49-F238E27FC236}">
                <a16:creationId xmlns:a16="http://schemas.microsoft.com/office/drawing/2014/main" id="{31F34904-F693-43F6-8C6C-E36878B62F37}"/>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Avantajul de ranking nu schimbă mult deciziile la pragul 0,50</a:t>
            </a:r>
          </a:p>
        </p:txBody>
      </p:sp>
      <p:sp>
        <p:nvSpPr>
          <p:cNvPr id="3" name="">
            <a:extLst xmlns:a="http://schemas.openxmlformats.org/drawingml/2006/main">
              <a:ext uri="{FF2B5EF4-FFF2-40B4-BE49-F238E27FC236}">
                <a16:creationId xmlns:a16="http://schemas.microsoft.com/office/drawing/2014/main" id="{C0668E89-CDD7-463A-B967-39F61BDB31B7}"/>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CACCC362-8C6B-4F49-85A4-DB0D9AD8CC11}"/>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03</a:t>
            </a:r>
          </a:p>
        </p:txBody>
      </p:sp>
      <p:graphicFrame>
        <p:nvGraphicFramePr>
          <p:cNvPr id="5" name="Chart">
            <a:extLst xmlns:a="http://schemas.openxmlformats.org/drawingml/2006/main">
              <a:ext uri="{FF2B5EF4-FFF2-40B4-BE49-F238E27FC236}">
                <a16:creationId xmlns:a16="http://schemas.microsoft.com/office/drawing/2014/main" id="{60B8C972-0102-4D14-A453-298117D282CC}"/>
              </a:ext>
            </a:extLst>
          </p:cNvPr>
          <p:cNvGraphicFramePr/>
          <p:nvPr/>
        </p:nvGraphicFramePr>
        <p:xfrm>
          <a:off xmlns:a="http://schemas.openxmlformats.org/drawingml/2006/main" x="685800" y="2428875"/>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7ed17c5718fb48f0"/>
          </a:graphicData>
        </a:graphic>
      </p:graphicFrame>
      <p:sp>
        <p:nvSpPr>
          <p:cNvPr id="6" name="">
            <a:extLst xmlns:a="http://schemas.openxmlformats.org/drawingml/2006/main">
              <a:ext uri="{FF2B5EF4-FFF2-40B4-BE49-F238E27FC236}">
                <a16:creationId xmlns:a16="http://schemas.microsoft.com/office/drawing/2014/main" id="{51AB6369-70F7-4281-B1D3-AC7A61A1D8DE}"/>
              </a:ext>
            </a:extLst>
          </p:cNvPr>
          <p:cNvSpPr>
            <a:spLocks xmlns:a="http://schemas.openxmlformats.org/drawingml/2006/main" noGrp="1"/>
          </p:cNvSpPr>
          <p:nvPr/>
        </p:nvSpPr>
        <p:spPr>
          <a:xfrm xmlns:a="http://schemas.openxmlformats.org/drawingml/2006/main">
            <a:off x="8096250" y="2714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defRPr sz="2625" b="1">
                <a:solidFill>
                  <a:srgbClr val="162B46"/>
                </a:solidFill>
                <a:latin typeface="Arial"/>
                <a:ea typeface="Arial"/>
                <a:cs typeface="Arial"/>
              </a:defRPr>
            </a:pPr>
            <a:r>
              <a:rPr sz="2625" b="1">
                <a:solidFill>
                  <a:srgbClr val="162B46"/>
                </a:solidFill>
                <a:latin typeface="Arial"/>
                <a:ea typeface="Arial"/>
                <a:cs typeface="Arial"/>
              </a:rPr>
              <a:t>Acuratețe ≈ 81,8%</a:t>
            </a:r>
          </a:p>
        </p:txBody>
      </p:sp>
      <p:sp>
        <p:nvSpPr>
          <p:cNvPr id="7" name="">
            <a:extLst xmlns:a="http://schemas.openxmlformats.org/drawingml/2006/main">
              <a:ext uri="{FF2B5EF4-FFF2-40B4-BE49-F238E27FC236}">
                <a16:creationId xmlns:a16="http://schemas.microsoft.com/office/drawing/2014/main" id="{31D8877F-54A9-4072-9870-4039BDA3FB47}"/>
              </a:ext>
            </a:extLst>
          </p:cNvPr>
          <p:cNvSpPr>
            <a:spLocks xmlns:a="http://schemas.openxmlformats.org/drawingml/2006/main" noGrp="1"/>
          </p:cNvSpPr>
          <p:nvPr/>
        </p:nvSpPr>
        <p:spPr>
          <a:xfrm xmlns:a="http://schemas.openxmlformats.org/drawingml/2006/main">
            <a:off x="8096250" y="3810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defRPr sz="2625" b="1">
                <a:solidFill>
                  <a:srgbClr val="162B46"/>
                </a:solidFill>
                <a:latin typeface="Arial"/>
                <a:ea typeface="Arial"/>
                <a:cs typeface="Arial"/>
              </a:defRPr>
            </a:pPr>
            <a:r>
              <a:rPr sz="2625" b="1">
                <a:solidFill>
                  <a:srgbClr val="162B46"/>
                </a:solidFill>
                <a:latin typeface="Arial"/>
                <a:ea typeface="Arial"/>
                <a:cs typeface="Arial"/>
              </a:rPr>
              <a:t>Recall default ≈ 35%</a:t>
            </a:r>
          </a:p>
        </p:txBody>
      </p:sp>
      <p:sp>
        <p:nvSpPr>
          <p:cNvPr id="8" name="">
            <a:extLst xmlns:a="http://schemas.openxmlformats.org/drawingml/2006/main">
              <a:ext uri="{FF2B5EF4-FFF2-40B4-BE49-F238E27FC236}">
                <a16:creationId xmlns:a16="http://schemas.microsoft.com/office/drawing/2014/main" id="{9D0EC900-2358-411E-AC14-07033E80FE82}"/>
              </a:ext>
            </a:extLst>
          </p:cNvPr>
          <p:cNvSpPr>
            <a:spLocks xmlns:a="http://schemas.openxmlformats.org/drawingml/2006/main" noGrp="1"/>
          </p:cNvSpPr>
          <p:nvPr/>
        </p:nvSpPr>
        <p:spPr>
          <a:xfrm xmlns:a="http://schemas.openxmlformats.org/drawingml/2006/main">
            <a:off x="8096250" y="46863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Circa 65% dintre default-uri</a:t>
            </a:r>
          </a:p>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rămân nedetectate.</a:t>
            </a:r>
          </a:p>
        </p:txBody>
      </p:sp>
      <p:sp>
        <p:nvSpPr>
          <p:cNvPr id="9" name="">
            <a:extLst xmlns:a="http://schemas.openxmlformats.org/drawingml/2006/main">
              <a:ext uri="{FF2B5EF4-FFF2-40B4-BE49-F238E27FC236}">
                <a16:creationId xmlns:a16="http://schemas.microsoft.com/office/drawing/2014/main" id="{B1D918BB-C133-4ABB-B6B9-D59E168571E1}"/>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376"/>
                </a:solidFill>
                <a:latin typeface="Arial"/>
                <a:ea typeface="Arial"/>
                <a:cs typeface="Arial"/>
              </a:defRPr>
            </a:defPPr>
          </a:lstStyle>
          <a:p xmlns:a="http://schemas.openxmlformats.org/drawingml/2006/main">
            <a:pPr>
              <a:defRPr sz="1650" b="0">
                <a:solidFill>
                  <a:srgbClr val="536376"/>
                </a:solidFill>
                <a:latin typeface="Arial"/>
                <a:ea typeface="Arial"/>
                <a:cs typeface="Arial"/>
              </a:defRPr>
            </a:pPr>
            <a:r>
              <a:rPr sz="1650" b="0">
                <a:solidFill>
                  <a:srgbClr val="536376"/>
                </a:solidFill>
                <a:latin typeface="Arial"/>
                <a:ea typeface="Arial"/>
                <a:cs typeface="Arial"/>
              </a:rPr>
              <a:t>Estimări punctuale pe holdout; intervalele și calibrarea sunt disponibile în explorer.</a:t>
            </a:r>
          </a:p>
        </p:txBody>
      </p:sp>
    </p:spTree>
    <p:extLst>
      <p:ext uri="{BB962C8B-B14F-4D97-AF65-F5344CB8AC3E}">
        <p14:creationId xmlns:p14="http://schemas.microsoft.com/office/powerpoint/2010/main" val="55281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397410-5C2D-4BB0-89DF-F157C54EF634}"/>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Echitatea depinde de metrica aleasă</a:t>
            </a:r>
          </a:p>
        </p:txBody>
      </p:sp>
      <p:sp>
        <p:nvSpPr>
          <p:cNvPr id="2" name="">
            <a:extLst xmlns:a="http://schemas.openxmlformats.org/drawingml/2006/main">
              <a:ext uri="{FF2B5EF4-FFF2-40B4-BE49-F238E27FC236}">
                <a16:creationId xmlns:a16="http://schemas.microsoft.com/office/drawing/2014/main" id="{21FF5FC3-FC2B-4BD7-9382-68AC6D9894E2}"/>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Diferențele de ranking și diferențele de eroare răspund la întrebări distincte</a:t>
            </a:r>
          </a:p>
        </p:txBody>
      </p:sp>
      <p:sp>
        <p:nvSpPr>
          <p:cNvPr id="3" name="">
            <a:extLst xmlns:a="http://schemas.openxmlformats.org/drawingml/2006/main">
              <a:ext uri="{FF2B5EF4-FFF2-40B4-BE49-F238E27FC236}">
                <a16:creationId xmlns:a16="http://schemas.microsoft.com/office/drawing/2014/main" id="{EEACBE00-F012-49CE-B8BA-231898736FED}"/>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7E5C3B44-63D9-44A1-A579-817111E0C81F}"/>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44DC196-801C-4A92-8A16-5C5199BA8DCF}"/>
              </a:ext>
            </a:extLst>
          </p:cNvPr>
          <p:cNvGraphicFramePr/>
          <p:nvPr/>
        </p:nvGraphicFramePr>
        <p:xfrm>
          <a:off xmlns:a="http://schemas.openxmlformats.org/drawingml/2006/main" x="685800" y="2552700"/>
          <a:ext xmlns:a="http://schemas.openxmlformats.org/drawingml/2006/main" cx="10820400" cy="2333625"/>
        </p:xfrm>
        <a:graphic xmlns:a="http://schemas.openxmlformats.org/drawingml/2006/main">
          <a:graphicData uri="http://schemas.openxmlformats.org/drawingml/2006/table">
            <a:tbl>
              <a:tblPr/>
              <a:tblGrid>
                <a:gridCol w="5676900"/>
                <a:gridCol w="2571750"/>
                <a:gridCol w="2571750"/>
              </a:tblGrid>
              <a:tr h="583406">
                <a:tc>
                  <a:txBody>
                    <a:bodyPr wrap="square" lIns="95250" tIns="95250" rIns="95250" bIns="95250">
                      <a:noAutofit/>
                    </a:bodyPr>
                    <a:lstStyle/>
                    <a:p>
                      <a:r>
                        <a:rPr sz="1875" b="1">
                          <a:solidFill>
                            <a:srgbClr val="162B46"/>
                          </a:solidFill>
                          <a:latin typeface="Arial"/>
                          <a:ea typeface="Arial"/>
                          <a:cs typeface="Arial"/>
                        </a:rPr>
                        <a:t>Măsură</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Logistică</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Boosting</a:t>
                      </a:r>
                    </a:p>
                  </a:txBody>
                  <a:tcPr marL="91440" marR="91440" marT="45720" marB="45720" anchor="ctr">
                    <a:solidFill>
                      <a:srgbClr val="F0F5FB"/>
                    </a:solidFill>
                  </a:tcPr>
                </a:tc>
              </a:tr>
              <a:tr h="583406">
                <a:tc>
                  <a:txBody>
                    <a:bodyPr wrap="square" lIns="95250" tIns="95250" rIns="95250" bIns="95250">
                      <a:noAutofit/>
                    </a:bodyPr>
                    <a:lstStyle/>
                    <a:p>
                      <a:r>
                        <a:rPr sz="1875" b="0">
                          <a:solidFill>
                            <a:srgbClr val="162B46"/>
                          </a:solidFill>
                          <a:latin typeface="Arial"/>
                          <a:ea typeface="Arial"/>
                          <a:cs typeface="Arial"/>
                        </a:rPr>
                        <a:t>Recall: femei minus bărbați</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2,32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3,35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FPR: femei minus bărbați</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-0,50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-0,66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SAFE: gap absolut de RGA</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0,0079</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0,0065</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875D560-7668-4701-BC95-11142229CF19}"/>
              </a:ext>
            </a:extLst>
          </p:cNvPr>
          <p:cNvSpPr>
            <a:spLocks xmlns:a="http://schemas.openxmlformats.org/drawingml/2006/main" noGrp="1"/>
          </p:cNvSpPr>
          <p:nvPr/>
        </p:nvSpPr>
        <p:spPr>
          <a:xfrm xmlns:a="http://schemas.openxmlformats.org/drawingml/2006/main">
            <a:off x="685800" y="52863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B46"/>
                </a:solidFill>
                <a:latin typeface="Arial"/>
                <a:ea typeface="Arial"/>
                <a:cs typeface="Arial"/>
              </a:defRPr>
            </a:defPPr>
          </a:lstStyle>
          <a:p xmlns:a="http://schemas.openxmlformats.org/drawingml/2006/main">
            <a:pPr>
              <a:defRPr sz="2025" b="1">
                <a:solidFill>
                  <a:srgbClr val="162B46"/>
                </a:solidFill>
                <a:latin typeface="Arial"/>
                <a:ea typeface="Arial"/>
                <a:cs typeface="Arial"/>
              </a:defRPr>
            </a:pPr>
            <a:r>
              <a:rPr sz="2025" b="1">
                <a:solidFill>
                  <a:srgbClr val="162B46"/>
                </a:solidFill>
                <a:latin typeface="Arial"/>
                <a:ea typeface="Arial"/>
                <a:cs typeface="Arial"/>
              </a:rPr>
              <a:t>Intervalele de 95% pentru gapurile primare semnate includ zero.</a:t>
            </a:r>
          </a:p>
        </p:txBody>
      </p:sp>
      <p:sp>
        <p:nvSpPr>
          <p:cNvPr id="7" name="">
            <a:extLst xmlns:a="http://schemas.openxmlformats.org/drawingml/2006/main">
              <a:ext uri="{FF2B5EF4-FFF2-40B4-BE49-F238E27FC236}">
                <a16:creationId xmlns:a16="http://schemas.microsoft.com/office/drawing/2014/main" id="{922BAD0B-A701-4D8C-9887-CFC4AC17797B}"/>
              </a:ext>
            </a:extLst>
          </p:cNvPr>
          <p:cNvSpPr>
            <a:spLocks xmlns:a="http://schemas.openxmlformats.org/drawingml/2006/main" noGrp="1"/>
          </p:cNvSpPr>
          <p:nvPr/>
        </p:nvSpPr>
        <p:spPr>
          <a:xfrm xmlns:a="http://schemas.openxmlformats.org/drawingml/2006/main">
            <a:off x="685800" y="58483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pp = puncte procentuale. Nu rezultă un câștigător general.</a:t>
            </a:r>
          </a:p>
        </p:txBody>
      </p:sp>
    </p:spTree>
    <p:extLst>
      <p:ext uri="{BB962C8B-B14F-4D97-AF65-F5344CB8AC3E}">
        <p14:creationId xmlns:p14="http://schemas.microsoft.com/office/powerpoint/2010/main" val="1157815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6BBE9F-D080-4C5B-92C1-A66E85B74E52}"/>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Aceiași predictori principali, concentrații diferite</a:t>
            </a:r>
          </a:p>
        </p:txBody>
      </p:sp>
      <p:sp>
        <p:nvSpPr>
          <p:cNvPr id="2" name="">
            <a:extLst xmlns:a="http://schemas.openxmlformats.org/drawingml/2006/main">
              <a:ext uri="{FF2B5EF4-FFF2-40B4-BE49-F238E27FC236}">
                <a16:creationId xmlns:a16="http://schemas.microsoft.com/office/drawing/2014/main" id="{8E300C36-D025-4886-952C-2DDDF84DE316}"/>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SHAP completează SAFE RGE cu explicații globale și individuale</a:t>
            </a:r>
          </a:p>
        </p:txBody>
      </p:sp>
      <p:sp>
        <p:nvSpPr>
          <p:cNvPr id="3" name="">
            <a:extLst xmlns:a="http://schemas.openxmlformats.org/drawingml/2006/main">
              <a:ext uri="{FF2B5EF4-FFF2-40B4-BE49-F238E27FC236}">
                <a16:creationId xmlns:a16="http://schemas.microsoft.com/office/drawing/2014/main" id="{581D8A60-1012-40C8-9C92-48F5EEA8C968}"/>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8CD048BB-EA77-46A0-804A-7B669A0DADF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007EACFF-8565-4376-9A75-ACEAFC550A46}"/>
              </a:ext>
            </a:extLst>
          </p:cNvPr>
          <p:cNvGraphicFramePr/>
          <p:nvPr/>
        </p:nvGraphicFramePr>
        <p:xfrm>
          <a:off xmlns:a="http://schemas.openxmlformats.org/drawingml/2006/main" x="685800" y="2476500"/>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46feeb275ffe492d"/>
          </a:graphicData>
        </a:graphic>
      </p:graphicFrame>
      <p:sp>
        <p:nvSpPr>
          <p:cNvPr id="6" name="">
            <a:extLst xmlns:a="http://schemas.openxmlformats.org/drawingml/2006/main">
              <a:ext uri="{FF2B5EF4-FFF2-40B4-BE49-F238E27FC236}">
                <a16:creationId xmlns:a16="http://schemas.microsoft.com/office/drawing/2014/main" id="{99A43BF2-AD25-4B91-8A15-0D8D0C6A0039}"/>
              </a:ext>
            </a:extLst>
          </p:cNvPr>
          <p:cNvSpPr>
            <a:spLocks xmlns:a="http://schemas.openxmlformats.org/drawingml/2006/main" noGrp="1"/>
          </p:cNvSpPr>
          <p:nvPr/>
        </p:nvSpPr>
        <p:spPr>
          <a:xfrm xmlns:a="http://schemas.openxmlformats.org/drawingml/2006/main">
            <a:off x="8096250" y="27432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2B46"/>
                </a:solidFill>
                <a:latin typeface="Arial"/>
                <a:ea typeface="Arial"/>
                <a:cs typeface="Arial"/>
              </a:defRPr>
            </a:defPPr>
          </a:lstStyle>
          <a:p xmlns:a="http://schemas.openxmlformats.org/drawingml/2006/main">
            <a:pPr>
              <a:defRPr sz="2550" b="1">
                <a:solidFill>
                  <a:srgbClr val="162B46"/>
                </a:solidFill>
                <a:latin typeface="Arial"/>
                <a:ea typeface="Arial"/>
                <a:cs typeface="Arial"/>
              </a:defRPr>
            </a:pPr>
            <a:r>
              <a:rPr sz="2550" b="1">
                <a:solidFill>
                  <a:srgbClr val="162B46"/>
                </a:solidFill>
                <a:latin typeface="Arial"/>
                <a:ea typeface="Arial"/>
                <a:cs typeface="Arial"/>
              </a:rPr>
              <a:t>PAY_0 și LIMIT_BAL</a:t>
            </a:r>
          </a:p>
        </p:txBody>
      </p:sp>
      <p:sp>
        <p:nvSpPr>
          <p:cNvPr id="7" name="">
            <a:extLst xmlns:a="http://schemas.openxmlformats.org/drawingml/2006/main">
              <a:ext uri="{FF2B5EF4-FFF2-40B4-BE49-F238E27FC236}">
                <a16:creationId xmlns:a16="http://schemas.microsoft.com/office/drawing/2014/main" id="{C64B7F83-FDE6-4006-A3E9-38310E087D98}"/>
              </a:ext>
            </a:extLst>
          </p:cNvPr>
          <p:cNvSpPr>
            <a:spLocks xmlns:a="http://schemas.openxmlformats.org/drawingml/2006/main" noGrp="1"/>
          </p:cNvSpPr>
          <p:nvPr/>
        </p:nvSpPr>
        <p:spPr>
          <a:xfrm xmlns:a="http://schemas.openxmlformats.org/drawingml/2006/main">
            <a:off x="8096250" y="36195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376"/>
                </a:solidFill>
                <a:latin typeface="Arial"/>
                <a:ea typeface="Arial"/>
                <a:cs typeface="Arial"/>
              </a:defRPr>
            </a:defPPr>
          </a:lstStyle>
          <a:p xmlns:a="http://schemas.openxmlformats.org/drawingml/2006/main">
            <a:pPr>
              <a:defRPr sz="1950" b="0">
                <a:solidFill>
                  <a:srgbClr val="536376"/>
                </a:solidFill>
                <a:latin typeface="Arial"/>
                <a:ea typeface="Arial"/>
                <a:cs typeface="Arial"/>
              </a:defRPr>
            </a:pPr>
            <a:r>
              <a:rPr sz="1950" b="0">
                <a:solidFill>
                  <a:srgbClr val="536376"/>
                </a:solidFill>
                <a:latin typeface="Arial"/>
                <a:ea typeface="Arial"/>
                <a:cs typeface="Arial"/>
              </a:rPr>
              <a:t>conduc ambele modele</a:t>
            </a:r>
          </a:p>
        </p:txBody>
      </p:sp>
      <p:sp>
        <p:nvSpPr>
          <p:cNvPr id="8" name="">
            <a:extLst xmlns:a="http://schemas.openxmlformats.org/drawingml/2006/main">
              <a:ext uri="{FF2B5EF4-FFF2-40B4-BE49-F238E27FC236}">
                <a16:creationId xmlns:a16="http://schemas.microsoft.com/office/drawing/2014/main" id="{E2214CB4-86ED-4592-BC26-502A8759C189}"/>
              </a:ext>
            </a:extLst>
          </p:cNvPr>
          <p:cNvSpPr>
            <a:spLocks xmlns:a="http://schemas.openxmlformats.org/drawingml/2006/main" noGrp="1"/>
          </p:cNvSpPr>
          <p:nvPr/>
        </p:nvSpPr>
        <p:spPr>
          <a:xfrm xmlns:a="http://schemas.openxmlformats.org/drawingml/2006/main">
            <a:off x="8096250" y="447675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SHAP / RGE: corelația rangurilor</a:t>
            </a:r>
          </a:p>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0,918 logistică / 0,927 boosting</a:t>
            </a:r>
          </a:p>
        </p:txBody>
      </p:sp>
      <p:sp>
        <p:nvSpPr>
          <p:cNvPr id="9" name="">
            <a:extLst xmlns:a="http://schemas.openxmlformats.org/drawingml/2006/main">
              <a:ext uri="{FF2B5EF4-FFF2-40B4-BE49-F238E27FC236}">
                <a16:creationId xmlns:a16="http://schemas.microsoft.com/office/drawing/2014/main" id="{4344124B-A1D2-4557-BECF-82DC58549124}"/>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Contribuțiile SHAP sunt în log-odds și nu reprezintă efecte cauzale.</a:t>
            </a:r>
          </a:p>
        </p:txBody>
      </p:sp>
    </p:spTree>
    <p:extLst>
      <p:ext uri="{BB962C8B-B14F-4D97-AF65-F5344CB8AC3E}">
        <p14:creationId xmlns:p14="http://schemas.microsoft.com/office/powerpoint/2010/main" val="2353405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43E342-C025-4AB2-AD0C-2335C7CF0A32}"/>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Robustețea depinde de scenariul de stres</a:t>
            </a:r>
          </a:p>
        </p:txBody>
      </p:sp>
      <p:sp>
        <p:nvSpPr>
          <p:cNvPr id="2" name="">
            <a:extLst xmlns:a="http://schemas.openxmlformats.org/drawingml/2006/main">
              <a:ext uri="{FF2B5EF4-FFF2-40B4-BE49-F238E27FC236}">
                <a16:creationId xmlns:a16="http://schemas.microsoft.com/office/drawing/2014/main" id="{41FEA211-8EEE-48E5-808C-29D9425EFA93}"/>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SAFE și erorile semantice sunt două mecanisme cu expuneri diferite</a:t>
            </a:r>
          </a:p>
        </p:txBody>
      </p:sp>
      <p:sp>
        <p:nvSpPr>
          <p:cNvPr id="3" name="">
            <a:extLst xmlns:a="http://schemas.openxmlformats.org/drawingml/2006/main">
              <a:ext uri="{FF2B5EF4-FFF2-40B4-BE49-F238E27FC236}">
                <a16:creationId xmlns:a16="http://schemas.microsoft.com/office/drawing/2014/main" id="{3AF8F85A-6EC5-431C-80C0-9F32E9083869}"/>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550C20B6-46EA-493A-9283-F3D29250FF2B}"/>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E157715D-19FB-47C9-AD98-1F9B2C9DAE04}"/>
              </a:ext>
            </a:extLst>
          </p:cNvPr>
          <p:cNvGraphicFramePr/>
          <p:nvPr/>
        </p:nvGraphicFramePr>
        <p:xfrm>
          <a:off xmlns:a="http://schemas.openxmlformats.org/drawingml/2006/main" x="685800" y="2447925"/>
          <a:ext xmlns:a="http://schemas.openxmlformats.org/drawingml/2006/main" cx="10820400" cy="2857500"/>
        </p:xfrm>
        <a:graphic xmlns:a="http://schemas.openxmlformats.org/drawingml/2006/main">
          <a:graphicData uri="http://schemas.openxmlformats.org/drawingml/2006/table">
            <a:tbl>
              <a:tblPr/>
              <a:tblGrid>
                <a:gridCol w="2171700"/>
                <a:gridCol w="2143125"/>
                <a:gridCol w="1476375"/>
                <a:gridCol w="2619375"/>
                <a:gridCol w="2409825"/>
              </a:tblGrid>
              <a:tr h="571500">
                <a:tc>
                  <a:txBody>
                    <a:bodyPr wrap="square" lIns="95250" tIns="95250" rIns="95250" bIns="95250">
                      <a:noAutofit/>
                    </a:bodyPr>
                    <a:lstStyle/>
                    <a:p>
                      <a:r>
                        <a:rPr sz="1725" b="1">
                          <a:solidFill>
                            <a:srgbClr val="162B46"/>
                          </a:solidFill>
                          <a:latin typeface="Arial"/>
                          <a:ea typeface="Arial"/>
                          <a:cs typeface="Arial"/>
                        </a:rPr>
                        <a:t>Stres comun</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Model</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RGR</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Medie |Δp|</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Schimbări de flag</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0,817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8,80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11,44%</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0,827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8,76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11,12%</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Nu se aplică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0,51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0,79%</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Nu se aplică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0,83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1,30%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9FDB16B-9699-4C5C-8C9E-0A226209FFE1}"/>
              </a:ext>
            </a:extLst>
          </p:cNvPr>
          <p:cNvSpPr>
            <a:spLocks xmlns:a="http://schemas.openxmlformats.org/drawingml/2006/main" noGrp="1"/>
          </p:cNvSpPr>
          <p:nvPr/>
        </p:nvSpPr>
        <p:spPr>
          <a:xfrm xmlns:a="http://schemas.openxmlformats.org/drawingml/2006/main">
            <a:off x="685800" y="54959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2B46"/>
                </a:solidFill>
                <a:latin typeface="Arial"/>
                <a:ea typeface="Arial"/>
                <a:cs typeface="Arial"/>
              </a:defRPr>
            </a:defPPr>
          </a:lstStyle>
          <a:p xmlns:a="http://schemas.openxmlformats.org/drawingml/2006/main">
            <a:pPr>
              <a:defRPr sz="1875" b="1">
                <a:solidFill>
                  <a:srgbClr val="162B46"/>
                </a:solidFill>
                <a:latin typeface="Arial"/>
                <a:ea typeface="Arial"/>
                <a:cs typeface="Arial"/>
              </a:defRPr>
            </a:pPr>
            <a:r>
              <a:rPr sz="1875" b="1">
                <a:solidFill>
                  <a:srgbClr val="162B46"/>
                </a:solidFill>
                <a:latin typeface="Arial"/>
                <a:ea typeface="Arial"/>
                <a:cs typeface="Arial"/>
              </a:rPr>
              <a:t>Expunere: aproximativ 65% SAFE / 10% semantic.</a:t>
            </a:r>
          </a:p>
        </p:txBody>
      </p:sp>
      <p:sp>
        <p:nvSpPr>
          <p:cNvPr id="7" name="">
            <a:extLst xmlns:a="http://schemas.openxmlformats.org/drawingml/2006/main">
              <a:ext uri="{FF2B5EF4-FFF2-40B4-BE49-F238E27FC236}">
                <a16:creationId xmlns:a16="http://schemas.microsoft.com/office/drawing/2014/main" id="{CC12839C-6D5B-4140-B239-C38B955093CF}"/>
              </a:ext>
            </a:extLst>
          </p:cNvPr>
          <p:cNvSpPr>
            <a:spLocks xmlns:a="http://schemas.openxmlformats.org/drawingml/2006/main" noGrp="1"/>
          </p:cNvSpPr>
          <p:nvPr/>
        </p:nvSpPr>
        <p:spPr>
          <a:xfrm xmlns:a="http://schemas.openxmlformats.org/drawingml/2006/main">
            <a:off x="685800" y="59340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Semantic: diferență GBM − LR ≈ 0,32 pp; IC95% condiționat ≈ [0,30; 0,34] pp.</a:t>
            </a:r>
          </a:p>
        </p:txBody>
      </p:sp>
    </p:spTree>
    <p:extLst>
      <p:ext uri="{BB962C8B-B14F-4D97-AF65-F5344CB8AC3E}">
        <p14:creationId xmlns:p14="http://schemas.microsoft.com/office/powerpoint/2010/main" val="1417223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B30558-612E-4A50-A8F1-5F9CA8DA0F8B}"/>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Propunerea unui cadru mai larg</a:t>
            </a:r>
          </a:p>
        </p:txBody>
      </p:sp>
      <p:sp>
        <p:nvSpPr>
          <p:cNvPr id="2" name="">
            <a:extLst xmlns:a="http://schemas.openxmlformats.org/drawingml/2006/main">
              <a:ext uri="{FF2B5EF4-FFF2-40B4-BE49-F238E27FC236}">
                <a16:creationId xmlns:a16="http://schemas.microsoft.com/office/drawing/2014/main" id="{26E371CB-2FCE-40AC-B7C7-8EA3512BB7C2}"/>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Extinderea SAFE/KAIRI prin indicatori complementari și teste asociate</a:t>
            </a:r>
          </a:p>
        </p:txBody>
      </p:sp>
      <p:sp>
        <p:nvSpPr>
          <p:cNvPr id="3" name="">
            <a:extLst xmlns:a="http://schemas.openxmlformats.org/drawingml/2006/main">
              <a:ext uri="{FF2B5EF4-FFF2-40B4-BE49-F238E27FC236}">
                <a16:creationId xmlns:a16="http://schemas.microsoft.com/office/drawing/2014/main" id="{D1604555-05DB-4C74-8B2D-FE9195D2DCD1}"/>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32727D11-1482-46AC-8A7D-969E5F152BB2}"/>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9CB3BD8B-61A6-42A3-985A-DCD14B65D646}"/>
              </a:ext>
            </a:extLst>
          </p:cNvPr>
          <p:cNvGraphicFramePr/>
          <p:nvPr/>
        </p:nvGraphicFramePr>
        <p:xfrm>
          <a:off xmlns:a="http://schemas.openxmlformats.org/drawingml/2006/main" x="685800" y="2381250"/>
          <a:ext xmlns:a="http://schemas.openxmlformats.org/drawingml/2006/main" cx="10820400" cy="3352800"/>
        </p:xfrm>
        <a:graphic xmlns:a="http://schemas.openxmlformats.org/drawingml/2006/main">
          <a:graphicData uri="http://schemas.openxmlformats.org/drawingml/2006/table">
            <a:tbl>
              <a:tblPr/>
              <a:tblGrid>
                <a:gridCol w="3524250"/>
                <a:gridCol w="7296150"/>
              </a:tblGrid>
              <a:tr h="558800">
                <a:tc>
                  <a:txBody>
                    <a:bodyPr wrap="square" lIns="95250" tIns="95250" rIns="95250" bIns="95250">
                      <a:noAutofit/>
                    </a:bodyPr>
                    <a:lstStyle/>
                    <a:p>
                      <a:r>
                        <a:rPr sz="1800" b="1">
                          <a:solidFill>
                            <a:srgbClr val="162B46"/>
                          </a:solidFill>
                          <a:latin typeface="Arial"/>
                          <a:ea typeface="Arial"/>
                          <a:cs typeface="Arial"/>
                        </a:rPr>
                        <a:t>Dimensiune</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Exemple de indicatori propuși</a:t>
                      </a:r>
                    </a:p>
                  </a:txBody>
                  <a:tcPr marL="91440" marR="91440" marT="45720" marB="45720" anchor="ctr">
                    <a:solidFill>
                      <a:srgbClr val="F0F5FB"/>
                    </a:solidFill>
                  </a:tcPr>
                </a:tc>
              </a:tr>
              <a:tr h="558800">
                <a:tc>
                  <a:txBody>
                    <a:bodyPr wrap="square" lIns="95250" tIns="95250" rIns="95250" bIns="95250">
                      <a:noAutofit/>
                    </a:bodyPr>
                    <a:lstStyle/>
                    <a:p>
                      <a:r>
                        <a:rPr sz="1800" b="0">
                          <a:solidFill>
                            <a:srgbClr val="162B46"/>
                          </a:solidFill>
                          <a:latin typeface="Arial"/>
                          <a:ea typeface="Arial"/>
                          <a:cs typeface="Arial"/>
                        </a:rPr>
                        <a:t>Acuratețe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Brier / log loss; Model Confidence Set</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Rate și rapoarte de grup; entropie / Theil</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Robustețe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Energy distance; MMD; robustețe adversarială</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Explicabilitate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AOPC; fidelitate / sensibilitate; randomizare</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Incertitudine și calibrare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Eroare de calibrare; aleatorică / epistemică; conformal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A18EF60-C1B9-4DF7-A118-F83EBC835B5E}"/>
              </a:ext>
            </a:extLst>
          </p:cNvPr>
          <p:cNvSpPr>
            <a:spLocks xmlns:a="http://schemas.openxmlformats.org/drawingml/2006/main" noGrp="1"/>
          </p:cNvSpPr>
          <p:nvPr/>
        </p:nvSpPr>
        <p:spPr>
          <a:xfrm xmlns:a="http://schemas.openxmlformats.org/drawingml/2006/main">
            <a:off x="685800" y="58864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Bias transversal și o mapare propusă la EU AI Act, NIST AI RMF și HLEG.</a:t>
            </a:r>
          </a:p>
        </p:txBody>
      </p:sp>
    </p:spTree>
    <p:extLst>
      <p:ext uri="{BB962C8B-B14F-4D97-AF65-F5344CB8AC3E}">
        <p14:creationId xmlns:p14="http://schemas.microsoft.com/office/powerpoint/2010/main" val="701696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A9A21E-4384-4250-BA6B-CC4D38F99D9B}"/>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Acoperirea actuală a propunerii</a:t>
            </a:r>
          </a:p>
        </p:txBody>
      </p:sp>
      <p:sp>
        <p:nvSpPr>
          <p:cNvPr id="2" name="">
            <a:extLst xmlns:a="http://schemas.openxmlformats.org/drawingml/2006/main">
              <a:ext uri="{FF2B5EF4-FFF2-40B4-BE49-F238E27FC236}">
                <a16:creationId xmlns:a16="http://schemas.microsoft.com/office/drawing/2014/main" id="{8202D617-6207-472E-8F4C-D85FB77BDC29}"/>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O metrică calculată nu înseamnă că modulul și testele propuse sunt finalizate</a:t>
            </a:r>
          </a:p>
        </p:txBody>
      </p:sp>
      <p:sp>
        <p:nvSpPr>
          <p:cNvPr id="3" name="">
            <a:extLst xmlns:a="http://schemas.openxmlformats.org/drawingml/2006/main">
              <a:ext uri="{FF2B5EF4-FFF2-40B4-BE49-F238E27FC236}">
                <a16:creationId xmlns:a16="http://schemas.microsoft.com/office/drawing/2014/main" id="{7CF34E96-9F64-45F6-BD01-CD8A303AF7B9}"/>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E78E135A-5AD6-4F15-ABE8-B0DFA2256470}"/>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A620B643-B838-4835-927A-FE98FB3F8202}"/>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2619375"/>
                <a:gridCol w="3686175"/>
                <a:gridCol w="4514850"/>
              </a:tblGrid>
              <a:tr h="611188">
                <a:tc>
                  <a:txBody>
                    <a:bodyPr wrap="square" lIns="95250" tIns="95250" rIns="95250" bIns="95250">
                      <a:noAutofit/>
                    </a:bodyPr>
                    <a:lstStyle/>
                    <a:p>
                      <a:r>
                        <a:rPr sz="1725" b="1">
                          <a:solidFill>
                            <a:srgbClr val="162B46"/>
                          </a:solidFill>
                          <a:latin typeface="Arial"/>
                          <a:ea typeface="Arial"/>
                          <a:cs typeface="Arial"/>
                        </a:rPr>
                        <a:t>Dimensiune</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Ce avem executat</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Ce lipsește din propunere</a:t>
                      </a:r>
                    </a:p>
                  </a:txBody>
                  <a:tcPr marL="91440" marR="91440" marT="45720" marB="45720" anchor="ctr">
                    <a:solidFill>
                      <a:srgbClr val="F0F5FB"/>
                    </a:solidFill>
                  </a:tcPr>
                </a:tc>
              </a:tr>
              <a:tr h="611188">
                <a:tc>
                  <a:txBody>
                    <a:bodyPr wrap="square" lIns="95250" tIns="95250" rIns="95250" bIns="95250">
                      <a:noAutofit/>
                    </a:bodyPr>
                    <a:lstStyle/>
                    <a:p>
                      <a:r>
                        <a:rPr sz="1725" b="0">
                          <a:solidFill>
                            <a:srgbClr val="162B46"/>
                          </a:solidFill>
                          <a:latin typeface="Arial"/>
                          <a:ea typeface="Arial"/>
                          <a:cs typeface="Arial"/>
                        </a:rPr>
                        <a:t>Acuratețe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Brier, log loss, AUC/AP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DM, DeLong și Model Confidence Set</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Rate, gapuri, rapoarte; bootstrap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Teste z / permutare; entropie / Theil</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Robustețe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RGR și erori semantice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Energy / MMD și teste adversariale</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Explicabilitate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SHAP, RGE; comparații descriptive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AOPC, fidelitate, randomizare, KS</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Incertitudine / calibrare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ECE și curbe; intervale condiționate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Aleatorică / epistemică; conformal</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332756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277159-E094-472E-9ED7-83E3852FF637}"/>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Ce trebuie justificat înainte de extindere</a:t>
            </a:r>
          </a:p>
        </p:txBody>
      </p:sp>
      <p:sp>
        <p:nvSpPr>
          <p:cNvPr id="2" name="">
            <a:extLst xmlns:a="http://schemas.openxmlformats.org/drawingml/2006/main">
              <a:ext uri="{FF2B5EF4-FFF2-40B4-BE49-F238E27FC236}">
                <a16:creationId xmlns:a16="http://schemas.microsoft.com/office/drawing/2014/main" id="{711A2D14-A6FA-40EF-8F8D-6C6DED6AB0BC}"/>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Rezultatele actuale susțin o discuție metodologică, nu o validare completă</a:t>
            </a:r>
          </a:p>
        </p:txBody>
      </p:sp>
      <p:sp>
        <p:nvSpPr>
          <p:cNvPr id="3" name="">
            <a:extLst xmlns:a="http://schemas.openxmlformats.org/drawingml/2006/main">
              <a:ext uri="{FF2B5EF4-FFF2-40B4-BE49-F238E27FC236}">
                <a16:creationId xmlns:a16="http://schemas.microsoft.com/office/drawing/2014/main" id="{88556DC9-B89D-4A37-AD84-B4DFC2E1C507}"/>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273505F4-69EA-494C-AA43-F25016656578}"/>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152E71D-2375-4B5A-9705-4EAD92751059}"/>
              </a:ext>
            </a:extLst>
          </p:cNvPr>
          <p:cNvSpPr>
            <a:spLocks xmlns:a="http://schemas.openxmlformats.org/drawingml/2006/main" noGrp="1"/>
          </p:cNvSpPr>
          <p:nvPr/>
        </p:nvSpPr>
        <p:spPr>
          <a:xfrm xmlns:a="http://schemas.openxmlformats.org/drawingml/2006/main">
            <a:off x="685800" y="2476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Teste adecvate datelor și întrebării</a:t>
            </a:r>
          </a:p>
        </p:txBody>
      </p:sp>
      <p:sp>
        <p:nvSpPr>
          <p:cNvPr id="6" name="">
            <a:extLst xmlns:a="http://schemas.openxmlformats.org/drawingml/2006/main">
              <a:ext uri="{FF2B5EF4-FFF2-40B4-BE49-F238E27FC236}">
                <a16:creationId xmlns:a16="http://schemas.microsoft.com/office/drawing/2014/main" id="{250169CE-61A6-4FD4-A821-F1A71CB1B14A}"/>
              </a:ext>
            </a:extLst>
          </p:cNvPr>
          <p:cNvSpPr>
            <a:spLocks xmlns:a="http://schemas.openxmlformats.org/drawingml/2006/main" noGrp="1"/>
          </p:cNvSpPr>
          <p:nvPr/>
        </p:nvSpPr>
        <p:spPr>
          <a:xfrm xmlns:a="http://schemas.openxmlformats.org/drawingml/2006/main">
            <a:off x="685800" y="29241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Bootstrap-ul actual nu înlocuiește automat testele DM, DeLong, KS sau jackknife.</a:t>
            </a:r>
          </a:p>
        </p:txBody>
      </p:sp>
      <p:sp>
        <p:nvSpPr>
          <p:cNvPr id="7" name="">
            <a:extLst xmlns:a="http://schemas.openxmlformats.org/drawingml/2006/main">
              <a:ext uri="{FF2B5EF4-FFF2-40B4-BE49-F238E27FC236}">
                <a16:creationId xmlns:a16="http://schemas.microsoft.com/office/drawing/2014/main" id="{804A0BF9-1BAB-44FA-8D21-04B1F5DF7D22}"/>
              </a:ext>
            </a:extLst>
          </p:cNvPr>
          <p:cNvSpPr>
            <a:spLocks xmlns:a="http://schemas.openxmlformats.org/drawingml/2006/main" noGrp="1"/>
          </p:cNvSpPr>
          <p:nvPr/>
        </p:nvSpPr>
        <p:spPr>
          <a:xfrm xmlns:a="http://schemas.openxmlformats.org/drawingml/2006/main">
            <a:off x="685800" y="3857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Definiții și criterii de decizie</a:t>
            </a:r>
          </a:p>
        </p:txBody>
      </p:sp>
      <p:sp>
        <p:nvSpPr>
          <p:cNvPr id="8" name="">
            <a:extLst xmlns:a="http://schemas.openxmlformats.org/drawingml/2006/main">
              <a:ext uri="{FF2B5EF4-FFF2-40B4-BE49-F238E27FC236}">
                <a16:creationId xmlns:a16="http://schemas.microsoft.com/office/drawing/2014/main" id="{89C6842D-FBFE-4540-B7A6-2674BB8DDD23}"/>
              </a:ext>
            </a:extLst>
          </p:cNvPr>
          <p:cNvSpPr>
            <a:spLocks xmlns:a="http://schemas.openxmlformats.org/drawingml/2006/main" noGrp="1"/>
          </p:cNvSpPr>
          <p:nvPr/>
        </p:nvSpPr>
        <p:spPr>
          <a:xfrm xmlns:a="http://schemas.openxmlformats.org/drawingml/2006/main">
            <a:off x="685800" y="430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Ce înseamnă un decalaj relevant? Ce costuri și compromisuri justifică alegerea modelului?</a:t>
            </a:r>
          </a:p>
        </p:txBody>
      </p:sp>
      <p:sp>
        <p:nvSpPr>
          <p:cNvPr id="9" name="">
            <a:extLst xmlns:a="http://schemas.openxmlformats.org/drawingml/2006/main">
              <a:ext uri="{FF2B5EF4-FFF2-40B4-BE49-F238E27FC236}">
                <a16:creationId xmlns:a16="http://schemas.microsoft.com/office/drawing/2014/main" id="{C7C73232-5954-47EA-9BCC-A538B3438EEB}"/>
              </a:ext>
            </a:extLst>
          </p:cNvPr>
          <p:cNvSpPr>
            <a:spLocks xmlns:a="http://schemas.openxmlformats.org/drawingml/2006/main" noGrp="1"/>
          </p:cNvSpPr>
          <p:nvPr/>
        </p:nvSpPr>
        <p:spPr>
          <a:xfrm xmlns:a="http://schemas.openxmlformats.org/drawingml/2006/main">
            <a:off x="685800" y="5238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Validare mai largă și delimitarea contribuției</a:t>
            </a:r>
          </a:p>
        </p:txBody>
      </p:sp>
      <p:sp>
        <p:nvSpPr>
          <p:cNvPr id="10" name="">
            <a:extLst xmlns:a="http://schemas.openxmlformats.org/drawingml/2006/main">
              <a:ext uri="{FF2B5EF4-FFF2-40B4-BE49-F238E27FC236}">
                <a16:creationId xmlns:a16="http://schemas.microsoft.com/office/drawing/2014/main" id="{D66C8BB1-5359-49C3-9088-5F0B59FCD887}"/>
              </a:ext>
            </a:extLst>
          </p:cNvPr>
          <p:cNvSpPr>
            <a:spLocks xmlns:a="http://schemas.openxmlformats.org/drawingml/2006/main" noGrp="1"/>
          </p:cNvSpPr>
          <p:nvPr/>
        </p:nvSpPr>
        <p:spPr>
          <a:xfrm xmlns:a="http://schemas.openxmlformats.org/drawingml/2006/main">
            <a:off x="685800" y="56864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Un set Taiwan, holdout inspectat anterior, fără validare pe date românești sau temporală.</a:t>
            </a:r>
          </a:p>
        </p:txBody>
      </p:sp>
    </p:spTree>
    <p:extLst>
      <p:ext uri="{BB962C8B-B14F-4D97-AF65-F5344CB8AC3E}">
        <p14:creationId xmlns:p14="http://schemas.microsoft.com/office/powerpoint/2010/main" val="6852026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E1369C-D893-41D1-AB23-528C602FD88B}"/>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Feedbackul pe care îl cerem profesorului</a:t>
            </a:r>
          </a:p>
        </p:txBody>
      </p:sp>
      <p:sp>
        <p:nvSpPr>
          <p:cNvPr id="2" name="">
            <a:extLst xmlns:a="http://schemas.openxmlformats.org/drawingml/2006/main">
              <a:ext uri="{FF2B5EF4-FFF2-40B4-BE49-F238E27FC236}">
                <a16:creationId xmlns:a16="http://schemas.microsoft.com/office/drawing/2014/main" id="{024B1D23-8E11-42D8-B941-3D477DE3C3C0}"/>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Baza empirică este pregătită; pașii următori cer prioritizare</a:t>
            </a:r>
          </a:p>
        </p:txBody>
      </p:sp>
      <p:sp>
        <p:nvSpPr>
          <p:cNvPr id="3" name="">
            <a:extLst xmlns:a="http://schemas.openxmlformats.org/drawingml/2006/main">
              <a:ext uri="{FF2B5EF4-FFF2-40B4-BE49-F238E27FC236}">
                <a16:creationId xmlns:a16="http://schemas.microsoft.com/office/drawing/2014/main" id="{C380DE63-98FE-4865-BDA3-74DD36E5E6EF}"/>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EED2345A-C8FC-4EBD-AE8C-D65A715D9811}"/>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4E45919-CD71-4A78-977B-7E721A5ABD5C}"/>
              </a:ext>
            </a:extLst>
          </p:cNvPr>
          <p:cNvSpPr>
            <a:spLocks xmlns:a="http://schemas.openxmlformats.org/drawingml/2006/main" noGrp="1"/>
          </p:cNvSpPr>
          <p:nvPr/>
        </p:nvSpPr>
        <p:spPr>
          <a:xfrm xmlns:a="http://schemas.openxmlformats.org/drawingml/2006/main">
            <a:off x="685800" y="2476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1. Este adecvată baza metodologică actuală?</a:t>
            </a:r>
          </a:p>
        </p:txBody>
      </p:sp>
      <p:sp>
        <p:nvSpPr>
          <p:cNvPr id="6" name="">
            <a:extLst xmlns:a="http://schemas.openxmlformats.org/drawingml/2006/main">
              <a:ext uri="{FF2B5EF4-FFF2-40B4-BE49-F238E27FC236}">
                <a16:creationId xmlns:a16="http://schemas.microsoft.com/office/drawing/2014/main" id="{8A9883A2-6917-4A2A-804B-4AB52449889F}"/>
              </a:ext>
            </a:extLst>
          </p:cNvPr>
          <p:cNvSpPr>
            <a:spLocks xmlns:a="http://schemas.openxmlformats.org/drawingml/2006/main" noGrp="1"/>
          </p:cNvSpPr>
          <p:nvPr/>
        </p:nvSpPr>
        <p:spPr>
          <a:xfrm xmlns:a="http://schemas.openxmlformats.org/drawingml/2006/main">
            <a:off x="685800" y="29241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Validare, dependența dintre observații, reutilizarea holdout-ului și incertitudine.</a:t>
            </a:r>
          </a:p>
        </p:txBody>
      </p:sp>
      <p:sp>
        <p:nvSpPr>
          <p:cNvPr id="7" name="">
            <a:extLst xmlns:a="http://schemas.openxmlformats.org/drawingml/2006/main">
              <a:ext uri="{FF2B5EF4-FFF2-40B4-BE49-F238E27FC236}">
                <a16:creationId xmlns:a16="http://schemas.microsoft.com/office/drawing/2014/main" id="{57568B48-5027-487F-B64A-E2BE4B1D66AF}"/>
              </a:ext>
            </a:extLst>
          </p:cNvPr>
          <p:cNvSpPr>
            <a:spLocks xmlns:a="http://schemas.openxmlformats.org/drawingml/2006/main" noGrp="1"/>
          </p:cNvSpPr>
          <p:nvPr/>
        </p:nvSpPr>
        <p:spPr>
          <a:xfrm xmlns:a="http://schemas.openxmlformats.org/drawingml/2006/main">
            <a:off x="685800" y="3857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2. Ce extensii merită implementate întâi?</a:t>
            </a:r>
          </a:p>
        </p:txBody>
      </p:sp>
      <p:sp>
        <p:nvSpPr>
          <p:cNvPr id="8" name="">
            <a:extLst xmlns:a="http://schemas.openxmlformats.org/drawingml/2006/main">
              <a:ext uri="{FF2B5EF4-FFF2-40B4-BE49-F238E27FC236}">
                <a16:creationId xmlns:a16="http://schemas.microsoft.com/office/drawing/2014/main" id="{87F514F3-AD78-4050-8356-72FBC62EF346}"/>
              </a:ext>
            </a:extLst>
          </p:cNvPr>
          <p:cNvSpPr>
            <a:spLocks xmlns:a="http://schemas.openxmlformats.org/drawingml/2006/main" noGrp="1"/>
          </p:cNvSpPr>
          <p:nvPr/>
        </p:nvSpPr>
        <p:spPr>
          <a:xfrm xmlns:a="http://schemas.openxmlformats.org/drawingml/2006/main">
            <a:off x="685800" y="430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Un subset coerent de indicatori și teste, cu estimanzi și ipoteze explicite.</a:t>
            </a:r>
          </a:p>
        </p:txBody>
      </p:sp>
      <p:sp>
        <p:nvSpPr>
          <p:cNvPr id="9" name="">
            <a:extLst xmlns:a="http://schemas.openxmlformats.org/drawingml/2006/main">
              <a:ext uri="{FF2B5EF4-FFF2-40B4-BE49-F238E27FC236}">
                <a16:creationId xmlns:a16="http://schemas.microsoft.com/office/drawing/2014/main" id="{32011A3F-2921-4008-AEDC-FE3864AD9159}"/>
              </a:ext>
            </a:extLst>
          </p:cNvPr>
          <p:cNvSpPr>
            <a:spLocks xmlns:a="http://schemas.openxmlformats.org/drawingml/2006/main" noGrp="1"/>
          </p:cNvSpPr>
          <p:nvPr/>
        </p:nvSpPr>
        <p:spPr>
          <a:xfrm xmlns:a="http://schemas.openxmlformats.org/drawingml/2006/main">
            <a:off x="685800" y="5238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3. Cum formulăm o contribuție defensabilă?</a:t>
            </a:r>
          </a:p>
        </p:txBody>
      </p:sp>
      <p:sp>
        <p:nvSpPr>
          <p:cNvPr id="10" name="">
            <a:extLst xmlns:a="http://schemas.openxmlformats.org/drawingml/2006/main">
              <a:ext uri="{FF2B5EF4-FFF2-40B4-BE49-F238E27FC236}">
                <a16:creationId xmlns:a16="http://schemas.microsoft.com/office/drawing/2014/main" id="{9C4FC277-25C1-438E-A6D8-7CECEFECAEE1}"/>
              </a:ext>
            </a:extLst>
          </p:cNvPr>
          <p:cNvSpPr>
            <a:spLocks xmlns:a="http://schemas.openxmlformats.org/drawingml/2006/main" noGrp="1"/>
          </p:cNvSpPr>
          <p:nvPr/>
        </p:nvSpPr>
        <p:spPr>
          <a:xfrm xmlns:a="http://schemas.openxmlformats.org/drawingml/2006/main">
            <a:off x="685800" y="56864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Separarea aplicării existente de extinderea propusă și de validarea care mai trebuie făcută.</a:t>
            </a:r>
          </a:p>
        </p:txBody>
      </p:sp>
    </p:spTree>
    <p:extLst>
      <p:ext uri="{BB962C8B-B14F-4D97-AF65-F5344CB8AC3E}">
        <p14:creationId xmlns:p14="http://schemas.microsoft.com/office/powerpoint/2010/main" val="16547938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6D7351-BA85-4815-83EF-1FEEE0F8B2F9}"/>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Anexă: incertitudine și reproductibilitate</a:t>
            </a:r>
          </a:p>
        </p:txBody>
      </p:sp>
      <p:sp>
        <p:nvSpPr>
          <p:cNvPr id="2" name="">
            <a:extLst xmlns:a="http://schemas.openxmlformats.org/drawingml/2006/main">
              <a:ext uri="{FF2B5EF4-FFF2-40B4-BE49-F238E27FC236}">
                <a16:creationId xmlns:a16="http://schemas.microsoft.com/office/drawing/2014/main" id="{B168FA44-4289-4743-93D8-CDBEE2F5A822}"/>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Detalii pentru întrebări, nu pentru parcurgere integrală</a:t>
            </a:r>
          </a:p>
        </p:txBody>
      </p:sp>
      <p:sp>
        <p:nvSpPr>
          <p:cNvPr id="3" name="">
            <a:extLst xmlns:a="http://schemas.openxmlformats.org/drawingml/2006/main">
              <a:ext uri="{FF2B5EF4-FFF2-40B4-BE49-F238E27FC236}">
                <a16:creationId xmlns:a16="http://schemas.microsoft.com/office/drawing/2014/main" id="{8ADAF84B-BF9B-4313-AFCC-F50695D15BA1}"/>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ANEXĂ / Credit risk fairness · 9 octombrie 2026</a:t>
            </a:r>
          </a:p>
        </p:txBody>
      </p:sp>
      <p:sp>
        <p:nvSpPr>
          <p:cNvPr id="4" name="">
            <a:extLst xmlns:a="http://schemas.openxmlformats.org/drawingml/2006/main">
              <a:ext uri="{FF2B5EF4-FFF2-40B4-BE49-F238E27FC236}">
                <a16:creationId xmlns:a16="http://schemas.microsoft.com/office/drawing/2014/main" id="{987C2047-6FCD-4142-9C56-67C3E2815BC4}"/>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7B4F68F7-012E-4362-A05B-15159F51A811}"/>
              </a:ext>
            </a:extLst>
          </p:cNvPr>
          <p:cNvGraphicFramePr/>
          <p:nvPr/>
        </p:nvGraphicFramePr>
        <p:xfrm>
          <a:off xmlns:a="http://schemas.openxmlformats.org/drawingml/2006/main" x="685800" y="2381250"/>
          <a:ext xmlns:a="http://schemas.openxmlformats.org/drawingml/2006/main" cx="10820400" cy="3476625"/>
        </p:xfrm>
        <a:graphic xmlns:a="http://schemas.openxmlformats.org/drawingml/2006/main">
          <a:graphicData uri="http://schemas.openxmlformats.org/drawingml/2006/table">
            <a:tbl>
              <a:tblPr/>
              <a:tblGrid>
                <a:gridCol w="2905125"/>
                <a:gridCol w="7915275"/>
              </a:tblGrid>
              <a:tr h="579438">
                <a:tc>
                  <a:txBody>
                    <a:bodyPr wrap="square" lIns="95250" tIns="95250" rIns="95250" bIns="95250">
                      <a:noAutofit/>
                    </a:bodyPr>
                    <a:lstStyle/>
                    <a:p>
                      <a:r>
                        <a:rPr sz="1800" b="1">
                          <a:solidFill>
                            <a:srgbClr val="162B46"/>
                          </a:solidFill>
                          <a:latin typeface="Arial"/>
                          <a:ea typeface="Arial"/>
                          <a:cs typeface="Arial"/>
                        </a:rPr>
                        <a:t>Element</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Procedură</a:t>
                      </a:r>
                    </a:p>
                  </a:txBody>
                  <a:tcPr marL="91440" marR="91440" marT="45720" marB="45720" anchor="ctr">
                    <a:solidFill>
                      <a:srgbClr val="F0F5FB"/>
                    </a:solidFill>
                  </a:tcPr>
                </a:tc>
              </a:tr>
              <a:tr h="579438">
                <a:tc>
                  <a:txBody>
                    <a:bodyPr wrap="square" lIns="95250" tIns="95250" rIns="95250" bIns="95250">
                      <a:noAutofit/>
                    </a:bodyPr>
                    <a:lstStyle/>
                    <a:p>
                      <a:r>
                        <a:rPr sz="1800" b="0">
                          <a:solidFill>
                            <a:srgbClr val="162B46"/>
                          </a:solidFill>
                          <a:latin typeface="Arial"/>
                          <a:ea typeface="Arial"/>
                          <a:cs typeface="Arial"/>
                        </a:rPr>
                        <a:t>Sampling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2.000 resample-uri pe grupuri exacte; seed 42; IC95% percentile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Comparație pereche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Aceleași înregistrări, perturbări și resample-uri pentru ambele modele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Condiționare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Modele fixe; date observate; realizări de corupție salvate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Monte Carlo</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repetări semantice; SD separat de intervalele de sampling</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Verificare salvată</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teste; 24 CSV și cache identice în două rulări finale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234198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1487DA-B865-45B4-B316-05BB117364A7}"/>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Anexă: indicatori și teste propuse</a:t>
            </a:r>
          </a:p>
        </p:txBody>
      </p:sp>
      <p:sp>
        <p:nvSpPr>
          <p:cNvPr id="2" name="">
            <a:extLst xmlns:a="http://schemas.openxmlformats.org/drawingml/2006/main">
              <a:ext uri="{FF2B5EF4-FFF2-40B4-BE49-F238E27FC236}">
                <a16:creationId xmlns:a16="http://schemas.microsoft.com/office/drawing/2014/main" id="{93AC4E7A-F587-4ACD-B813-73814A4C90B7}"/>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Acoperire parțială: ce calculăm și ce teste lipsesc</a:t>
            </a:r>
          </a:p>
        </p:txBody>
      </p:sp>
      <p:sp>
        <p:nvSpPr>
          <p:cNvPr id="3" name="">
            <a:extLst xmlns:a="http://schemas.openxmlformats.org/drawingml/2006/main">
              <a:ext uri="{FF2B5EF4-FFF2-40B4-BE49-F238E27FC236}">
                <a16:creationId xmlns:a16="http://schemas.microsoft.com/office/drawing/2014/main" id="{46273B5D-43B0-4EE3-ABBB-4CD710C87792}"/>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ANEXĂ / Credit risk fairness · 9 octombrie 2026</a:t>
            </a:r>
          </a:p>
        </p:txBody>
      </p:sp>
      <p:sp>
        <p:nvSpPr>
          <p:cNvPr id="4" name="">
            <a:extLst xmlns:a="http://schemas.openxmlformats.org/drawingml/2006/main">
              <a:ext uri="{FF2B5EF4-FFF2-40B4-BE49-F238E27FC236}">
                <a16:creationId xmlns:a16="http://schemas.microsoft.com/office/drawing/2014/main" id="{653ACA46-8D41-4899-8379-DEF02174AF09}"/>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96996CF3-3E87-42CB-B839-5E7B47C8F6EC}"/>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667125"/>
                <a:gridCol w="7153275"/>
              </a:tblGrid>
              <a:tr h="571500">
                <a:tc>
                  <a:txBody>
                    <a:bodyPr wrap="square" lIns="95250" tIns="95250" rIns="95250" bIns="95250">
                      <a:noAutofit/>
                    </a:bodyPr>
                    <a:lstStyle/>
                    <a:p>
                      <a:r>
                        <a:rPr sz="1725" b="1">
                          <a:solidFill>
                            <a:srgbClr val="162B46"/>
                          </a:solidFill>
                          <a:latin typeface="Arial"/>
                          <a:ea typeface="Arial"/>
                          <a:cs typeface="Arial"/>
                        </a:rPr>
                        <a:t>Element din propunere</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Situația actuală</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Brier și log loss + DM</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Scoruri calculate; fără test Diebold–Mariano</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Rate / gapuri de grup + teste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Estimări și IC bootstrap; fără teste z / permutare</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Calibrare medie + test t</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Media p versus frecvență, descriptiv; fără test t</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SHAP de grup + KS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Comparații descriptive; fără KS / Gini formal</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AOPC / conformal / MCS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Neimplementate; necesită protocol separat și feedback</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868343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2026-10-08T13:23:56.1730000Z</dcterms:created>
  <dcterms:modified xsi:type="dcterms:W3CDTF">2026-10-08T13:23:56.1730000Z</dcterms:modified>
</coreProperties>
</file>