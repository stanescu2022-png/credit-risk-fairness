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dc35f86a744b84" /><Relationship Type="http://schemas.openxmlformats.org/officeDocument/2006/relationships/extended-properties" Target="/docProps/app.xml" Id="Ra2922777b21744d6" /><Relationship Type="http://schemas.openxmlformats.org/officeDocument/2006/relationships/officeDocument" Target="/ppt/presentation.xml" Id="R11e8ba579a9b4ba0" /></Relationships>
</file>

<file path=ppt/presentation.xml><?xml version="1.0" encoding="utf-8"?>
<p:presentation xmlns:p="http://schemas.openxmlformats.org/presentationml/2006/main">
  <p:sldMasterIdLst>
    <p:sldMasterId xmlns:r="http://schemas.openxmlformats.org/officeDocument/2006/relationships" id="2147483648" r:id="Re9ecacd97ec4478d"/>
  </p:sldMasterIdLst>
  <p:notesMasterIdLst>
    <p:notesMasterId xmlns:r="http://schemas.openxmlformats.org/officeDocument/2006/relationships" r:id="R935cb5c86a4f47d4"/>
  </p:notesMasterIdLst>
  <p:sldIdLst>
    <p:sldId xmlns:r="http://schemas.openxmlformats.org/officeDocument/2006/relationships" id="256" r:id="R67cad4eeafe74594"/>
    <p:sldId xmlns:r="http://schemas.openxmlformats.org/officeDocument/2006/relationships" id="257" r:id="Rbe285a4f11d54895"/>
    <p:sldId xmlns:r="http://schemas.openxmlformats.org/officeDocument/2006/relationships" id="258" r:id="R02a05f32bf9a4957"/>
    <p:sldId xmlns:r="http://schemas.openxmlformats.org/officeDocument/2006/relationships" id="259" r:id="R84b18fabe5994721"/>
    <p:sldId xmlns:r="http://schemas.openxmlformats.org/officeDocument/2006/relationships" id="260" r:id="Rbcb2dca788244160"/>
    <p:sldId xmlns:r="http://schemas.openxmlformats.org/officeDocument/2006/relationships" id="261" r:id="R38b53e4ca9724ad7"/>
    <p:sldId xmlns:r="http://schemas.openxmlformats.org/officeDocument/2006/relationships" id="262" r:id="R69f7b8e71a974357"/>
    <p:sldId xmlns:r="http://schemas.openxmlformats.org/officeDocument/2006/relationships" id="263" r:id="R398cc9b85cce4796"/>
    <p:sldId xmlns:r="http://schemas.openxmlformats.org/officeDocument/2006/relationships" id="264" r:id="R79afa1cf093541e0"/>
    <p:sldId xmlns:r="http://schemas.openxmlformats.org/officeDocument/2006/relationships" id="265" r:id="Re0d4892ae42544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6852982ee34227" /><Relationship Type="http://schemas.openxmlformats.org/officeDocument/2006/relationships/slideMaster" Target="/ppt/slideMasters/slideMaster1.xml" Id="Re9ecacd97ec4478d" /><Relationship Type="http://schemas.openxmlformats.org/officeDocument/2006/relationships/notesMaster" Target="/ppt/notesMasters/notesMaster1.xml" Id="R935cb5c86a4f47d4" /><Relationship Type="http://schemas.openxmlformats.org/officeDocument/2006/relationships/presProps" Target="/ppt/presProps.xml" Id="Rf75aec36d9424a41" /><Relationship Type="http://schemas.openxmlformats.org/officeDocument/2006/relationships/tableStyles" Target="/ppt/tableStyles.xml" Id="R44cfb9f658e048d0" /><Relationship Type="http://schemas.openxmlformats.org/officeDocument/2006/relationships/slide" Target="/ppt/slides/slide1.xml" Id="R67cad4eeafe74594" /><Relationship Type="http://schemas.openxmlformats.org/officeDocument/2006/relationships/slide" Target="/ppt/slides/slide2.xml" Id="Rbe285a4f11d54895" /><Relationship Type="http://schemas.openxmlformats.org/officeDocument/2006/relationships/slide" Target="/ppt/slides/slide3.xml" Id="R02a05f32bf9a4957" /><Relationship Type="http://schemas.openxmlformats.org/officeDocument/2006/relationships/slide" Target="/ppt/slides/slide4.xml" Id="R84b18fabe5994721" /><Relationship Type="http://schemas.openxmlformats.org/officeDocument/2006/relationships/slide" Target="/ppt/slides/slide5.xml" Id="Rbcb2dca788244160" /><Relationship Type="http://schemas.openxmlformats.org/officeDocument/2006/relationships/slide" Target="/ppt/slides/slide6.xml" Id="R38b53e4ca9724ad7" /><Relationship Type="http://schemas.openxmlformats.org/officeDocument/2006/relationships/slide" Target="/ppt/slides/slide7.xml" Id="R69f7b8e71a974357" /><Relationship Type="http://schemas.openxmlformats.org/officeDocument/2006/relationships/slide" Target="/ppt/slides/slide8.xml" Id="R398cc9b85cce4796" /><Relationship Type="http://schemas.openxmlformats.org/officeDocument/2006/relationships/slide" Target="/ppt/slides/slide9.xml" Id="R79afa1cf093541e0" /><Relationship Type="http://schemas.openxmlformats.org/officeDocument/2006/relationships/slide" Target="/ppt/slides/slide10.xml" Id="Re0d4892ae42544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61c557a3864c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00f3ce9e4e499a" /><Relationship Type="http://schemas.openxmlformats.org/officeDocument/2006/relationships/notesMaster" Target="/ppt/notesMasters/notesMaster1.xml" Id="R1194abe1a5924d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44cde3bbc6488c" /><Relationship Type="http://schemas.openxmlformats.org/officeDocument/2006/relationships/notesMaster" Target="/ppt/notesMasters/notesMaster1.xml" Id="R68e2163878e940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4a280757a14c3d" /><Relationship Type="http://schemas.openxmlformats.org/officeDocument/2006/relationships/notesMaster" Target="/ppt/notesMasters/notesMaster1.xml" Id="R06bbbf5848db41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0c66a989994f95" /><Relationship Type="http://schemas.openxmlformats.org/officeDocument/2006/relationships/notesMaster" Target="/ppt/notesMasters/notesMaster1.xml" Id="Rdc3d50fcffc34a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6d13c7b85f408b" /><Relationship Type="http://schemas.openxmlformats.org/officeDocument/2006/relationships/notesMaster" Target="/ppt/notesMasters/notesMaster1.xml" Id="Raddebecf1a2b4b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6ae3fd426944db" /><Relationship Type="http://schemas.openxmlformats.org/officeDocument/2006/relationships/notesMaster" Target="/ppt/notesMasters/notesMaster1.xml" Id="Re25a16f579bf48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2ab93c838045ff" /><Relationship Type="http://schemas.openxmlformats.org/officeDocument/2006/relationships/notesMaster" Target="/ppt/notesMasters/notesMaster1.xml" Id="R09a0205a9dcb45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5b1432a99f448c" /><Relationship Type="http://schemas.openxmlformats.org/officeDocument/2006/relationships/notesMaster" Target="/ppt/notesMasters/notesMaster1.xml" Id="Rb04729ef46c746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0bc71ce82e47e6" /><Relationship Type="http://schemas.openxmlformats.org/officeDocument/2006/relationships/notesMaster" Target="/ppt/notesMasters/notesMaster1.xml" Id="R2de399f44fab4c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44782061c44d71" /><Relationship Type="http://schemas.openxmlformats.org/officeDocument/2006/relationships/notesMaster" Target="/ppt/notesMasters/notesMaster1.xml" Id="R9b5cada3573e4b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30–45 seconds. The opening question is what a more complex model gains and what trade-offs arise. Compare logistic regression and boosting across the empirical dimensions, then introduce the broader framework proposal. The current findings do not validate the proposed framework or establish a new statistical method.</a:t>
            </a:r>
          </a:p>
          <a:p xmlns:a="http://schemas.openxmlformats.org/drawingml/2006/main">
            <a:r>
              <a:t/>
            </a:r>
          </a:p>
          <a:p xmlns:a="http://schemas.openxmlformats.org/drawingml/2006/main">
            <a:r>
              <a:t>Project sources:</a:t>
            </a:r>
          </a:p>
          <a:p xmlns:a="http://schemas.openxmlformats.org/drawingml/2006/main">
            <a:r>
              <a:t>outputs/stabilization_report.md; data/README.md; README.md</a:t>
            </a:r>
          </a:p>
          <a:p xmlns:a="http://schemas.openxmlformats.org/drawingml/2006/main">
            <a:r>
              <a:t>docs/context/sources/Trustworthy-AI-Framework-Proposal_new.docx; corresponding extracted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 public UCI dataset contains 30,000 Taiwan records with next-month default as the target. We retained all records. Grouping on the 22 predictors eliminated exact overlap by changing 34 partition assignments. Identical predictors do not prove that two records describe the same person. Final pipelines and preprocessing are frozen. Cross-validation fits temporary models within training only. The holdout had been inspected before locking, which limits confirmatory interpretation.</a:t>
            </a:r>
          </a:p>
          <a:p xmlns:a="http://schemas.openxmlformats.org/drawingml/2006/main">
            <a:r>
              <a:t/>
            </a:r>
          </a:p>
          <a:p xmlns:a="http://schemas.openxmlformats.org/drawingml/2006/main">
            <a:r>
              <a:t>Project sources:</a:t>
            </a:r>
          </a:p>
          <a:p xmlns:a="http://schemas.openxmlformats.org/drawingml/2006/main">
            <a:r>
              <a:t>outputs/stabilization_report.md; data/README.md; README.md</a:t>
            </a:r>
          </a:p>
          <a:p xmlns:a="http://schemas.openxmlformats.org/drawingml/2006/main">
            <a:r>
              <a:t>outputs/performance_evaluation_report.md; outputs/tables/performance_evaluation/holdout_metrics.csv; holdout_confidence_intervals.csv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ROC-AUC and AP describe ranking, while recall measures detected defaults at the reference threshold. AP is sklearn average precision, not trapezoidal PR-AUC. Logistic regression: AUC 0.7569, AP 0.5270, accuracy 0.8180, recall 0.3545. Boosting: AUC 0.7781, AP 0.5521, accuracy 0.8177, recall 0.3515. Brier score and log loss are lower for boosting. Marginal confidence intervals in the explorer do not constitute a paired model-difference test. No new threshold was selected.</a:t>
            </a:r>
          </a:p>
          <a:p xmlns:a="http://schemas.openxmlformats.org/drawingml/2006/main">
            <a:r>
              <a:t/>
            </a:r>
          </a:p>
          <a:p xmlns:a="http://schemas.openxmlformats.org/drawingml/2006/main">
            <a:r>
              <a:t>Project sources:</a:t>
            </a:r>
          </a:p>
          <a:p xmlns:a="http://schemas.openxmlformats.org/drawingml/2006/main">
            <a:r>
              <a:t>outputs/performance_evaluation_report.md; outputs/tables/performance_evaluation/holdout_metrics.csv; holdout_confidence_intervals.csv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pp means percentage points. Recall and FPR gaps are female minus male. SAFE parity is the unsigned maximum-minus-minimum gap between group RGA values. RGA agrees numerically with AUC in this binary dataset, without implying a universal identity. Boosting has a smaller SAFE gap but larger absolute recall and FPR gaps. Signed intervals include zero, which does not establish equivalence or absence of disparity. A positive prediction flags default risk and does not represent credit approval. Associations between SEX and predictors do not identify causal effects.</a:t>
            </a:r>
          </a:p>
          <a:p xmlns:a="http://schemas.openxmlformats.org/drawingml/2006/main">
            <a:r>
              <a:t/>
            </a:r>
          </a:p>
          <a:p xmlns:a="http://schemas.openxmlformats.org/drawingml/2006/main">
            <a:r>
              <a:t>Project sources:</a:t>
            </a:r>
          </a:p>
          <a:p xmlns:a="http://schemas.openxmlformats.org/drawingml/2006/main">
            <a:r>
              <a:t>outputs/fairness_evaluation_report.md; outputs/tables/fairness_evaluation/conventional_vs_safe_comparison.csv; fairness_confidence_intervals.csv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PAY_0 and LIMIT_BAL lead both models. The top three predictors are PAY_0, LIMIT_BAL and PAY_6 for logistic regression, and PAY_0, LIMIT_BAL and PAY_AMT1 for boosting. SHAP explains default log-odds relative to a shared background of 100 training records. Contributions from 85 transformed columns are summed to 22 predictors. For boosting, this aggregation is not a separate coalition game on raw predictors. Authentic RGE assesses ranking changes after replacing inputs with training references. SHAP already appears in KAIRI and is not a methodological novelty of this project. ID 2 in the explorer is an observed default missed by both models. The fixed local cases are illustrative rather than representative.</a:t>
            </a:r>
          </a:p>
          <a:p xmlns:a="http://schemas.openxmlformats.org/drawingml/2006/main">
            <a:r>
              <a:t/>
            </a:r>
          </a:p>
          <a:p xmlns:a="http://schemas.openxmlformats.org/drawingml/2006/main">
            <a:r>
              <a:t>Project sources:</a:t>
            </a:r>
          </a:p>
          <a:p xmlns:a="http://schemas.openxmlformats.org/drawingml/2006/main">
            <a:r>
              <a:t>outputs/explainability_evaluation_report.md; outputs/tables/explainability_evaluation/model_summary.csv; local_shap_contributions.csv</a:t>
            </a:r>
          </a:p>
          <a:p xmlns:a="http://schemas.openxmlformats.org/drawingml/2006/main">
            <a:r>
              <a:t>docs/context/sources/3. 1-s2.0-S0957417423017220-main.pdf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SAFE p=0.05 swaps opposite input tails. The parameter is a tail fraction, not a 5% change to each value. Joint SAFE changes inputs for about 65.14% of holdout records. Semantic q=0.10 selects about 10% and uses rules based on training IQR, age, supported positive repayment delays and conditional categorical substitutions. Special repayment states -2, -1 and 0 remain unchanged. There are 30 semantic repetitions and 167 scenarios with 1,501 realizations overall. Semantic mean absolute probability movement is 0.51 pp for logistic regression and 0.83 pp for boosting. The paired GBM-minus-LR difference is 0.318 pp, with conditional 95% CI [0.297, 0.340] pp. RGR has point estimates only and model-specific normalization. Stress severities are not equivalent, and observed outcomes remain fixed.</a:t>
            </a:r>
          </a:p>
          <a:p xmlns:a="http://schemas.openxmlformats.org/drawingml/2006/main">
            <a:r>
              <a:t/>
            </a:r>
          </a:p>
          <a:p xmlns:a="http://schemas.openxmlformats.org/drawingml/2006/main">
            <a:r>
              <a:t>Project sources:</a:t>
            </a:r>
          </a:p>
          <a:p xmlns:a="http://schemas.openxmlformats.org/drawingml/2006/main">
            <a:r>
              <a:t>outputs/robustness_evaluation_report.md; outputs/tables/robustness_evaluation/protocol.json; diagnostic_summary.csv; sampling_intervals.csv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This summarizes the colleague’s proposal rather than a validated framework. The document calls for complementary indicators with formulas, associated tests, classification by model access and sources. It proposes uncertainty and calibration as a fifth axis, with bias across dimensions. Mapping to the EU AI Act, NIST AI RMF and HLEG remains proposed and has not undergone legal validation. The draft uncertainty table repeats explainability rows. This summary follows the explicit intention in the introduction, and the draft needs correction before further development.</a:t>
            </a:r>
          </a:p>
          <a:p xmlns:a="http://schemas.openxmlformats.org/drawingml/2006/main">
            <a:r>
              <a:t/>
            </a:r>
          </a:p>
          <a:p xmlns:a="http://schemas.openxmlformats.org/drawingml/2006/main">
            <a:r>
              <a:t>Project sources:</a:t>
            </a:r>
          </a:p>
          <a:p xmlns:a="http://schemas.openxmlformats.org/drawingml/2006/main">
            <a:r>
              <a:t>docs/context/sources/Trustworthy-AI-Framework-Proposal_new.docx; corresponding extracted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We do not assign a percentage of framework completion. Brier score and log loss are implemented, while DM, DeLong and MCS have not been executed. Group rates, gaps, ratios and bootstrap intervals exist, but the proposed z and permutation tests and entropy indicators do not. Semantic corruptions are distinct from energy distance, MMD and DeepFool. SHAP and RGE do not constitute AOPC, fidelity or randomization testing. Group SHAP comparisons have no formal KS test. Global ECE and conditional intervals are distinct from aleatoric and epistemic decomposition or conformal prediction. Coverage is partial at the level of selected indicators and diagnostics. Broader implementation remains deferred pending professor feedback.</a:t>
            </a:r>
          </a:p>
          <a:p xmlns:a="http://schemas.openxmlformats.org/drawingml/2006/main">
            <a:r>
              <a:t/>
            </a:r>
          </a:p>
          <a:p xmlns:a="http://schemas.openxmlformats.org/drawingml/2006/main">
            <a:r>
              <a:t>Project sources:</a:t>
            </a:r>
          </a:p>
          <a:p xmlns:a="http://schemas.openxmlformats.org/drawingml/2006/main">
            <a:r>
              <a:t>docs/context/sources/Trustworthy-AI-Framework-Proposal_new.docx; corresponding extracted text</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outputs/explainability_evaluation_report.md; outputs/tables/explainability_evaluation/model_summary.csv; local_shap_contributions.csv</a:t>
            </a:r>
          </a:p>
          <a:p xmlns:a="http://schemas.openxmlformats.org/drawingml/2006/main">
            <a:r>
              <a:t>outputs/robustness_evaluation_report.md; outputs/tables/robustness_evaluation/protocol.json; diagnostic_summary.csv; sampling_intervals.csv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technical questions. Bootstrap uses 2,000 exact-predictor-group resamples with seed 42 and percentile intervals. Groups can cross SEX and outcome categories and remain intact. Both models share resamples. Intervals condition on frozen models and observed data, and robustness also conditions on saved corruption realizations. Within each resample, nonlinear metrics are calculated separately for each semantic repetition and then averaged. SD across 30 repetitions is Monte Carlo variability rather than a sampling interval. Saved robustness verification reports 30 passing tests and 24 CSV files and the prediction cache identical across two runs. The explorer is an offline snapshot generated from saved tables, rather than a live database connection.</a:t>
            </a:r>
          </a:p>
          <a:p xmlns:a="http://schemas.openxmlformats.org/drawingml/2006/main">
            <a:r>
              <a:t/>
            </a:r>
          </a:p>
          <a:p xmlns:a="http://schemas.openxmlformats.org/drawingml/2006/main">
            <a:r>
              <a:t>Project sources:</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outputs/robustness_evaluation_report.md; outputs/tables/robustness_evaluation/protocol.json; diagnostic_summary.csv; sampling_intervals.csv</a:t>
            </a:r>
          </a:p>
          <a:p xmlns:a="http://schemas.openxmlformats.org/drawingml/2006/main">
            <a:r>
              <a:t>explorer/README.md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 indicator coverage. Calculating a score and executing its associated statistical test are distinct steps. Interpretation of flagging ratios depends on the meaning of the positive label. A default-risk ratio does not automatically imply discrimination in loan approvals. Mean predicted probability versus observed event frequency is descriptive and has no t-test. SHAP data are saved, but formal KS and Gini tests have not been run. Proposed tests require review for statistical suitability. MCS, AOPC and conformal prediction remain unimplemented.</a:t>
            </a:r>
          </a:p>
          <a:p xmlns:a="http://schemas.openxmlformats.org/drawingml/2006/main">
            <a:r>
              <a:t/>
            </a:r>
          </a:p>
          <a:p xmlns:a="http://schemas.openxmlformats.org/drawingml/2006/main">
            <a:r>
              <a:t>Project sources:</a:t>
            </a:r>
          </a:p>
          <a:p xmlns:a="http://schemas.openxmlformats.org/drawingml/2006/main">
            <a:r>
              <a:t>docs/context/sources/Trustworthy-AI-Framework-Proposal_new.docx; corresponding extracted text</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outputs/explainability_evaluation_report.md; outputs/tables/explainability_evaluation/model_summary.csv; local_shap_contributions.csv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3b105a16c549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d29b06fa7744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0265af8fd348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fd92b20d3845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36b4c28f4f4f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544cb1093048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D69C7B-6B44-4793-A5F5-81BC6D5872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64198C-62BB-420D-A010-2D72D9834E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0106CD-FCE2-44E0-A7C2-FBEE35D80D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587545-9434-4A3C-8048-B1A12EEB59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9D999A-A090-49AE-A806-A08490AD50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D605C6-AFBB-49B8-A528-CCF5B7A613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12AFA3-E53A-4C9E-97F9-2259BE8AB1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336FF2-82C1-4CE5-AB13-6701C9932C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9DD2D-5A42-445B-81E3-6D8F349F48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62B68B-CDC9-4E38-A080-2050EE5F19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c875d557f541ea" /><Relationship Type="http://schemas.openxmlformats.org/officeDocument/2006/relationships/slideLayout" Target="/ppt/slideLayouts/slideLayout1.xml" Id="Rf03204cfd5594b8e" /><Relationship Type="http://schemas.openxmlformats.org/officeDocument/2006/relationships/slideLayout" Target="/ppt/slideLayouts/slideLayout2.xml" Id="R1f1ff4c6e0cb40e8" /><Relationship Type="http://schemas.openxmlformats.org/officeDocument/2006/relationships/slideLayout" Target="/ppt/slideLayouts/slideLayout3.xml" Id="R5f46b5364ee149cd" /><Relationship Type="http://schemas.openxmlformats.org/officeDocument/2006/relationships/slideLayout" Target="/ppt/slideLayouts/slideLayout4.xml" Id="Rb9624db7afaf4dc0" /><Relationship Type="http://schemas.openxmlformats.org/officeDocument/2006/relationships/slideLayout" Target="/ppt/slideLayouts/slideLayout5.xml" Id="R163710b0156e474e" /><Relationship Type="http://schemas.openxmlformats.org/officeDocument/2006/relationships/slideLayout" Target="/ppt/slideLayouts/slideLayout6.xml" Id="R6b956b18eeaa43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3204cfd5594b8e"/>
    <p:sldLayoutId xmlns:r="http://schemas.openxmlformats.org/officeDocument/2006/relationships" id="2147483650" r:id="R1f1ff4c6e0cb40e8"/>
    <p:sldLayoutId xmlns:r="http://schemas.openxmlformats.org/officeDocument/2006/relationships" id="2147483651" r:id="R5f46b5364ee149cd"/>
    <p:sldLayoutId xmlns:r="http://schemas.openxmlformats.org/officeDocument/2006/relationships" id="2147483652" r:id="Rb9624db7afaf4dc0"/>
    <p:sldLayoutId xmlns:r="http://schemas.openxmlformats.org/officeDocument/2006/relationships" id="2147483653" r:id="R163710b0156e474e"/>
    <p:sldLayoutId xmlns:r="http://schemas.openxmlformats.org/officeDocument/2006/relationships" id="2147483654" r:id="R6b956b18eeaa43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7f1e5da1644d57" /><Relationship Type="http://schemas.openxmlformats.org/officeDocument/2006/relationships/notesSlide" Target="/ppt/notesSlides/notesSlide1.xml" Id="R80fb7d22df3648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2eac40167841ed" /><Relationship Type="http://schemas.openxmlformats.org/officeDocument/2006/relationships/notesSlide" Target="/ppt/notesSlides/notesSlide2.xml" Id="Reb34823ee8b541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fb4d0582d142a6" /><Relationship Type="http://schemas.openxmlformats.org/officeDocument/2006/relationships/chart" Target="/ppt/slides/charts/chart1.xml" Id="Rd25b0742b7c24fba" /><Relationship Type="http://schemas.openxmlformats.org/officeDocument/2006/relationships/notesSlide" Target="/ppt/notesSlides/notesSlide3.xml" Id="Rb78ee7beb64e43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7a1bc9e4774c56" /><Relationship Type="http://schemas.openxmlformats.org/officeDocument/2006/relationships/notesSlide" Target="/ppt/notesSlides/notesSlide4.xml" Id="R6935957810ba43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cb2c27c405429c" /><Relationship Type="http://schemas.openxmlformats.org/officeDocument/2006/relationships/chart" Target="/ppt/slides/charts/chart2.xml" Id="Reec2d9c131704080" /><Relationship Type="http://schemas.openxmlformats.org/officeDocument/2006/relationships/notesSlide" Target="/ppt/notesSlides/notesSlide5.xml" Id="R9302dc8d90b04c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6ac70af44c4cbf" /><Relationship Type="http://schemas.openxmlformats.org/officeDocument/2006/relationships/notesSlide" Target="/ppt/notesSlides/notesSlide6.xml" Id="Rbc2df0608b1a4a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b276a2898644de" /><Relationship Type="http://schemas.openxmlformats.org/officeDocument/2006/relationships/notesSlide" Target="/ppt/notesSlides/notesSlide7.xml" Id="R0f7ed87ce39142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d4435af89b842a3" /><Relationship Type="http://schemas.openxmlformats.org/officeDocument/2006/relationships/notesSlide" Target="/ppt/notesSlides/notesSlide8.xml" Id="R6b7f74a6680940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e67a2e3f914528" /><Relationship Type="http://schemas.openxmlformats.org/officeDocument/2006/relationships/notesSlide" Target="/ppt/notesSlides/notesSlide9.xml" Id="R04df40f4f66d4d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5e97c3d677c4dfc" /><Relationship Type="http://schemas.openxmlformats.org/officeDocument/2006/relationships/notesSlide" Target="/ppt/notesSlides/notesSlide10.xml" Id="R8c2977e12fe34b39" /></Relationships>
</file>

<file path=ppt/slides/charts/chart1.xml><?xml version="1.0" encoding="utf-8"?>
<c:chartSpace xmlns:c="http://schemas.openxmlformats.org/drawingml/2006/chart">
  <c:lang val="en-US"/>
  <c:chart>
    <c:plotArea>
      <c:barChart>
        <c:barDir val="col"/>
        <c:grouping val="clustered"/>
        <c:varyColors val="0"/>
        <c:ser>
          <c:idx val="0"/>
          <c:order val="0"/>
          <c:tx>
            <c:v>Logistic</c:v>
          </c:tx>
          <c:spPr>
            <a:solidFill xmlns:a="http://schemas.openxmlformats.org/drawingml/2006/main">
              <a:srgbClr val="245FC9"/>
            </a:solidFill>
          </c:spPr>
          <c:cat>
            <c:strLit>
              <c:ptCount val="2"/>
              <c:pt idx="0">
                <c:v>ROC-AUC</c:v>
              </c:pt>
              <c:pt idx="1">
                <c:v>Average precision</c:v>
              </c:pt>
            </c:strLit>
          </c:cat>
          <c:val>
            <c:numLit>
              <c:formatCode>0.000</c:formatCode>
              <c:ptCount val="2"/>
              <c:pt idx="0">
                <c:v>0.7569488458148638</c:v>
              </c:pt>
              <c:pt idx="1">
                <c:v>0.527009028152027</c:v>
              </c:pt>
            </c:numLit>
          </c:val>
        </c:ser>
        <c:ser>
          <c:idx val="1"/>
          <c:order val="1"/>
          <c:tx>
            <c:v>Gradient boosting</c:v>
          </c:tx>
          <c:spPr>
            <a:solidFill xmlns:a="http://schemas.openxmlformats.org/drawingml/2006/main">
              <a:srgbClr val="BF570D"/>
            </a:solidFill>
          </c:spPr>
          <c:cat>
            <c:strLit>
              <c:ptCount val="2"/>
              <c:pt idx="0">
                <c:v>ROC-AUC</c:v>
              </c:pt>
              <c:pt idx="1">
                <c:v>Average precision</c:v>
              </c:pt>
            </c:strLit>
          </c:cat>
          <c:val>
            <c:numLit>
              <c:formatCode>0.000</c:formatCode>
              <c:ptCount val="2"/>
              <c:pt idx="0">
                <c:v>0.7781322906135781</c:v>
              </c:pt>
              <c:pt idx="1">
                <c:v>0.5521356691545415</c:v>
              </c:pt>
            </c:numLit>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162B46"/>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E"/>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7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62B46"/>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Logistic</c:v>
          </c:tx>
          <c:spPr>
            <a:solidFill xmlns:a="http://schemas.openxmlformats.org/drawingml/2006/main">
              <a:srgbClr val="245FC9"/>
            </a:solidFill>
          </c:spPr>
          <c:cat>
            <c:strLit>
              <c:ptCount val="1"/>
              <c:pt idx="0">
                <c:v>SHAP share of the top 3 predictors</c:v>
              </c:pt>
            </c:strLit>
          </c:cat>
          <c:val>
            <c:numLit>
              <c:formatCode>0.0%</c:formatCode>
              <c:ptCount val="1"/>
              <c:pt idx="0">
                <c:v>0.5416015088125941</c:v>
              </c:pt>
            </c:numLit>
          </c:val>
        </c:ser>
        <c:ser>
          <c:idx val="1"/>
          <c:order val="1"/>
          <c:tx>
            <c:v>Gradient boosting</c:v>
          </c:tx>
          <c:spPr>
            <a:solidFill xmlns:a="http://schemas.openxmlformats.org/drawingml/2006/main">
              <a:srgbClr val="BF570D"/>
            </a:solidFill>
          </c:spPr>
          <c:cat>
            <c:strLit>
              <c:ptCount val="1"/>
              <c:pt idx="0">
                <c:v>SHAP share of the top 3 predictors</c:v>
              </c:pt>
            </c:strLit>
          </c:cat>
          <c:val>
            <c:numLit>
              <c:formatCode>0.0%</c:formatCode>
              <c:ptCount val="1"/>
              <c:pt idx="0">
                <c:v>0.4092822607029114</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62B46"/>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E"/>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7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62B46"/>
              </a:solidFill>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F5B8C8-F4D4-4582-B512-675FFBFD12F3}"/>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Credit risk models and trustworthy AI</a:t>
            </a:r>
          </a:p>
        </p:txBody>
      </p:sp>
      <p:sp>
        <p:nvSpPr>
          <p:cNvPr id="2" name="">
            <a:extLst xmlns:a="http://schemas.openxmlformats.org/drawingml/2006/main">
              <a:ext uri="{FF2B5EF4-FFF2-40B4-BE49-F238E27FC236}">
                <a16:creationId xmlns:a16="http://schemas.microsoft.com/office/drawing/2014/main" id="{EBDEBCA6-D6B5-42EF-9757-A19153EDD429}"/>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Implemented results and a proposed broader framework</a:t>
            </a:r>
          </a:p>
        </p:txBody>
      </p:sp>
      <p:sp>
        <p:nvSpPr>
          <p:cNvPr id="3" name="">
            <a:extLst xmlns:a="http://schemas.openxmlformats.org/drawingml/2006/main">
              <a:ext uri="{FF2B5EF4-FFF2-40B4-BE49-F238E27FC236}">
                <a16:creationId xmlns:a16="http://schemas.microsoft.com/office/drawing/2014/main" id="{C20B1508-E77A-4AA6-9385-ACF079AAACF0}"/>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October 2026</a:t>
            </a:r>
          </a:p>
        </p:txBody>
      </p:sp>
      <p:sp>
        <p:nvSpPr>
          <p:cNvPr id="4" name="">
            <a:extLst xmlns:a="http://schemas.openxmlformats.org/drawingml/2006/main">
              <a:ext uri="{FF2B5EF4-FFF2-40B4-BE49-F238E27FC236}">
                <a16:creationId xmlns:a16="http://schemas.microsoft.com/office/drawing/2014/main" id="{6071AE21-45C4-4A8D-AFA4-A180B1EB3798}"/>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E113FAA-7FBE-4EA8-8040-BFCB3292B41E}"/>
              </a:ext>
            </a:extLst>
          </p:cNvPr>
          <p:cNvSpPr>
            <a:spLocks xmlns:a="http://schemas.openxmlformats.org/drawingml/2006/main" noGrp="1"/>
          </p:cNvSpPr>
          <p:nvPr/>
        </p:nvSpPr>
        <p:spPr>
          <a:xfrm xmlns:a="http://schemas.openxmlformats.org/drawingml/2006/main">
            <a:off x="685800" y="28575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2B46"/>
                </a:solidFill>
                <a:latin typeface="Arial"/>
                <a:ea typeface="Arial"/>
                <a:cs typeface="Arial"/>
              </a:defRPr>
            </a:defPPr>
          </a:lstStyle>
          <a:p xmlns:a="http://schemas.openxmlformats.org/drawingml/2006/main">
            <a:pPr>
              <a:buNone/>
              <a:defRPr sz="3150" b="1">
                <a:solidFill>
                  <a:srgbClr val="162B46"/>
                </a:solidFill>
                <a:latin typeface="Arial"/>
                <a:ea typeface="Arial"/>
                <a:cs typeface="Arial"/>
              </a:defRPr>
            </a:pPr>
            <a:r>
              <a:rPr sz="3150" b="1">
                <a:solidFill>
                  <a:srgbClr val="162B46"/>
                </a:solidFill>
                <a:latin typeface="Arial"/>
                <a:ea typeface="Arial"/>
                <a:cs typeface="Arial"/>
              </a:rPr>
              <a:t>How do logistic regression and boosting compare in</a:t>
            </a:r>
          </a:p>
          <a:p xmlns:a="http://schemas.openxmlformats.org/drawingml/2006/main">
            <a:pPr>
              <a:buNone/>
              <a:defRPr sz="3150" b="1">
                <a:solidFill>
                  <a:srgbClr val="162B46"/>
                </a:solidFill>
                <a:latin typeface="Arial"/>
                <a:ea typeface="Arial"/>
                <a:cs typeface="Arial"/>
              </a:defRPr>
            </a:pPr>
            <a:r>
              <a:rPr sz="3150" b="1">
                <a:solidFill>
                  <a:srgbClr val="162B46"/>
                </a:solidFill>
                <a:latin typeface="Arial"/>
                <a:ea typeface="Arial"/>
                <a:cs typeface="Arial"/>
              </a:rPr>
              <a:t>performance, fairness, explainability and robustness?</a:t>
            </a:r>
          </a:p>
        </p:txBody>
      </p:sp>
      <p:sp>
        <p:nvSpPr>
          <p:cNvPr id="6" name="">
            <a:extLst xmlns:a="http://schemas.openxmlformats.org/drawingml/2006/main">
              <a:ext uri="{FF2B5EF4-FFF2-40B4-BE49-F238E27FC236}">
                <a16:creationId xmlns:a16="http://schemas.microsoft.com/office/drawing/2014/main" id="{559234DA-DC07-4B18-8E52-6C3512AA2EFE}"/>
              </a:ext>
            </a:extLst>
          </p:cNvPr>
          <p:cNvSpPr>
            <a:spLocks xmlns:a="http://schemas.openxmlformats.org/drawingml/2006/main" noGrp="1"/>
          </p:cNvSpPr>
          <p:nvPr/>
        </p:nvSpPr>
        <p:spPr>
          <a:xfrm xmlns:a="http://schemas.openxmlformats.org/drawingml/2006/main">
            <a:off x="685800" y="4619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7F83"/>
                </a:solidFill>
                <a:latin typeface="Arial"/>
                <a:ea typeface="Arial"/>
                <a:cs typeface="Arial"/>
              </a:defRPr>
            </a:defPPr>
          </a:lstStyle>
          <a:p xmlns:a="http://schemas.openxmlformats.org/drawingml/2006/main">
            <a:pPr>
              <a:buNone/>
              <a:defRPr sz="2100" b="0">
                <a:solidFill>
                  <a:srgbClr val="007F83"/>
                </a:solidFill>
                <a:latin typeface="Arial"/>
                <a:ea typeface="Arial"/>
                <a:cs typeface="Arial"/>
              </a:defRPr>
            </a:pPr>
            <a:r>
              <a:rPr sz="2100" b="0">
                <a:solidFill>
                  <a:srgbClr val="007F83"/>
                </a:solidFill>
                <a:latin typeface="Arial"/>
                <a:ea typeface="Arial"/>
                <a:cs typeface="Arial"/>
              </a:rPr>
              <a:t>A reproducible empirical basis for methodological discussion</a:t>
            </a:r>
          </a:p>
        </p:txBody>
      </p:sp>
    </p:spTree>
    <p:extLst>
      <p:ext uri="{BB962C8B-B14F-4D97-AF65-F5344CB8AC3E}">
        <p14:creationId xmlns:p14="http://schemas.microsoft.com/office/powerpoint/2010/main" val="14460785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924230-24A3-40AE-AB9A-69F790F00866}"/>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Data and comparison protocol</a:t>
            </a:r>
          </a:p>
        </p:txBody>
      </p:sp>
      <p:sp>
        <p:nvSpPr>
          <p:cNvPr id="2" name="">
            <a:extLst xmlns:a="http://schemas.openxmlformats.org/drawingml/2006/main">
              <a:ext uri="{FF2B5EF4-FFF2-40B4-BE49-F238E27FC236}">
                <a16:creationId xmlns:a16="http://schemas.microsoft.com/office/drawing/2014/main" id="{AAF4F760-C4DA-4F14-99DA-5FBD8CBDA0EA}"/>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The same data, predictors and classification rule</a:t>
            </a:r>
          </a:p>
        </p:txBody>
      </p:sp>
      <p:sp>
        <p:nvSpPr>
          <p:cNvPr id="3" name="">
            <a:extLst xmlns:a="http://schemas.openxmlformats.org/drawingml/2006/main">
              <a:ext uri="{FF2B5EF4-FFF2-40B4-BE49-F238E27FC236}">
                <a16:creationId xmlns:a16="http://schemas.microsoft.com/office/drawing/2014/main" id="{57C073E2-A436-416A-A9B0-B33681083ACB}"/>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October 2026</a:t>
            </a:r>
          </a:p>
        </p:txBody>
      </p:sp>
      <p:sp>
        <p:nvSpPr>
          <p:cNvPr id="4" name="">
            <a:extLst xmlns:a="http://schemas.openxmlformats.org/drawingml/2006/main">
              <a:ext uri="{FF2B5EF4-FFF2-40B4-BE49-F238E27FC236}">
                <a16:creationId xmlns:a16="http://schemas.microsoft.com/office/drawing/2014/main" id="{EAB99D1F-A0C3-46B9-9A06-48152BCFAA0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DBD637C2-6498-4B02-8E8A-CB3A4EDB05D9}"/>
              </a:ext>
            </a:extLst>
          </p:cNvPr>
          <p:cNvGraphicFramePr/>
          <p:nvPr/>
        </p:nvGraphicFramePr>
        <p:xfrm>
          <a:off xmlns:a="http://schemas.openxmlformats.org/drawingml/2006/main" x="685800" y="2381250"/>
          <a:ext xmlns:a="http://schemas.openxmlformats.org/drawingml/2006/main" cx="10820400" cy="3429000"/>
        </p:xfrm>
        <a:graphic xmlns:a="http://schemas.openxmlformats.org/drawingml/2006/main">
          <a:graphicData uri="http://schemas.openxmlformats.org/drawingml/2006/table">
            <a:tbl>
              <a:tblPr/>
              <a:tblGrid>
                <a:gridCol w="3143250"/>
                <a:gridCol w="7677150"/>
              </a:tblGrid>
              <a:tr h="571500">
                <a:tc>
                  <a:txBody>
                    <a:bodyPr wrap="square" lIns="95250" tIns="95250" rIns="95250" bIns="95250">
                      <a:noAutofit/>
                    </a:bodyPr>
                    <a:lstStyle/>
                    <a:p>
                      <a:r>
                        <a:rPr sz="1800" b="1">
                          <a:solidFill>
                            <a:srgbClr val="162B46"/>
                          </a:solidFill>
                          <a:latin typeface="Arial"/>
                          <a:ea typeface="Arial"/>
                          <a:cs typeface="Arial"/>
                        </a:rPr>
                        <a:t>Item</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Current protocol</a:t>
                      </a:r>
                    </a:p>
                  </a:txBody>
                  <a:tcPr marL="91440" marR="91440" marT="45720" marB="45720" anchor="ctr">
                    <a:solidFill>
                      <a:srgbClr val="F0F5FB"/>
                    </a:solidFill>
                  </a:tcPr>
                </a:tc>
              </a:tr>
              <a:tr h="571500">
                <a:tc>
                  <a:txBody>
                    <a:bodyPr wrap="square" lIns="95250" tIns="95250" rIns="95250" bIns="95250">
                      <a:noAutofit/>
                    </a:bodyPr>
                    <a:lstStyle/>
                    <a:p>
                      <a:r>
                        <a:rPr sz="1800" b="0">
                          <a:solidFill>
                            <a:srgbClr val="162B46"/>
                          </a:solidFill>
                          <a:latin typeface="Arial"/>
                          <a:ea typeface="Arial"/>
                          <a:cs typeface="Arial"/>
                        </a:rPr>
                        <a:t>Data</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30,000 Taiwan records, default in the following month</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Repaired partition</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24,004 training / 5,996 holdout, no exact overlap</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Model input</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22 predictors, ID and SEX remain metadata</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Models and threshold</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Saved pipelines, default if p &gt; 0.50</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Validation</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5-fold CV with groups of identical predictors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31A8D76-0EAD-45EA-822F-2F173AE6148E}"/>
              </a:ext>
            </a:extLst>
          </p:cNvPr>
          <p:cNvSpPr>
            <a:spLocks xmlns:a="http://schemas.openxmlformats.org/drawingml/2006/main" noGrp="1"/>
          </p:cNvSpPr>
          <p:nvPr/>
        </p:nvSpPr>
        <p:spPr>
          <a:xfrm xmlns:a="http://schemas.openxmlformats.org/drawingml/2006/main">
            <a:off x="685800" y="59817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buNone/>
              <a:defRPr sz="1725" b="0">
                <a:solidFill>
                  <a:srgbClr val="536376"/>
                </a:solidFill>
                <a:latin typeface="Arial"/>
                <a:ea typeface="Arial"/>
                <a:cs typeface="Arial"/>
              </a:defRPr>
            </a:pPr>
            <a:r>
              <a:rPr sz="1725" b="0">
                <a:solidFill>
                  <a:srgbClr val="536376"/>
                </a:solidFill>
                <a:latin typeface="Arial"/>
                <a:ea typeface="Arial"/>
                <a:cs typeface="Arial"/>
              </a:rPr>
              <a:t>The holdout remains locked against model selection, tuning and recalibration.</a:t>
            </a:r>
          </a:p>
        </p:txBody>
      </p:sp>
    </p:spTree>
    <p:extLst>
      <p:ext uri="{BB962C8B-B14F-4D97-AF65-F5344CB8AC3E}">
        <p14:creationId xmlns:p14="http://schemas.microsoft.com/office/powerpoint/2010/main" val="7985704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7C4910-9695-42EF-8578-048F84F0FC41}"/>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Boosting ranks default risk better</a:t>
            </a:r>
          </a:p>
        </p:txBody>
      </p:sp>
      <p:sp>
        <p:nvSpPr>
          <p:cNvPr id="2" name="">
            <a:extLst xmlns:a="http://schemas.openxmlformats.org/drawingml/2006/main">
              <a:ext uri="{FF2B5EF4-FFF2-40B4-BE49-F238E27FC236}">
                <a16:creationId xmlns:a16="http://schemas.microsoft.com/office/drawing/2014/main" id="{14596383-3199-4014-9381-476664AA88EF}"/>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The ranking advantage has little effect on decisions at the 0.50 threshold</a:t>
            </a:r>
          </a:p>
        </p:txBody>
      </p:sp>
      <p:sp>
        <p:nvSpPr>
          <p:cNvPr id="3" name="">
            <a:extLst xmlns:a="http://schemas.openxmlformats.org/drawingml/2006/main">
              <a:ext uri="{FF2B5EF4-FFF2-40B4-BE49-F238E27FC236}">
                <a16:creationId xmlns:a16="http://schemas.microsoft.com/office/drawing/2014/main" id="{913BA594-6B06-4FF9-A32D-D75335EA81EA}"/>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October 2026</a:t>
            </a:r>
          </a:p>
        </p:txBody>
      </p:sp>
      <p:sp>
        <p:nvSpPr>
          <p:cNvPr id="4" name="">
            <a:extLst xmlns:a="http://schemas.openxmlformats.org/drawingml/2006/main">
              <a:ext uri="{FF2B5EF4-FFF2-40B4-BE49-F238E27FC236}">
                <a16:creationId xmlns:a16="http://schemas.microsoft.com/office/drawing/2014/main" id="{FCB6F143-F65B-4BC2-B0A7-D57CCED16BC0}"/>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03</a:t>
            </a:r>
          </a:p>
        </p:txBody>
      </p:sp>
      <p:graphicFrame>
        <p:nvGraphicFramePr>
          <p:cNvPr id="5" name="Chart">
            <a:extLst xmlns:a="http://schemas.openxmlformats.org/drawingml/2006/main">
              <a:ext uri="{FF2B5EF4-FFF2-40B4-BE49-F238E27FC236}">
                <a16:creationId xmlns:a16="http://schemas.microsoft.com/office/drawing/2014/main" id="{25CBEC44-A66C-43EF-9FA9-590E7A40CBDD}"/>
              </a:ext>
            </a:extLst>
          </p:cNvPr>
          <p:cNvGraphicFramePr/>
          <p:nvPr/>
        </p:nvGraphicFramePr>
        <p:xfrm>
          <a:off xmlns:a="http://schemas.openxmlformats.org/drawingml/2006/main" x="685800" y="2428875"/>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d25b0742b7c24fba"/>
          </a:graphicData>
        </a:graphic>
      </p:graphicFrame>
      <p:sp>
        <p:nvSpPr>
          <p:cNvPr id="6" name="">
            <a:extLst xmlns:a="http://schemas.openxmlformats.org/drawingml/2006/main">
              <a:ext uri="{FF2B5EF4-FFF2-40B4-BE49-F238E27FC236}">
                <a16:creationId xmlns:a16="http://schemas.microsoft.com/office/drawing/2014/main" id="{CF1BD525-CA69-4C12-98DB-9283A7A60FD4}"/>
              </a:ext>
            </a:extLst>
          </p:cNvPr>
          <p:cNvSpPr>
            <a:spLocks xmlns:a="http://schemas.openxmlformats.org/drawingml/2006/main" noGrp="1"/>
          </p:cNvSpPr>
          <p:nvPr/>
        </p:nvSpPr>
        <p:spPr>
          <a:xfrm xmlns:a="http://schemas.openxmlformats.org/drawingml/2006/main">
            <a:off x="8096250" y="2714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2B46"/>
                </a:solidFill>
                <a:latin typeface="Arial"/>
                <a:ea typeface="Arial"/>
                <a:cs typeface="Arial"/>
              </a:defRPr>
            </a:defPPr>
          </a:lstStyle>
          <a:p xmlns:a="http://schemas.openxmlformats.org/drawingml/2006/main">
            <a:pPr>
              <a:buNone/>
              <a:defRPr sz="2625" b="1">
                <a:solidFill>
                  <a:srgbClr val="162B46"/>
                </a:solidFill>
                <a:latin typeface="Arial"/>
                <a:ea typeface="Arial"/>
                <a:cs typeface="Arial"/>
              </a:defRPr>
            </a:pPr>
            <a:r>
              <a:rPr sz="2625" b="1">
                <a:solidFill>
                  <a:srgbClr val="162B46"/>
                </a:solidFill>
                <a:latin typeface="Arial"/>
                <a:ea typeface="Arial"/>
                <a:cs typeface="Arial"/>
              </a:rPr>
              <a:t>Accuracy ≈ 81.8%</a:t>
            </a:r>
          </a:p>
        </p:txBody>
      </p:sp>
      <p:sp>
        <p:nvSpPr>
          <p:cNvPr id="7" name="">
            <a:extLst xmlns:a="http://schemas.openxmlformats.org/drawingml/2006/main">
              <a:ext uri="{FF2B5EF4-FFF2-40B4-BE49-F238E27FC236}">
                <a16:creationId xmlns:a16="http://schemas.microsoft.com/office/drawing/2014/main" id="{D9214EE6-9A7E-452B-9068-681D8A18BB4B}"/>
              </a:ext>
            </a:extLst>
          </p:cNvPr>
          <p:cNvSpPr>
            <a:spLocks xmlns:a="http://schemas.openxmlformats.org/drawingml/2006/main" noGrp="1"/>
          </p:cNvSpPr>
          <p:nvPr/>
        </p:nvSpPr>
        <p:spPr>
          <a:xfrm xmlns:a="http://schemas.openxmlformats.org/drawingml/2006/main">
            <a:off x="8096250" y="3810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2B46"/>
                </a:solidFill>
                <a:latin typeface="Arial"/>
                <a:ea typeface="Arial"/>
                <a:cs typeface="Arial"/>
              </a:defRPr>
            </a:defPPr>
          </a:lstStyle>
          <a:p xmlns:a="http://schemas.openxmlformats.org/drawingml/2006/main">
            <a:pPr>
              <a:buNone/>
              <a:defRPr sz="2625" b="1">
                <a:solidFill>
                  <a:srgbClr val="162B46"/>
                </a:solidFill>
                <a:latin typeface="Arial"/>
                <a:ea typeface="Arial"/>
                <a:cs typeface="Arial"/>
              </a:defRPr>
            </a:pPr>
            <a:r>
              <a:rPr sz="2625" b="1">
                <a:solidFill>
                  <a:srgbClr val="162B46"/>
                </a:solidFill>
                <a:latin typeface="Arial"/>
                <a:ea typeface="Arial"/>
                <a:cs typeface="Arial"/>
              </a:rPr>
              <a:t>Default recall ≈ 35%</a:t>
            </a:r>
          </a:p>
        </p:txBody>
      </p:sp>
      <p:sp>
        <p:nvSpPr>
          <p:cNvPr id="8" name="">
            <a:extLst xmlns:a="http://schemas.openxmlformats.org/drawingml/2006/main">
              <a:ext uri="{FF2B5EF4-FFF2-40B4-BE49-F238E27FC236}">
                <a16:creationId xmlns:a16="http://schemas.microsoft.com/office/drawing/2014/main" id="{0AE56484-3A87-4736-9916-F61E694D66A4}"/>
              </a:ext>
            </a:extLst>
          </p:cNvPr>
          <p:cNvSpPr>
            <a:spLocks xmlns:a="http://schemas.openxmlformats.org/drawingml/2006/main" noGrp="1"/>
          </p:cNvSpPr>
          <p:nvPr/>
        </p:nvSpPr>
        <p:spPr>
          <a:xfrm xmlns:a="http://schemas.openxmlformats.org/drawingml/2006/main">
            <a:off x="8096250" y="46863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About 65% of observed defaults</a:t>
            </a:r>
          </a:p>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remain undetected.</a:t>
            </a:r>
          </a:p>
        </p:txBody>
      </p:sp>
      <p:sp>
        <p:nvSpPr>
          <p:cNvPr id="9" name="">
            <a:extLst xmlns:a="http://schemas.openxmlformats.org/drawingml/2006/main">
              <a:ext uri="{FF2B5EF4-FFF2-40B4-BE49-F238E27FC236}">
                <a16:creationId xmlns:a16="http://schemas.microsoft.com/office/drawing/2014/main" id="{F09B5972-0350-4A69-B5B7-C6ED2728CBC4}"/>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376"/>
                </a:solidFill>
                <a:latin typeface="Arial"/>
                <a:ea typeface="Arial"/>
                <a:cs typeface="Arial"/>
              </a:defRPr>
            </a:defPPr>
          </a:lstStyle>
          <a:p xmlns:a="http://schemas.openxmlformats.org/drawingml/2006/main">
            <a:pPr>
              <a:buNone/>
              <a:defRPr sz="1650" b="0">
                <a:solidFill>
                  <a:srgbClr val="536376"/>
                </a:solidFill>
                <a:latin typeface="Arial"/>
                <a:ea typeface="Arial"/>
                <a:cs typeface="Arial"/>
              </a:defRPr>
            </a:pPr>
            <a:r>
              <a:rPr sz="1650" b="0">
                <a:solidFill>
                  <a:srgbClr val="536376"/>
                </a:solidFill>
                <a:latin typeface="Arial"/>
                <a:ea typeface="Arial"/>
                <a:cs typeface="Arial"/>
              </a:rPr>
              <a:t>Holdout point estimates. Intervals and calibration diagnostics are available in the explorer.</a:t>
            </a:r>
          </a:p>
        </p:txBody>
      </p:sp>
    </p:spTree>
    <p:extLst>
      <p:ext uri="{BB962C8B-B14F-4D97-AF65-F5344CB8AC3E}">
        <p14:creationId xmlns:p14="http://schemas.microsoft.com/office/powerpoint/2010/main" val="31923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BA5AE8-D4A1-4FB5-96C6-4A99D69F4C25}"/>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Fairness depends on the metric</a:t>
            </a:r>
          </a:p>
        </p:txBody>
      </p:sp>
      <p:sp>
        <p:nvSpPr>
          <p:cNvPr id="2" name="">
            <a:extLst xmlns:a="http://schemas.openxmlformats.org/drawingml/2006/main">
              <a:ext uri="{FF2B5EF4-FFF2-40B4-BE49-F238E27FC236}">
                <a16:creationId xmlns:a16="http://schemas.microsoft.com/office/drawing/2014/main" id="{E70637A4-D851-48FE-90AA-AFD33E4CCE94}"/>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Ranking gaps and error-rate gaps address different questions</a:t>
            </a:r>
          </a:p>
        </p:txBody>
      </p:sp>
      <p:sp>
        <p:nvSpPr>
          <p:cNvPr id="3" name="">
            <a:extLst xmlns:a="http://schemas.openxmlformats.org/drawingml/2006/main">
              <a:ext uri="{FF2B5EF4-FFF2-40B4-BE49-F238E27FC236}">
                <a16:creationId xmlns:a16="http://schemas.microsoft.com/office/drawing/2014/main" id="{CE16CC51-FF35-4BDE-91F3-BCCB6BE668B8}"/>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October 2026</a:t>
            </a:r>
          </a:p>
        </p:txBody>
      </p:sp>
      <p:sp>
        <p:nvSpPr>
          <p:cNvPr id="4" name="">
            <a:extLst xmlns:a="http://schemas.openxmlformats.org/drawingml/2006/main">
              <a:ext uri="{FF2B5EF4-FFF2-40B4-BE49-F238E27FC236}">
                <a16:creationId xmlns:a16="http://schemas.microsoft.com/office/drawing/2014/main" id="{DF3AD15C-AC7F-450E-AF40-E667CACB073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5EB32313-D06A-452E-9923-A78B5598857E}"/>
              </a:ext>
            </a:extLst>
          </p:cNvPr>
          <p:cNvGraphicFramePr/>
          <p:nvPr/>
        </p:nvGraphicFramePr>
        <p:xfrm>
          <a:off xmlns:a="http://schemas.openxmlformats.org/drawingml/2006/main" x="685800" y="2552700"/>
          <a:ext xmlns:a="http://schemas.openxmlformats.org/drawingml/2006/main" cx="10820400" cy="2333625"/>
        </p:xfrm>
        <a:graphic xmlns:a="http://schemas.openxmlformats.org/drawingml/2006/main">
          <a:graphicData uri="http://schemas.openxmlformats.org/drawingml/2006/table">
            <a:tbl>
              <a:tblPr/>
              <a:tblGrid>
                <a:gridCol w="5676900"/>
                <a:gridCol w="2571750"/>
                <a:gridCol w="2571750"/>
              </a:tblGrid>
              <a:tr h="583406">
                <a:tc>
                  <a:txBody>
                    <a:bodyPr wrap="square" lIns="95250" tIns="95250" rIns="95250" bIns="95250">
                      <a:noAutofit/>
                    </a:bodyPr>
                    <a:lstStyle/>
                    <a:p>
                      <a:r>
                        <a:rPr sz="1875" b="1">
                          <a:solidFill>
                            <a:srgbClr val="162B46"/>
                          </a:solidFill>
                          <a:latin typeface="Arial"/>
                          <a:ea typeface="Arial"/>
                          <a:cs typeface="Arial"/>
                        </a:rPr>
                        <a:t>Measure</a:t>
                      </a:r>
                    </a:p>
                  </a:txBody>
                  <a:tcPr marL="91440" marR="91440" marT="45720" marB="45720" anchor="ctr">
                    <a:solidFill>
                      <a:srgbClr val="F0F5FB"/>
                    </a:solidFill>
                  </a:tcPr>
                </a:tc>
                <a:tc>
                  <a:txBody>
                    <a:bodyPr wrap="square" lIns="95250" tIns="95250" rIns="95250" bIns="95250">
                      <a:noAutofit/>
                    </a:bodyPr>
                    <a:lstStyle/>
                    <a:p>
                      <a:r>
                        <a:rPr sz="1875" b="1">
                          <a:solidFill>
                            <a:srgbClr val="162B46"/>
                          </a:solidFill>
                          <a:latin typeface="Arial"/>
                          <a:ea typeface="Arial"/>
                          <a:cs typeface="Arial"/>
                        </a:rPr>
                        <a:t>Logistic</a:t>
                      </a:r>
                    </a:p>
                  </a:txBody>
                  <a:tcPr marL="91440" marR="91440" marT="45720" marB="45720" anchor="ctr">
                    <a:solidFill>
                      <a:srgbClr val="F0F5FB"/>
                    </a:solidFill>
                  </a:tcPr>
                </a:tc>
                <a:tc>
                  <a:txBody>
                    <a:bodyPr wrap="square" lIns="95250" tIns="95250" rIns="95250" bIns="95250">
                      <a:noAutofit/>
                    </a:bodyPr>
                    <a:lstStyle/>
                    <a:p>
                      <a:r>
                        <a:rPr sz="1875" b="1">
                          <a:solidFill>
                            <a:srgbClr val="162B46"/>
                          </a:solidFill>
                          <a:latin typeface="Arial"/>
                          <a:ea typeface="Arial"/>
                          <a:cs typeface="Arial"/>
                        </a:rPr>
                        <a:t>Boosting</a:t>
                      </a:r>
                    </a:p>
                  </a:txBody>
                  <a:tcPr marL="91440" marR="91440" marT="45720" marB="45720" anchor="ctr">
                    <a:solidFill>
                      <a:srgbClr val="F0F5FB"/>
                    </a:solidFill>
                  </a:tcPr>
                </a:tc>
              </a:tr>
              <a:tr h="583406">
                <a:tc>
                  <a:txBody>
                    <a:bodyPr wrap="square" lIns="95250" tIns="95250" rIns="95250" bIns="95250">
                      <a:noAutofit/>
                    </a:bodyPr>
                    <a:lstStyle/>
                    <a:p>
                      <a:r>
                        <a:rPr sz="1875" b="0">
                          <a:solidFill>
                            <a:srgbClr val="162B46"/>
                          </a:solidFill>
                          <a:latin typeface="Arial"/>
                          <a:ea typeface="Arial"/>
                          <a:cs typeface="Arial"/>
                        </a:rPr>
                        <a:t>Recall: female minus male</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2.32 pp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3.35 pp</a:t>
                      </a:r>
                    </a:p>
                  </a:txBody>
                  <a:tcPr marL="91440" marR="91440" marT="45720" marB="45720" anchor="ctr">
                    <a:solidFill>
                      <a:srgbClr val="FFFFFF"/>
                    </a:solidFill>
                  </a:tcPr>
                </a:tc>
              </a:tr>
              <a:tr h="583406">
                <a:tc>
                  <a:txBody>
                    <a:bodyPr wrap="square" lIns="95250" tIns="95250" rIns="95250" bIns="95250">
                      <a:noAutofit/>
                    </a:bodyPr>
                    <a:lstStyle/>
                    <a:p>
                      <a:r>
                        <a:rPr sz="1875" b="0">
                          <a:solidFill>
                            <a:srgbClr val="162B46"/>
                          </a:solidFill>
                          <a:latin typeface="Arial"/>
                          <a:ea typeface="Arial"/>
                          <a:cs typeface="Arial"/>
                        </a:rPr>
                        <a:t>FPR: female minus male</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-0.50 pp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-0.66 pp</a:t>
                      </a:r>
                    </a:p>
                  </a:txBody>
                  <a:tcPr marL="91440" marR="91440" marT="45720" marB="45720" anchor="ctr">
                    <a:solidFill>
                      <a:srgbClr val="FFFFFF"/>
                    </a:solidFill>
                  </a:tcPr>
                </a:tc>
              </a:tr>
              <a:tr h="583406">
                <a:tc>
                  <a:txBody>
                    <a:bodyPr wrap="square" lIns="95250" tIns="95250" rIns="95250" bIns="95250">
                      <a:noAutofit/>
                    </a:bodyPr>
                    <a:lstStyle/>
                    <a:p>
                      <a:r>
                        <a:rPr sz="1875" b="0">
                          <a:solidFill>
                            <a:srgbClr val="162B46"/>
                          </a:solidFill>
                          <a:latin typeface="Arial"/>
                          <a:ea typeface="Arial"/>
                          <a:cs typeface="Arial"/>
                        </a:rPr>
                        <a:t>SAFE: absolute RGA gap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0.0079</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0.0065</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5096581-5164-4212-BB80-C7DD306C2185}"/>
              </a:ext>
            </a:extLst>
          </p:cNvPr>
          <p:cNvSpPr>
            <a:spLocks xmlns:a="http://schemas.openxmlformats.org/drawingml/2006/main" noGrp="1"/>
          </p:cNvSpPr>
          <p:nvPr/>
        </p:nvSpPr>
        <p:spPr>
          <a:xfrm xmlns:a="http://schemas.openxmlformats.org/drawingml/2006/main">
            <a:off x="685800" y="52863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B46"/>
                </a:solidFill>
                <a:latin typeface="Arial"/>
                <a:ea typeface="Arial"/>
                <a:cs typeface="Arial"/>
              </a:defRPr>
            </a:defPPr>
          </a:lstStyle>
          <a:p xmlns:a="http://schemas.openxmlformats.org/drawingml/2006/main">
            <a:pPr>
              <a:buNone/>
              <a:defRPr sz="2025" b="1">
                <a:solidFill>
                  <a:srgbClr val="162B46"/>
                </a:solidFill>
                <a:latin typeface="Arial"/>
                <a:ea typeface="Arial"/>
                <a:cs typeface="Arial"/>
              </a:defRPr>
            </a:pPr>
            <a:r>
              <a:rPr sz="2025" b="1">
                <a:solidFill>
                  <a:srgbClr val="162B46"/>
                </a:solidFill>
                <a:latin typeface="Arial"/>
                <a:ea typeface="Arial"/>
                <a:cs typeface="Arial"/>
              </a:rPr>
              <a:t>95% intervals for the primary signed gaps include zero.</a:t>
            </a:r>
          </a:p>
        </p:txBody>
      </p:sp>
      <p:sp>
        <p:nvSpPr>
          <p:cNvPr id="7" name="">
            <a:extLst xmlns:a="http://schemas.openxmlformats.org/drawingml/2006/main">
              <a:ext uri="{FF2B5EF4-FFF2-40B4-BE49-F238E27FC236}">
                <a16:creationId xmlns:a16="http://schemas.microsoft.com/office/drawing/2014/main" id="{D3E6E4DB-18E6-437E-B62A-18CD86BBEAA7}"/>
              </a:ext>
            </a:extLst>
          </p:cNvPr>
          <p:cNvSpPr>
            <a:spLocks xmlns:a="http://schemas.openxmlformats.org/drawingml/2006/main" noGrp="1"/>
          </p:cNvSpPr>
          <p:nvPr/>
        </p:nvSpPr>
        <p:spPr>
          <a:xfrm xmlns:a="http://schemas.openxmlformats.org/drawingml/2006/main">
            <a:off x="685800" y="58483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376"/>
                </a:solidFill>
                <a:latin typeface="Arial"/>
                <a:ea typeface="Arial"/>
                <a:cs typeface="Arial"/>
              </a:defRPr>
            </a:defPPr>
          </a:lstStyle>
          <a:p xmlns:a="http://schemas.openxmlformats.org/drawingml/2006/main">
            <a:pPr>
              <a:buNone/>
              <a:defRPr sz="1800" b="0">
                <a:solidFill>
                  <a:srgbClr val="536376"/>
                </a:solidFill>
                <a:latin typeface="Arial"/>
                <a:ea typeface="Arial"/>
                <a:cs typeface="Arial"/>
              </a:defRPr>
            </a:pPr>
            <a:r>
              <a:rPr sz="1800" b="0">
                <a:solidFill>
                  <a:srgbClr val="536376"/>
                </a:solidFill>
                <a:latin typeface="Arial"/>
                <a:ea typeface="Arial"/>
                <a:cs typeface="Arial"/>
              </a:rPr>
              <a:t>pp = percentage points. The results do not establish an overall fairness winner.</a:t>
            </a:r>
          </a:p>
        </p:txBody>
      </p:sp>
    </p:spTree>
    <p:extLst>
      <p:ext uri="{BB962C8B-B14F-4D97-AF65-F5344CB8AC3E}">
        <p14:creationId xmlns:p14="http://schemas.microsoft.com/office/powerpoint/2010/main" val="17278071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0FEA60-EA7A-46E6-A2A8-0F2387A1D27C}"/>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Shared leading predictors, different concentration</a:t>
            </a:r>
          </a:p>
        </p:txBody>
      </p:sp>
      <p:sp>
        <p:nvSpPr>
          <p:cNvPr id="2" name="">
            <a:extLst xmlns:a="http://schemas.openxmlformats.org/drawingml/2006/main">
              <a:ext uri="{FF2B5EF4-FFF2-40B4-BE49-F238E27FC236}">
                <a16:creationId xmlns:a16="http://schemas.microsoft.com/office/drawing/2014/main" id="{9981E4B7-6588-4506-8D50-421AAA6B2166}"/>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SHAP complements SAFE RGE with global and individual explanations</a:t>
            </a:r>
          </a:p>
        </p:txBody>
      </p:sp>
      <p:sp>
        <p:nvSpPr>
          <p:cNvPr id="3" name="">
            <a:extLst xmlns:a="http://schemas.openxmlformats.org/drawingml/2006/main">
              <a:ext uri="{FF2B5EF4-FFF2-40B4-BE49-F238E27FC236}">
                <a16:creationId xmlns:a16="http://schemas.microsoft.com/office/drawing/2014/main" id="{AF7E30B4-9E57-4DF9-9325-B22E9AD7D713}"/>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October 2026</a:t>
            </a:r>
          </a:p>
        </p:txBody>
      </p:sp>
      <p:sp>
        <p:nvSpPr>
          <p:cNvPr id="4" name="">
            <a:extLst xmlns:a="http://schemas.openxmlformats.org/drawingml/2006/main">
              <a:ext uri="{FF2B5EF4-FFF2-40B4-BE49-F238E27FC236}">
                <a16:creationId xmlns:a16="http://schemas.microsoft.com/office/drawing/2014/main" id="{0F6727C9-45B4-4607-BBB5-CA481DCCEFC1}"/>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FFB67323-369E-43F2-A2BD-C0365D2E9ACC}"/>
              </a:ext>
            </a:extLst>
          </p:cNvPr>
          <p:cNvGraphicFramePr/>
          <p:nvPr/>
        </p:nvGraphicFramePr>
        <p:xfrm>
          <a:off xmlns:a="http://schemas.openxmlformats.org/drawingml/2006/main" x="685800" y="2476500"/>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eec2d9c131704080"/>
          </a:graphicData>
        </a:graphic>
      </p:graphicFrame>
      <p:sp>
        <p:nvSpPr>
          <p:cNvPr id="6" name="">
            <a:extLst xmlns:a="http://schemas.openxmlformats.org/drawingml/2006/main">
              <a:ext uri="{FF2B5EF4-FFF2-40B4-BE49-F238E27FC236}">
                <a16:creationId xmlns:a16="http://schemas.microsoft.com/office/drawing/2014/main" id="{E4EF62C8-8D30-44A6-B46D-A3E8F6F11C69}"/>
              </a:ext>
            </a:extLst>
          </p:cNvPr>
          <p:cNvSpPr>
            <a:spLocks xmlns:a="http://schemas.openxmlformats.org/drawingml/2006/main" noGrp="1"/>
          </p:cNvSpPr>
          <p:nvPr/>
        </p:nvSpPr>
        <p:spPr>
          <a:xfrm xmlns:a="http://schemas.openxmlformats.org/drawingml/2006/main">
            <a:off x="8096250" y="27432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2B46"/>
                </a:solidFill>
                <a:latin typeface="Arial"/>
                <a:ea typeface="Arial"/>
                <a:cs typeface="Arial"/>
              </a:defRPr>
            </a:defPPr>
          </a:lstStyle>
          <a:p xmlns:a="http://schemas.openxmlformats.org/drawingml/2006/main">
            <a:pPr>
              <a:buNone/>
              <a:defRPr sz="2550" b="1">
                <a:solidFill>
                  <a:srgbClr val="162B46"/>
                </a:solidFill>
                <a:latin typeface="Arial"/>
                <a:ea typeface="Arial"/>
                <a:cs typeface="Arial"/>
              </a:defRPr>
            </a:pPr>
            <a:r>
              <a:rPr sz="2550" b="1">
                <a:solidFill>
                  <a:srgbClr val="162B46"/>
                </a:solidFill>
                <a:latin typeface="Arial"/>
                <a:ea typeface="Arial"/>
                <a:cs typeface="Arial"/>
              </a:rPr>
              <a:t>PAY_0 and LIMIT_BAL</a:t>
            </a:r>
          </a:p>
        </p:txBody>
      </p:sp>
      <p:sp>
        <p:nvSpPr>
          <p:cNvPr id="7" name="">
            <a:extLst xmlns:a="http://schemas.openxmlformats.org/drawingml/2006/main">
              <a:ext uri="{FF2B5EF4-FFF2-40B4-BE49-F238E27FC236}">
                <a16:creationId xmlns:a16="http://schemas.microsoft.com/office/drawing/2014/main" id="{0A28868D-EAB0-4D52-999D-28A7D156F3DA}"/>
              </a:ext>
            </a:extLst>
          </p:cNvPr>
          <p:cNvSpPr>
            <a:spLocks xmlns:a="http://schemas.openxmlformats.org/drawingml/2006/main" noGrp="1"/>
          </p:cNvSpPr>
          <p:nvPr/>
        </p:nvSpPr>
        <p:spPr>
          <a:xfrm xmlns:a="http://schemas.openxmlformats.org/drawingml/2006/main">
            <a:off x="8096250" y="36195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376"/>
                </a:solidFill>
                <a:latin typeface="Arial"/>
                <a:ea typeface="Arial"/>
                <a:cs typeface="Arial"/>
              </a:defRPr>
            </a:defPPr>
          </a:lstStyle>
          <a:p xmlns:a="http://schemas.openxmlformats.org/drawingml/2006/main">
            <a:pPr>
              <a:buNone/>
              <a:defRPr sz="1950" b="0">
                <a:solidFill>
                  <a:srgbClr val="536376"/>
                </a:solidFill>
                <a:latin typeface="Arial"/>
                <a:ea typeface="Arial"/>
                <a:cs typeface="Arial"/>
              </a:defRPr>
            </a:pPr>
            <a:r>
              <a:rPr sz="1950" b="0">
                <a:solidFill>
                  <a:srgbClr val="536376"/>
                </a:solidFill>
                <a:latin typeface="Arial"/>
                <a:ea typeface="Arial"/>
                <a:cs typeface="Arial"/>
              </a:rPr>
              <a:t>lead both models</a:t>
            </a:r>
          </a:p>
        </p:txBody>
      </p:sp>
      <p:sp>
        <p:nvSpPr>
          <p:cNvPr id="8" name="">
            <a:extLst xmlns:a="http://schemas.openxmlformats.org/drawingml/2006/main">
              <a:ext uri="{FF2B5EF4-FFF2-40B4-BE49-F238E27FC236}">
                <a16:creationId xmlns:a16="http://schemas.microsoft.com/office/drawing/2014/main" id="{180A4CE4-8947-407B-BF35-42DD21394AFD}"/>
              </a:ext>
            </a:extLst>
          </p:cNvPr>
          <p:cNvSpPr>
            <a:spLocks xmlns:a="http://schemas.openxmlformats.org/drawingml/2006/main" noGrp="1"/>
          </p:cNvSpPr>
          <p:nvPr/>
        </p:nvSpPr>
        <p:spPr>
          <a:xfrm xmlns:a="http://schemas.openxmlformats.org/drawingml/2006/main">
            <a:off x="8096250" y="447675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SHAP / RGE rank correlation</a:t>
            </a:r>
          </a:p>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0.918 logistic / 0.927 boosting</a:t>
            </a:r>
          </a:p>
        </p:txBody>
      </p:sp>
      <p:sp>
        <p:nvSpPr>
          <p:cNvPr id="9" name="">
            <a:extLst xmlns:a="http://schemas.openxmlformats.org/drawingml/2006/main">
              <a:ext uri="{FF2B5EF4-FFF2-40B4-BE49-F238E27FC236}">
                <a16:creationId xmlns:a16="http://schemas.microsoft.com/office/drawing/2014/main" id="{D5D6AFC5-84F3-4B71-A5CC-95BDD7B0B6BD}"/>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buNone/>
              <a:defRPr sz="1725" b="0">
                <a:solidFill>
                  <a:srgbClr val="536376"/>
                </a:solidFill>
                <a:latin typeface="Arial"/>
                <a:ea typeface="Arial"/>
                <a:cs typeface="Arial"/>
              </a:defRPr>
            </a:pPr>
            <a:r>
              <a:rPr sz="1725" b="0">
                <a:solidFill>
                  <a:srgbClr val="536376"/>
                </a:solidFill>
                <a:latin typeface="Arial"/>
                <a:ea typeface="Arial"/>
                <a:cs typeface="Arial"/>
              </a:rPr>
              <a:t>SHAP contributions use log-odds and do not represent causal effects.</a:t>
            </a:r>
          </a:p>
        </p:txBody>
      </p:sp>
    </p:spTree>
    <p:extLst>
      <p:ext uri="{BB962C8B-B14F-4D97-AF65-F5344CB8AC3E}">
        <p14:creationId xmlns:p14="http://schemas.microsoft.com/office/powerpoint/2010/main" val="9372072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1909B4-3A35-469E-8E54-59F63A457458}"/>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Robustness depends on the stress scenario</a:t>
            </a:r>
          </a:p>
        </p:txBody>
      </p:sp>
      <p:sp>
        <p:nvSpPr>
          <p:cNvPr id="2" name="">
            <a:extLst xmlns:a="http://schemas.openxmlformats.org/drawingml/2006/main">
              <a:ext uri="{FF2B5EF4-FFF2-40B4-BE49-F238E27FC236}">
                <a16:creationId xmlns:a16="http://schemas.microsoft.com/office/drawing/2014/main" id="{3DD1B419-9F1A-4596-A535-82382BCEEC13}"/>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SAFE tail swaps and semantic corruptions have different exposure levels</a:t>
            </a:r>
          </a:p>
        </p:txBody>
      </p:sp>
      <p:sp>
        <p:nvSpPr>
          <p:cNvPr id="3" name="">
            <a:extLst xmlns:a="http://schemas.openxmlformats.org/drawingml/2006/main">
              <a:ext uri="{FF2B5EF4-FFF2-40B4-BE49-F238E27FC236}">
                <a16:creationId xmlns:a16="http://schemas.microsoft.com/office/drawing/2014/main" id="{FF7E47FD-15FA-4BD0-8FDC-90C7B9E5EDD8}"/>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October 2026</a:t>
            </a:r>
          </a:p>
        </p:txBody>
      </p:sp>
      <p:sp>
        <p:nvSpPr>
          <p:cNvPr id="4" name="">
            <a:extLst xmlns:a="http://schemas.openxmlformats.org/drawingml/2006/main">
              <a:ext uri="{FF2B5EF4-FFF2-40B4-BE49-F238E27FC236}">
                <a16:creationId xmlns:a16="http://schemas.microsoft.com/office/drawing/2014/main" id="{E10D03E8-8843-47F7-A59C-D92A58B60B5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EC8614F2-027D-438B-83AF-86EB245300AE}"/>
              </a:ext>
            </a:extLst>
          </p:cNvPr>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a:tblGrid>
                <a:gridCol w="2171700"/>
                <a:gridCol w="2143125"/>
                <a:gridCol w="1476375"/>
                <a:gridCol w="2619375"/>
                <a:gridCol w="2409825"/>
              </a:tblGrid>
              <a:tr h="571500">
                <a:tc>
                  <a:txBody>
                    <a:bodyPr wrap="square" lIns="95250" tIns="95250" rIns="95250" bIns="95250">
                      <a:noAutofit/>
                    </a:bodyPr>
                    <a:lstStyle/>
                    <a:p>
                      <a:r>
                        <a:rPr sz="1725" b="1">
                          <a:solidFill>
                            <a:srgbClr val="162B46"/>
                          </a:solidFill>
                          <a:latin typeface="Arial"/>
                          <a:ea typeface="Arial"/>
                          <a:cs typeface="Arial"/>
                        </a:rPr>
                        <a:t>Joint stress</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Model</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RGR</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Mean |Δp|</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Flag flips</a:t>
                      </a:r>
                    </a:p>
                  </a:txBody>
                  <a:tcPr marL="91440" marR="91440" marT="45720" marB="45720" anchor="ctr">
                    <a:solidFill>
                      <a:srgbClr val="F0F5FB"/>
                    </a:solidFill>
                  </a:tcPr>
                </a:tc>
              </a:tr>
              <a:tr h="571500">
                <a:tc>
                  <a:txBody>
                    <a:bodyPr wrap="square" lIns="95250" tIns="95250" rIns="95250" bIns="95250">
                      <a:noAutofit/>
                    </a:bodyPr>
                    <a:lstStyle/>
                    <a:p>
                      <a:r>
                        <a:rPr sz="1725" b="0">
                          <a:solidFill>
                            <a:srgbClr val="162B46"/>
                          </a:solidFill>
                          <a:latin typeface="Arial"/>
                          <a:ea typeface="Arial"/>
                          <a:cs typeface="Arial"/>
                        </a:rPr>
                        <a:t>SAFE p=0.05</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Logistic</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0.817</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8.80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11.44%</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SAFE p=0.05</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Gradient boosting</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0.827</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8.76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11.12%</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Semantic q=0.10</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Logistic</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N/A</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0.51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0.79%</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Semantic q=0.10</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Gradient boosting</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N/A</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0.83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1.30%</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6D9A8E3-72F2-434F-98AA-1CA27CEF38AA}"/>
              </a:ext>
            </a:extLst>
          </p:cNvPr>
          <p:cNvSpPr>
            <a:spLocks xmlns:a="http://schemas.openxmlformats.org/drawingml/2006/main" noGrp="1"/>
          </p:cNvSpPr>
          <p:nvPr/>
        </p:nvSpPr>
        <p:spPr>
          <a:xfrm xmlns:a="http://schemas.openxmlformats.org/drawingml/2006/main">
            <a:off x="685800" y="54959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2B46"/>
                </a:solidFill>
                <a:latin typeface="Arial"/>
                <a:ea typeface="Arial"/>
                <a:cs typeface="Arial"/>
              </a:defRPr>
            </a:defPPr>
          </a:lstStyle>
          <a:p xmlns:a="http://schemas.openxmlformats.org/drawingml/2006/main">
            <a:pPr>
              <a:buNone/>
              <a:defRPr sz="1875" b="1">
                <a:solidFill>
                  <a:srgbClr val="162B46"/>
                </a:solidFill>
                <a:latin typeface="Arial"/>
                <a:ea typeface="Arial"/>
                <a:cs typeface="Arial"/>
              </a:defRPr>
            </a:pPr>
            <a:r>
              <a:rPr sz="1875" b="1">
                <a:solidFill>
                  <a:srgbClr val="162B46"/>
                </a:solidFill>
                <a:latin typeface="Arial"/>
                <a:ea typeface="Arial"/>
                <a:cs typeface="Arial"/>
              </a:rPr>
              <a:t>Input exposure: approximately 65% SAFE / 10% semantic.</a:t>
            </a:r>
          </a:p>
        </p:txBody>
      </p:sp>
      <p:sp>
        <p:nvSpPr>
          <p:cNvPr id="7" name="">
            <a:extLst xmlns:a="http://schemas.openxmlformats.org/drawingml/2006/main">
              <a:ext uri="{FF2B5EF4-FFF2-40B4-BE49-F238E27FC236}">
                <a16:creationId xmlns:a16="http://schemas.microsoft.com/office/drawing/2014/main" id="{24121DAD-D2D7-431E-8623-DA71C030C162}"/>
              </a:ext>
            </a:extLst>
          </p:cNvPr>
          <p:cNvSpPr>
            <a:spLocks xmlns:a="http://schemas.openxmlformats.org/drawingml/2006/main" noGrp="1"/>
          </p:cNvSpPr>
          <p:nvPr/>
        </p:nvSpPr>
        <p:spPr>
          <a:xfrm xmlns:a="http://schemas.openxmlformats.org/drawingml/2006/main">
            <a:off x="685800" y="59340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buNone/>
              <a:defRPr sz="1725" b="0">
                <a:solidFill>
                  <a:srgbClr val="536376"/>
                </a:solidFill>
                <a:latin typeface="Arial"/>
                <a:ea typeface="Arial"/>
                <a:cs typeface="Arial"/>
              </a:defRPr>
            </a:pPr>
            <a:r>
              <a:rPr sz="1725" b="0">
                <a:solidFill>
                  <a:srgbClr val="536376"/>
                </a:solidFill>
                <a:latin typeface="Arial"/>
                <a:ea typeface="Arial"/>
                <a:cs typeface="Arial"/>
              </a:rPr>
              <a:t>Semantic: GBM − LR ≈ 0.32 pp, conditional 95% CI ≈ [0.30, 0.34] pp.</a:t>
            </a:r>
          </a:p>
        </p:txBody>
      </p:sp>
    </p:spTree>
    <p:extLst>
      <p:ext uri="{BB962C8B-B14F-4D97-AF65-F5344CB8AC3E}">
        <p14:creationId xmlns:p14="http://schemas.microsoft.com/office/powerpoint/2010/main" val="6412356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ED283F-A2A1-448A-8D4A-1AA31653E854}"/>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Broader framework proposal</a:t>
            </a:r>
          </a:p>
        </p:txBody>
      </p:sp>
      <p:sp>
        <p:nvSpPr>
          <p:cNvPr id="2" name="">
            <a:extLst xmlns:a="http://schemas.openxmlformats.org/drawingml/2006/main">
              <a:ext uri="{FF2B5EF4-FFF2-40B4-BE49-F238E27FC236}">
                <a16:creationId xmlns:a16="http://schemas.microsoft.com/office/drawing/2014/main" id="{A52AD777-A7B6-4B1A-9F43-C55FB7FD2EA6}"/>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Extending SAFE/KAIRI with complementary indicators and associated tests</a:t>
            </a:r>
          </a:p>
        </p:txBody>
      </p:sp>
      <p:sp>
        <p:nvSpPr>
          <p:cNvPr id="3" name="">
            <a:extLst xmlns:a="http://schemas.openxmlformats.org/drawingml/2006/main">
              <a:ext uri="{FF2B5EF4-FFF2-40B4-BE49-F238E27FC236}">
                <a16:creationId xmlns:a16="http://schemas.microsoft.com/office/drawing/2014/main" id="{1DFAE797-B4FF-4FFE-92D4-FCC3B4E6C21B}"/>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October 2026</a:t>
            </a:r>
          </a:p>
        </p:txBody>
      </p:sp>
      <p:sp>
        <p:nvSpPr>
          <p:cNvPr id="4" name="">
            <a:extLst xmlns:a="http://schemas.openxmlformats.org/drawingml/2006/main">
              <a:ext uri="{FF2B5EF4-FFF2-40B4-BE49-F238E27FC236}">
                <a16:creationId xmlns:a16="http://schemas.microsoft.com/office/drawing/2014/main" id="{78DB421E-27D9-4441-ABAF-DB4CD52AA621}"/>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DDD5C820-26DF-44D9-A469-7BBD2D48FE1C}"/>
              </a:ext>
            </a:extLst>
          </p:cNvPr>
          <p:cNvGraphicFramePr/>
          <p:nvPr/>
        </p:nvGraphicFramePr>
        <p:xfrm>
          <a:off xmlns:a="http://schemas.openxmlformats.org/drawingml/2006/main" x="685800" y="2381250"/>
          <a:ext xmlns:a="http://schemas.openxmlformats.org/drawingml/2006/main" cx="10820400" cy="3352800"/>
        </p:xfrm>
        <a:graphic xmlns:a="http://schemas.openxmlformats.org/drawingml/2006/main">
          <a:graphicData uri="http://schemas.openxmlformats.org/drawingml/2006/table">
            <a:tbl>
              <a:tblPr/>
              <a:tblGrid>
                <a:gridCol w="3524250"/>
                <a:gridCol w="7296150"/>
              </a:tblGrid>
              <a:tr h="558800">
                <a:tc>
                  <a:txBody>
                    <a:bodyPr wrap="square" lIns="95250" tIns="95250" rIns="95250" bIns="95250">
                      <a:noAutofit/>
                    </a:bodyPr>
                    <a:lstStyle/>
                    <a:p>
                      <a:r>
                        <a:rPr sz="1800" b="1">
                          <a:solidFill>
                            <a:srgbClr val="162B46"/>
                          </a:solidFill>
                          <a:latin typeface="Arial"/>
                          <a:ea typeface="Arial"/>
                          <a:cs typeface="Arial"/>
                        </a:rPr>
                        <a:t>Dimension</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Examples of proposed indicators</a:t>
                      </a:r>
                    </a:p>
                  </a:txBody>
                  <a:tcPr marL="91440" marR="91440" marT="45720" marB="45720" anchor="ctr">
                    <a:solidFill>
                      <a:srgbClr val="F0F5FB"/>
                    </a:solidFill>
                  </a:tcPr>
                </a:tc>
              </a:tr>
              <a:tr h="558800">
                <a:tc>
                  <a:txBody>
                    <a:bodyPr wrap="square" lIns="95250" tIns="95250" rIns="95250" bIns="95250">
                      <a:noAutofit/>
                    </a:bodyPr>
                    <a:lstStyle/>
                    <a:p>
                      <a:r>
                        <a:rPr sz="1800" b="0">
                          <a:solidFill>
                            <a:srgbClr val="162B46"/>
                          </a:solidFill>
                          <a:latin typeface="Arial"/>
                          <a:ea typeface="Arial"/>
                          <a:cs typeface="Arial"/>
                        </a:rPr>
                        <a:t>Accuracy</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Brier / log loss, Model Confidence Set</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Fairness</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Group rates and ratios, entropy / Theil</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Robustness</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Energy distance, MMD, adversarial robustness</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Explainability</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AOPC, fidelity / sensitivity, randomization</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Uncertainty and calibration</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Calibration error, aleatoric / epistemic, conformal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E61B5DC-4B0F-4B68-B642-10C492B30829}"/>
              </a:ext>
            </a:extLst>
          </p:cNvPr>
          <p:cNvSpPr>
            <a:spLocks xmlns:a="http://schemas.openxmlformats.org/drawingml/2006/main" noGrp="1"/>
          </p:cNvSpPr>
          <p:nvPr/>
        </p:nvSpPr>
        <p:spPr>
          <a:xfrm xmlns:a="http://schemas.openxmlformats.org/drawingml/2006/main">
            <a:off x="685800" y="58864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buNone/>
              <a:defRPr sz="1725" b="0">
                <a:solidFill>
                  <a:srgbClr val="536376"/>
                </a:solidFill>
                <a:latin typeface="Arial"/>
                <a:ea typeface="Arial"/>
                <a:cs typeface="Arial"/>
              </a:defRPr>
            </a:pPr>
            <a:r>
              <a:rPr sz="1725" b="0">
                <a:solidFill>
                  <a:srgbClr val="536376"/>
                </a:solidFill>
                <a:latin typeface="Arial"/>
                <a:ea typeface="Arial"/>
                <a:cs typeface="Arial"/>
              </a:rPr>
              <a:t>Cross-cutting bias and a proposed mapping to EU AI Act, NIST AI RMF and HLEG.</a:t>
            </a:r>
          </a:p>
        </p:txBody>
      </p:sp>
    </p:spTree>
    <p:extLst>
      <p:ext uri="{BB962C8B-B14F-4D97-AF65-F5344CB8AC3E}">
        <p14:creationId xmlns:p14="http://schemas.microsoft.com/office/powerpoint/2010/main" val="17085567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FA5B19C-279D-44F7-ADA8-B72379237789}"/>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Current coverage of the proposal</a:t>
            </a:r>
          </a:p>
        </p:txBody>
      </p:sp>
      <p:sp>
        <p:nvSpPr>
          <p:cNvPr id="2" name="">
            <a:extLst xmlns:a="http://schemas.openxmlformats.org/drawingml/2006/main">
              <a:ext uri="{FF2B5EF4-FFF2-40B4-BE49-F238E27FC236}">
                <a16:creationId xmlns:a16="http://schemas.microsoft.com/office/drawing/2014/main" id="{5A27FEF5-9E51-47C8-AB7B-340632167771}"/>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Completed metrics provide partial coverage of the proposed modules and tests</a:t>
            </a:r>
          </a:p>
        </p:txBody>
      </p:sp>
      <p:sp>
        <p:nvSpPr>
          <p:cNvPr id="3" name="">
            <a:extLst xmlns:a="http://schemas.openxmlformats.org/drawingml/2006/main">
              <a:ext uri="{FF2B5EF4-FFF2-40B4-BE49-F238E27FC236}">
                <a16:creationId xmlns:a16="http://schemas.microsoft.com/office/drawing/2014/main" id="{8F1559DD-3F7C-46FD-BAB5-DE9993506D90}"/>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October 2026</a:t>
            </a:r>
          </a:p>
        </p:txBody>
      </p:sp>
      <p:sp>
        <p:nvSpPr>
          <p:cNvPr id="4" name="">
            <a:extLst xmlns:a="http://schemas.openxmlformats.org/drawingml/2006/main">
              <a:ext uri="{FF2B5EF4-FFF2-40B4-BE49-F238E27FC236}">
                <a16:creationId xmlns:a16="http://schemas.microsoft.com/office/drawing/2014/main" id="{5BE9B2B3-2097-451A-89B7-F9ACB2E832C9}"/>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93F53433-4853-46FD-9BBF-9C06CD724710}"/>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2619375"/>
                <a:gridCol w="3686175"/>
                <a:gridCol w="4514850"/>
              </a:tblGrid>
              <a:tr h="611188">
                <a:tc>
                  <a:txBody>
                    <a:bodyPr wrap="square" lIns="95250" tIns="95250" rIns="95250" bIns="95250">
                      <a:noAutofit/>
                    </a:bodyPr>
                    <a:lstStyle/>
                    <a:p>
                      <a:r>
                        <a:rPr sz="1725" b="1">
                          <a:solidFill>
                            <a:srgbClr val="162B46"/>
                          </a:solidFill>
                          <a:latin typeface="Arial"/>
                          <a:ea typeface="Arial"/>
                          <a:cs typeface="Arial"/>
                        </a:rPr>
                        <a:t>Dimension</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Implemented</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Pending in the proposal</a:t>
                      </a:r>
                    </a:p>
                  </a:txBody>
                  <a:tcPr marL="91440" marR="91440" marT="45720" marB="45720" anchor="ctr">
                    <a:solidFill>
                      <a:srgbClr val="F0F5FB"/>
                    </a:solidFill>
                  </a:tcPr>
                </a:tc>
              </a:tr>
              <a:tr h="611188">
                <a:tc>
                  <a:txBody>
                    <a:bodyPr wrap="square" lIns="95250" tIns="95250" rIns="95250" bIns="95250">
                      <a:noAutofit/>
                    </a:bodyPr>
                    <a:lstStyle/>
                    <a:p>
                      <a:r>
                        <a:rPr sz="1725" b="0">
                          <a:solidFill>
                            <a:srgbClr val="162B46"/>
                          </a:solidFill>
                          <a:latin typeface="Arial"/>
                          <a:ea typeface="Arial"/>
                          <a:cs typeface="Arial"/>
                        </a:rPr>
                        <a:t>Accuracy</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Brier, log loss, AUC/AP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DM, DeLong, Model Confidence Set</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Fairness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Rates, gaps, ratios, bootstrap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z / permutation tests, entropy / Theil</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Robustness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RGR and semantic corruptions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Energy / MMD, adversarial tests</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Explainability</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SHAP, RGE, descriptive comparisons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AOPC, fidelity, randomization, KS</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Uncertainty / calibration</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ECE, curves, conditional intervals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Aleatoric / epistemic, conformal</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7833722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006A8C-16C4-44D7-9736-9BF086938791}"/>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Appendix: uncertainty and reproducibility</a:t>
            </a:r>
          </a:p>
        </p:txBody>
      </p:sp>
      <p:sp>
        <p:nvSpPr>
          <p:cNvPr id="2" name="">
            <a:extLst xmlns:a="http://schemas.openxmlformats.org/drawingml/2006/main">
              <a:ext uri="{FF2B5EF4-FFF2-40B4-BE49-F238E27FC236}">
                <a16:creationId xmlns:a16="http://schemas.microsoft.com/office/drawing/2014/main" id="{9DD46FF2-C8F2-4924-B679-FE10DB8197CD}"/>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Technical details for discussion</a:t>
            </a:r>
          </a:p>
        </p:txBody>
      </p:sp>
      <p:sp>
        <p:nvSpPr>
          <p:cNvPr id="3" name="">
            <a:extLst xmlns:a="http://schemas.openxmlformats.org/drawingml/2006/main">
              <a:ext uri="{FF2B5EF4-FFF2-40B4-BE49-F238E27FC236}">
                <a16:creationId xmlns:a16="http://schemas.microsoft.com/office/drawing/2014/main" id="{0F021000-1C51-4C6E-93C2-727493A89F9D}"/>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APPENDIX / Credit risk fairness · 9 October 2026</a:t>
            </a:r>
          </a:p>
        </p:txBody>
      </p:sp>
      <p:sp>
        <p:nvSpPr>
          <p:cNvPr id="4" name="">
            <a:extLst xmlns:a="http://schemas.openxmlformats.org/drawingml/2006/main">
              <a:ext uri="{FF2B5EF4-FFF2-40B4-BE49-F238E27FC236}">
                <a16:creationId xmlns:a16="http://schemas.microsoft.com/office/drawing/2014/main" id="{F0CE7B2F-BC69-4E96-A56B-7CC583821254}"/>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7F749419-5DB6-439C-BA31-4186C9E72878}"/>
              </a:ext>
            </a:extLst>
          </p:cNvPr>
          <p:cNvGraphicFramePr/>
          <p:nvPr/>
        </p:nvGraphicFramePr>
        <p:xfrm>
          <a:off xmlns:a="http://schemas.openxmlformats.org/drawingml/2006/main" x="685800" y="2381250"/>
          <a:ext xmlns:a="http://schemas.openxmlformats.org/drawingml/2006/main" cx="10820400" cy="3476625"/>
        </p:xfrm>
        <a:graphic xmlns:a="http://schemas.openxmlformats.org/drawingml/2006/main">
          <a:graphicData uri="http://schemas.openxmlformats.org/drawingml/2006/table">
            <a:tbl>
              <a:tblPr/>
              <a:tblGrid>
                <a:gridCol w="2905125"/>
                <a:gridCol w="7915275"/>
              </a:tblGrid>
              <a:tr h="579438">
                <a:tc>
                  <a:txBody>
                    <a:bodyPr wrap="square" lIns="95250" tIns="95250" rIns="95250" bIns="95250">
                      <a:noAutofit/>
                    </a:bodyPr>
                    <a:lstStyle/>
                    <a:p>
                      <a:r>
                        <a:rPr sz="1800" b="1">
                          <a:solidFill>
                            <a:srgbClr val="162B46"/>
                          </a:solidFill>
                          <a:latin typeface="Arial"/>
                          <a:ea typeface="Arial"/>
                          <a:cs typeface="Arial"/>
                        </a:rPr>
                        <a:t>Item</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Procedure</a:t>
                      </a:r>
                    </a:p>
                  </a:txBody>
                  <a:tcPr marL="91440" marR="91440" marT="45720" marB="45720" anchor="ctr">
                    <a:solidFill>
                      <a:srgbClr val="F0F5FB"/>
                    </a:solidFill>
                  </a:tcPr>
                </a:tc>
              </a:tr>
              <a:tr h="579438">
                <a:tc>
                  <a:txBody>
                    <a:bodyPr wrap="square" lIns="95250" tIns="95250" rIns="95250" bIns="95250">
                      <a:noAutofit/>
                    </a:bodyPr>
                    <a:lstStyle/>
                    <a:p>
                      <a:r>
                        <a:rPr sz="1800" b="0">
                          <a:solidFill>
                            <a:srgbClr val="162B46"/>
                          </a:solidFill>
                          <a:latin typeface="Arial"/>
                          <a:ea typeface="Arial"/>
                          <a:cs typeface="Arial"/>
                        </a:rPr>
                        <a:t>Sampling</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2,000 whole-group resamples, seed 42, percentile 95% CIs</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Paired comparison</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Shared records, corruptions and resamples across models</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Conditioning</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Frozen models, observed data, saved corruption realizations</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Monte Carlo</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 semantic repetitions, SD separate from sampling intervals</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Saved verification</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 tests, 24 CSVs and cache identical across two final runs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617072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9BCA83-BB5B-428F-92AD-0F89737700A4}"/>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buNone/>
              <a:defRPr sz="3300" b="1">
                <a:solidFill>
                  <a:srgbClr val="162B46"/>
                </a:solidFill>
                <a:latin typeface="Arial"/>
                <a:ea typeface="Arial"/>
                <a:cs typeface="Arial"/>
              </a:defRPr>
            </a:pPr>
            <a:r>
              <a:rPr sz="3300" b="1">
                <a:solidFill>
                  <a:srgbClr val="162B46"/>
                </a:solidFill>
                <a:latin typeface="Arial"/>
                <a:ea typeface="Arial"/>
                <a:cs typeface="Arial"/>
              </a:rPr>
              <a:t>Proposed indicators and tests</a:t>
            </a:r>
          </a:p>
        </p:txBody>
      </p:sp>
      <p:sp>
        <p:nvSpPr>
          <p:cNvPr id="2" name="">
            <a:extLst xmlns:a="http://schemas.openxmlformats.org/drawingml/2006/main">
              <a:ext uri="{FF2B5EF4-FFF2-40B4-BE49-F238E27FC236}">
                <a16:creationId xmlns:a16="http://schemas.microsoft.com/office/drawing/2014/main" id="{736EA797-A82F-485E-B24C-A0D78FA139CA}"/>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buNone/>
              <a:defRPr sz="1875" b="0">
                <a:solidFill>
                  <a:srgbClr val="536376"/>
                </a:solidFill>
                <a:latin typeface="Arial"/>
                <a:ea typeface="Arial"/>
                <a:cs typeface="Arial"/>
              </a:defRPr>
            </a:pPr>
            <a:r>
              <a:rPr sz="1875" b="0">
                <a:solidFill>
                  <a:srgbClr val="536376"/>
                </a:solidFill>
                <a:latin typeface="Arial"/>
                <a:ea typeface="Arial"/>
                <a:cs typeface="Arial"/>
              </a:rPr>
              <a:t>Partial coverage of indicators and their associated tests</a:t>
            </a:r>
          </a:p>
        </p:txBody>
      </p:sp>
      <p:sp>
        <p:nvSpPr>
          <p:cNvPr id="3" name="">
            <a:extLst xmlns:a="http://schemas.openxmlformats.org/drawingml/2006/main">
              <a:ext uri="{FF2B5EF4-FFF2-40B4-BE49-F238E27FC236}">
                <a16:creationId xmlns:a16="http://schemas.microsoft.com/office/drawing/2014/main" id="{7366096E-F324-4F89-8364-704B2F5C55ED}"/>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APPENDIX / Credit risk fairness · 9 October 2026</a:t>
            </a:r>
          </a:p>
        </p:txBody>
      </p:sp>
      <p:sp>
        <p:nvSpPr>
          <p:cNvPr id="4" name="">
            <a:extLst xmlns:a="http://schemas.openxmlformats.org/drawingml/2006/main">
              <a:ext uri="{FF2B5EF4-FFF2-40B4-BE49-F238E27FC236}">
                <a16:creationId xmlns:a16="http://schemas.microsoft.com/office/drawing/2014/main" id="{308D8318-ED95-4621-A619-5FEDEC4C0125}"/>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buNone/>
              <a:defRPr sz="1200" b="0">
                <a:solidFill>
                  <a:srgbClr val="536376"/>
                </a:solidFill>
                <a:latin typeface="Arial"/>
                <a:ea typeface="Arial"/>
                <a:cs typeface="Arial"/>
              </a:defRPr>
            </a:pPr>
            <a:r>
              <a:rPr sz="1200" b="0">
                <a:solidFill>
                  <a:srgbClr val="536376"/>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D8E995DC-06B2-476A-94DA-E64F41EF9DB7}"/>
              </a:ext>
            </a:extLst>
          </p:cNvPr>
          <p:cNvGraphicFramePr/>
          <p:nvPr/>
        </p:nvGraphicFramePr>
        <p:xfrm>
          <a:off xmlns:a="http://schemas.openxmlformats.org/drawingml/2006/main" x="685800" y="2381250"/>
          <a:ext xmlns:a="http://schemas.openxmlformats.org/drawingml/2006/main" cx="10820400" cy="3429000"/>
        </p:xfrm>
        <a:graphic xmlns:a="http://schemas.openxmlformats.org/drawingml/2006/main">
          <a:graphicData uri="http://schemas.openxmlformats.org/drawingml/2006/table">
            <a:tbl>
              <a:tblPr/>
              <a:tblGrid>
                <a:gridCol w="3667125"/>
                <a:gridCol w="7153275"/>
              </a:tblGrid>
              <a:tr h="571500">
                <a:tc>
                  <a:txBody>
                    <a:bodyPr wrap="square" lIns="95250" tIns="95250" rIns="95250" bIns="95250">
                      <a:noAutofit/>
                    </a:bodyPr>
                    <a:lstStyle/>
                    <a:p>
                      <a:r>
                        <a:rPr sz="1725" b="1">
                          <a:solidFill>
                            <a:srgbClr val="162B46"/>
                          </a:solidFill>
                          <a:latin typeface="Arial"/>
                          <a:ea typeface="Arial"/>
                          <a:cs typeface="Arial"/>
                        </a:rPr>
                        <a:t>Proposal item</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Current status</a:t>
                      </a:r>
                    </a:p>
                  </a:txBody>
                  <a:tcPr marL="91440" marR="91440" marT="45720" marB="45720" anchor="ctr">
                    <a:solidFill>
                      <a:srgbClr val="F0F5FB"/>
                    </a:solidFill>
                  </a:tcPr>
                </a:tc>
              </a:tr>
              <a:tr h="571500">
                <a:tc>
                  <a:txBody>
                    <a:bodyPr wrap="square" lIns="95250" tIns="95250" rIns="95250" bIns="95250">
                      <a:noAutofit/>
                    </a:bodyPr>
                    <a:lstStyle/>
                    <a:p>
                      <a:r>
                        <a:rPr sz="1725" b="0">
                          <a:solidFill>
                            <a:srgbClr val="162B46"/>
                          </a:solidFill>
                          <a:latin typeface="Arial"/>
                          <a:ea typeface="Arial"/>
                          <a:cs typeface="Arial"/>
                        </a:rPr>
                        <a:t>Brier and log loss + DM</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Scores calculated, no Diebold–Mariano test</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Group rates / gaps + tests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Estimates and bootstrap CIs, no z / permutation tests</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Mean calibration + t-test</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Mean p versus event rate, descriptive, no t-test</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Group SHAP + KS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Descriptive comparisons, no formal KS / Gini</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AOPC / conformal / MCS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Pending a separate protocol and professor feedback</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9625679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2026-10-09T06:53:11.0510000Z</dcterms:created>
  <dcterms:modified xsi:type="dcterms:W3CDTF">2026-10-09T06:53:11.0510000Z</dcterms:modified>
</coreProperties>
</file>