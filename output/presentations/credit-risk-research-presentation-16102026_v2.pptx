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charts/chart1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rts/chart2.xml" ContentType="application/vnd.openxmlformats-officedocument.drawingml.chart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3"/>
  </p:notesMasterIdLst>
  <p:sldIdLst>
    <p:sldId id="277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8" r:id="rId19"/>
    <p:sldId id="272" r:id="rId20"/>
    <p:sldId id="273" r:id="rId21"/>
    <p:sldId id="276" r:id="rId2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9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v>Ideal agreement</c:v>
          </c:tx>
          <c:spPr>
            <a:ln w="19050">
              <a:solidFill>
                <a:srgbClr val="CDDBE2"/>
              </a:solidFill>
            </a:ln>
          </c:spPr>
          <c:marker>
            <c:symbol val="none"/>
          </c:marker>
          <c:xVal>
            <c:numRef>
              <c:f>'Chart Data'!$A$2:$A$3</c:f>
              <c:numCache>
                <c:formatCode>General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xVal>
          <c:yVal>
            <c:numRef>
              <c:f>'Chart Data'!$B$2:$B$3</c:f>
              <c:numCache>
                <c:formatCode>0%</c:formatCode>
                <c:ptCount val="2"/>
                <c:pt idx="0">
                  <c:v>0</c:v>
                </c:pt>
                <c:pt idx="1">
                  <c:v>1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0-6F35-46AD-9789-BD4CD467A4F4}"/>
            </c:ext>
          </c:extLst>
        </c:ser>
        <c:ser>
          <c:idx val="1"/>
          <c:order val="1"/>
          <c:tx>
            <c:v>Toy group</c:v>
          </c:tx>
          <c:spPr>
            <a:ln w="0">
              <a:solidFill>
                <a:srgbClr val="007F83"/>
              </a:solidFill>
            </a:ln>
          </c:spPr>
          <c:marker>
            <c:symbol val="circle"/>
            <c:size val="13"/>
            <c:spPr>
              <a:solidFill>
                <a:srgbClr val="007F83"/>
              </a:solidFill>
            </c:spPr>
          </c:marker>
          <c:xVal>
            <c:numRef>
              <c:f>'Chart Data'!$C$2:$C$2</c:f>
              <c:numCache>
                <c:formatCode>General</c:formatCode>
                <c:ptCount val="1"/>
                <c:pt idx="0">
                  <c:v>0.2</c:v>
                </c:pt>
              </c:numCache>
            </c:numRef>
          </c:xVal>
          <c:yVal>
            <c:numRef>
              <c:f>'Chart Data'!$D$2:$D$2</c:f>
              <c:numCache>
                <c:formatCode>0%</c:formatCode>
                <c:ptCount val="1"/>
                <c:pt idx="0">
                  <c:v>0.4</c:v>
                </c:pt>
              </c:numCache>
            </c:numRef>
          </c:yVal>
          <c:smooth val="1"/>
          <c:extLst>
            <c:ext xmlns:c16="http://schemas.microsoft.com/office/drawing/2014/chart" uri="{C3380CC4-5D6E-409C-BE32-E72D297353CC}">
              <c16:uniqueId val="{00000001-6F35-46AD-9789-BD4CD467A4F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axId val="48650112"/>
        <c:axId val="48672768"/>
      </c:scatterChart>
      <c:valAx>
        <c:axId val="48672768"/>
        <c:scaling>
          <c:orientation val="minMax"/>
          <c:max val="1"/>
          <c:min val="0"/>
        </c:scaling>
        <c:delete val="0"/>
        <c:axPos val="l"/>
        <c:majorGridlines>
          <c:spPr>
            <a:ln w="4763">
              <a:solidFill>
                <a:srgbClr val="CDDBE2"/>
              </a:solidFill>
            </a:ln>
          </c:spPr>
        </c:majorGridlines>
        <c:title>
          <c:tx>
            <c:rich>
              <a:bodyPr/>
              <a:lstStyle/>
              <a:p>
                <a:r>
                  <a:rPr lang="en-US">
                    <a:latin typeface="Arial"/>
                    <a:ea typeface="Arial"/>
                    <a:cs typeface="Arial"/>
                  </a:rPr>
                  <a:t>Observed default frequency</a:t>
                </a:r>
              </a:p>
            </c:rich>
          </c:tx>
          <c:overlay val="0"/>
        </c:title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midCat"/>
        <c:majorUnit val="0.2"/>
      </c:valAx>
      <c:valAx>
        <c:axId val="48650112"/>
        <c:scaling>
          <c:orientation val="minMax"/>
          <c:max val="1"/>
          <c:min val="0"/>
        </c:scaling>
        <c:delete val="0"/>
        <c:axPos val="b"/>
        <c:title>
          <c:tx>
            <c:rich>
              <a:bodyPr/>
              <a:lstStyle/>
              <a:p>
                <a:r>
                  <a:rPr lang="en-US">
                    <a:latin typeface="Arial"/>
                    <a:ea typeface="Arial"/>
                    <a:cs typeface="Arial"/>
                  </a:rPr>
                  <a:t>Predicted default risk</a:t>
                </a:r>
              </a:p>
            </c:rich>
          </c:tx>
          <c:overlay val="0"/>
        </c:title>
        <c:numFmt formatCode="General" sourceLinked="1"/>
        <c:majorTickMark val="none"/>
        <c:minorTickMark val="none"/>
        <c:tickLblPos val="nextTo"/>
        <c:spPr>
          <a:ln w="9525">
            <a:solidFill>
              <a:srgbClr val="51677B"/>
            </a:solidFill>
          </a:ln>
        </c:spPr>
        <c:txPr>
          <a:bodyPr anchorCtr="1"/>
          <a:lstStyle/>
          <a:p>
            <a:pPr>
              <a:defRPr sz="135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crossBetween val="midCat"/>
        <c:majorUnit val="0.2"/>
      </c:valAx>
      <c:spPr>
        <a:solidFill>
          <a:srgbClr val="FCFDFD"/>
        </a:solidFill>
      </c:spPr>
    </c:plotArea>
    <c:plotVisOnly val="1"/>
    <c:dispBlanksAs val="zero"/>
    <c:showDLblsOverMax val="1"/>
  </c:chart>
  <c:spPr>
    <a:solidFill>
      <a:srgbClr val="FCFDFD"/>
    </a:solidFill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v>Female</c:v>
          </c:tx>
          <c:spPr>
            <a:solidFill>
              <a:srgbClr val="007F83"/>
            </a:solidFill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>
                    <a:solidFill>
                      <a:srgbClr val="17324D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Data'!$A$2:$A$3</c:f>
              <c:strCache>
                <c:ptCount val="2"/>
                <c:pt idx="0">
                  <c:v>FPR</c:v>
                </c:pt>
                <c:pt idx="1">
                  <c:v>TPR</c:v>
                </c:pt>
              </c:strCache>
            </c:strRef>
          </c:cat>
          <c:val>
            <c:numRef>
              <c:f>'Chart Data'!$B$2:$B$3</c:f>
              <c:numCache>
                <c:formatCode>0%</c:formatCode>
                <c:ptCount val="2"/>
                <c:pt idx="0">
                  <c:v>0.1</c:v>
                </c:pt>
                <c:pt idx="1">
                  <c:v>0.4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335-4E95-9C6F-7A9077DFC638}"/>
            </c:ext>
          </c:extLst>
        </c:ser>
        <c:ser>
          <c:idx val="1"/>
          <c:order val="1"/>
          <c:tx>
            <c:v>Male</c:v>
          </c:tx>
          <c:spPr>
            <a:solidFill>
              <a:srgbClr val="53769B"/>
            </a:solidFill>
          </c:spPr>
          <c:invertIfNegative val="0"/>
          <c:dLbls>
            <c:numFmt formatCode="0%" sourceLinked="0"/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1575">
                    <a:solidFill>
                      <a:srgbClr val="17324D"/>
                    </a:solidFill>
                    <a:latin typeface="Arial"/>
                    <a:ea typeface="Arial"/>
                    <a:cs typeface="Arial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'Chart Data'!$C$2:$C$3</c:f>
              <c:strCache>
                <c:ptCount val="2"/>
                <c:pt idx="0">
                  <c:v>FPR</c:v>
                </c:pt>
                <c:pt idx="1">
                  <c:v>TPR</c:v>
                </c:pt>
              </c:strCache>
            </c:strRef>
          </c:cat>
          <c:val>
            <c:numRef>
              <c:f>'Chart Data'!$D$2:$D$3</c:f>
              <c:numCache>
                <c:formatCode>0%</c:formatCode>
                <c:ptCount val="2"/>
                <c:pt idx="0">
                  <c:v>0.15</c:v>
                </c:pt>
                <c:pt idx="1">
                  <c:v>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1335-4E95-9C6F-7A9077DFC638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90"/>
        <c:axId val="48650112"/>
        <c:axId val="48672768"/>
      </c:barChart>
      <c:catAx>
        <c:axId val="48650112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725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0.5"/>
          <c:min val="0"/>
        </c:scaling>
        <c:delete val="0"/>
        <c:axPos val="b"/>
        <c:majorGridlines>
          <c:spPr>
            <a:ln w="5715">
              <a:solidFill>
                <a:srgbClr val="CDDBE2"/>
              </a:solidFill>
            </a:ln>
          </c:spPr>
        </c:majorGridlines>
        <c:numFmt formatCode="0%" sourceLinked="1"/>
        <c:majorTickMark val="none"/>
        <c:minorTickMark val="none"/>
        <c:tickLblPos val="nextTo"/>
        <c:spPr>
          <a:ln w="9525">
            <a:solidFill>
              <a:srgbClr val="D4D4D4"/>
            </a:solidFill>
            <a:prstDash val="solid"/>
          </a:ln>
        </c:spPr>
        <c:txPr>
          <a:bodyPr anchorCtr="1"/>
          <a:lstStyle/>
          <a:p>
            <a:pPr>
              <a:defRPr sz="135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endParaRPr lang="en-US"/>
          </a:p>
        </c:txPr>
        <c:crossAx val="48650112"/>
        <c:crosses val="autoZero"/>
        <c:crossBetween val="between"/>
        <c:majorUnit val="0.1"/>
      </c:valAx>
      <c:spPr>
        <a:solidFill>
          <a:srgbClr val="FCFDFD"/>
        </a:solidFill>
      </c:spPr>
    </c:plotArea>
    <c:legend>
      <c:legendPos val="b"/>
      <c:overlay val="0"/>
      <c:txPr>
        <a:bodyPr anchorCtr="1"/>
        <a:lstStyle/>
        <a:p>
          <a:pPr>
            <a:defRPr sz="1500">
              <a:solidFill>
                <a:srgbClr val="51677B"/>
              </a:solidFill>
              <a:latin typeface="Arial"/>
              <a:ea typeface="Arial"/>
              <a:cs typeface="Arial"/>
            </a:defRPr>
          </a:pPr>
          <a:endParaRPr lang="en-US"/>
        </a:p>
      </c:txPr>
    </c:legend>
    <c:plotVisOnly val="1"/>
    <c:dispBlanksAs val="zero"/>
    <c:showDLblsOverMax val="1"/>
  </c:chart>
  <c:spPr>
    <a:solidFill>
      <a:srgbClr val="FCFDFD"/>
    </a:solidFill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ptos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18536023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BCA927EA-72B7-42B1-B1D0-2494212AEE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590800"/>
            <a:ext cx="9753600" cy="9906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Subtitle">
            <a:extLst>
              <a:ext uri="{FF2B5EF4-FFF2-40B4-BE49-F238E27FC236}">
                <a16:creationId xmlns:a16="http://schemas.microsoft.com/office/drawing/2014/main" id="{C7E8837F-DD0C-430E-B865-D17D5EA319B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28800" y="3771900"/>
            <a:ext cx="8534400" cy="762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ction title">
            <a:extLst>
              <a:ext uri="{FF2B5EF4-FFF2-40B4-BE49-F238E27FC236}">
                <a16:creationId xmlns:a16="http://schemas.microsoft.com/office/drawing/2014/main" id="{D2C141FB-3B0E-49BC-84BC-87C82E741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2857500"/>
            <a:ext cx="9753600" cy="11430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ctr">
            <a:normAutofit/>
          </a:bodyPr>
          <a:lstStyle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Bod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F0CC163D-ADD3-4174-A51C-5B938A5F95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Body">
            <a:extLst>
              <a:ext uri="{FF2B5EF4-FFF2-40B4-BE49-F238E27FC236}">
                <a16:creationId xmlns:a16="http://schemas.microsoft.com/office/drawing/2014/main" id="{5D14AB2F-600D-438D-B326-20AEE05F36F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108204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">
            <a:extLst>
              <a:ext uri="{FF2B5EF4-FFF2-40B4-BE49-F238E27FC236}">
                <a16:creationId xmlns:a16="http://schemas.microsoft.com/office/drawing/2014/main" id="{42F9622C-EF8D-42C5-8DED-1F536FDCCDA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E8998996-5183-4078-943A-2CE629F27F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  <p:sp>
        <p:nvSpPr>
          <p:cNvPr id="3" name="Right column">
            <a:extLst>
              <a:ext uri="{FF2B5EF4-FFF2-40B4-BE49-F238E27FC236}">
                <a16:creationId xmlns:a16="http://schemas.microsoft.com/office/drawing/2014/main" id="{31622380-44B0-4821-8A94-3C5897114CDE}"/>
              </a:ext>
            </a:extLst>
          </p:cNvPr>
          <p:cNvSpPr>
            <a:spLocks noGrp="1"/>
          </p:cNvSpPr>
          <p:nvPr>
            <p:ph type="body" idx="2"/>
          </p:nvPr>
        </p:nvSpPr>
        <p:spPr>
          <a:xfrm>
            <a:off x="64770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le and 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">
            <a:extLst>
              <a:ext uri="{FF2B5EF4-FFF2-40B4-BE49-F238E27FC236}">
                <a16:creationId xmlns:a16="http://schemas.microsoft.com/office/drawing/2014/main" id="{99AECDBE-A122-494D-A042-8B70B48673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5800" y="533400"/>
            <a:ext cx="10820400" cy="838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>
            <a:endParaRPr/>
          </a:p>
        </p:txBody>
      </p:sp>
      <p:sp>
        <p:nvSpPr>
          <p:cNvPr id="2" name="Left column">
            <a:extLst>
              <a:ext uri="{FF2B5EF4-FFF2-40B4-BE49-F238E27FC236}">
                <a16:creationId xmlns:a16="http://schemas.microsoft.com/office/drawing/2014/main" id="{871D40DC-ACF8-4ED6-BF6A-567460A04C6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5800" y="1905000"/>
            <a:ext cx="5029200" cy="4267200"/>
          </a:xfrm>
          <a:prstGeom prst="rect">
            <a:avLst/>
          </a:prstGeom>
          <a:noFill/>
          <a:ln>
            <a:noFill/>
            <a:prstDash val="solid"/>
          </a:ln>
        </p:spPr>
        <p:txBody>
          <a:bodyPr wrap="square" lIns="0" tIns="0" rIns="0" bIns="0" anchor="t">
            <a:normAutofit/>
          </a:bodyPr>
          <a:lstStyle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eswa.2023.121220" TargetMode="Externa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oi.org/10.1016/j.mlwa.2025.100821" TargetMode="External"/><Relationship Id="rId5" Type="http://schemas.openxmlformats.org/officeDocument/2006/relationships/hyperlink" Target="https://doi.org/10.3390/risks13090178" TargetMode="External"/><Relationship Id="rId4" Type="http://schemas.openxmlformats.org/officeDocument/2006/relationships/hyperlink" Target="https://doi.org/10.1016/j.eswa.2024.125239" TargetMode="Externa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doi.org/10.1016/j.eswa.2023.121220" TargetMode="External"/><Relationship Id="rId7" Type="http://schemas.openxmlformats.org/officeDocument/2006/relationships/hyperlink" Target="https://doi.org/10.1080/02331888.2024.2419420" TargetMode="Externa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6.xml"/><Relationship Id="rId6" Type="http://schemas.openxmlformats.org/officeDocument/2006/relationships/hyperlink" Target="https://doi.org/10.1016/j.mlwa.2025.100821" TargetMode="External"/><Relationship Id="rId5" Type="http://schemas.openxmlformats.org/officeDocument/2006/relationships/hyperlink" Target="https://doi.org/10.3390/risks13090178" TargetMode="External"/><Relationship Id="rId4" Type="http://schemas.openxmlformats.org/officeDocument/2006/relationships/hyperlink" Target="https://doi.org/10.1016/j.eswa.2024.125239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-0">
            <a:extLst>
              <a:ext uri="{FF2B5EF4-FFF2-40B4-BE49-F238E27FC236}">
                <a16:creationId xmlns:a16="http://schemas.microsoft.com/office/drawing/2014/main" id="{F61C2A9A-27DC-4628-88C0-6325D287EE5F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10668000" cy="22383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4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kumimoji="0" sz="4350" b="1" i="0" u="none" strike="noStrike" kern="1200" cap="none" spc="0" normalizeH="0" baseline="0" noProof="0">
                <a:ln>
                  <a:noFill/>
                </a:ln>
                <a:solidFill>
                  <a:srgbClr val="17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Evaluating SAFE-Based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kumimoji="0" sz="4350" b="1" i="0" u="none" strike="noStrike" kern="1200" cap="none" spc="0" normalizeH="0" baseline="0" noProof="0">
                <a:ln>
                  <a:noFill/>
                </a:ln>
                <a:solidFill>
                  <a:srgbClr val="17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Model Selection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43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kumimoji="0" sz="4350" b="1" i="0" u="none" strike="noStrike" kern="1200" cap="none" spc="0" normalizeH="0" baseline="0" noProof="0">
                <a:ln>
                  <a:noFill/>
                </a:ln>
                <a:solidFill>
                  <a:srgbClr val="17324D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in Credit Risk</a:t>
            </a:r>
          </a:p>
        </p:txBody>
      </p:sp>
      <p:sp>
        <p:nvSpPr>
          <p:cNvPr id="2" name="text-1">
            <a:extLst>
              <a:ext uri="{FF2B5EF4-FFF2-40B4-BE49-F238E27FC236}">
                <a16:creationId xmlns:a16="http://schemas.microsoft.com/office/drawing/2014/main" id="{B7158878-9B38-4218-AB5D-6C94DF57935A}"/>
              </a:ext>
            </a:extLst>
          </p:cNvPr>
          <p:cNvSpPr>
            <a:spLocks noGrp="1"/>
          </p:cNvSpPr>
          <p:nvPr/>
        </p:nvSpPr>
        <p:spPr>
          <a:xfrm>
            <a:off x="685800" y="657225"/>
            <a:ext cx="1057275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kumimoji="0" sz="1425" b="1" i="0" u="none" strike="noStrike" kern="1200" cap="none" spc="0" normalizeH="0" baseline="0" noProof="0" dirty="0">
                <a:ln>
                  <a:noFill/>
                </a:ln>
                <a:solidFill>
                  <a:srgbClr val="007F83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RESEARCH PROPOSAL</a:t>
            </a:r>
          </a:p>
        </p:txBody>
      </p:sp>
      <p:sp>
        <p:nvSpPr>
          <p:cNvPr id="3" name="text-2">
            <a:extLst>
              <a:ext uri="{FF2B5EF4-FFF2-40B4-BE49-F238E27FC236}">
                <a16:creationId xmlns:a16="http://schemas.microsoft.com/office/drawing/2014/main" id="{7CFABFF9-4527-487D-94FA-749DB3110632}"/>
              </a:ext>
            </a:extLst>
          </p:cNvPr>
          <p:cNvSpPr>
            <a:spLocks noGrp="1"/>
          </p:cNvSpPr>
          <p:nvPr/>
        </p:nvSpPr>
        <p:spPr>
          <a:xfrm>
            <a:off x="685800" y="4048125"/>
            <a:ext cx="10287000" cy="809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51677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Published SAFE, a future extension and an independent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21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kumimoji="0" sz="2175" b="0" i="0" u="none" strike="noStrike" kern="1200" cap="none" spc="0" normalizeH="0" baseline="0" noProof="0" dirty="0">
                <a:ln>
                  <a:noFill/>
                </a:ln>
                <a:solidFill>
                  <a:srgbClr val="51677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evaluation framework</a:t>
            </a:r>
          </a:p>
        </p:txBody>
      </p:sp>
      <p:sp>
        <p:nvSpPr>
          <p:cNvPr id="4" name="rule-3">
            <a:extLst>
              <a:ext uri="{FF2B5EF4-FFF2-40B4-BE49-F238E27FC236}">
                <a16:creationId xmlns:a16="http://schemas.microsoft.com/office/drawing/2014/main" id="{BC7C1385-66A8-4DFD-B784-3FB50EF1A5A2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4">
            <a:extLst>
              <a:ext uri="{FF2B5EF4-FFF2-40B4-BE49-F238E27FC236}">
                <a16:creationId xmlns:a16="http://schemas.microsoft.com/office/drawing/2014/main" id="{F24E812A-48DB-4E06-8EDC-69FF0211090C}"/>
              </a:ext>
            </a:extLst>
          </p:cNvPr>
          <p:cNvSpPr>
            <a:spLocks noGrp="1"/>
          </p:cNvSpPr>
          <p:nvPr/>
        </p:nvSpPr>
        <p:spPr>
          <a:xfrm>
            <a:off x="685800" y="5610225"/>
            <a:ext cx="57150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endParaRPr kumimoji="0" sz="1875" b="1" i="0" u="none" strike="noStrike" kern="1200" cap="none" spc="0" normalizeH="0" baseline="0" noProof="0" dirty="0">
              <a:ln>
                <a:noFill/>
              </a:ln>
              <a:solidFill>
                <a:srgbClr val="17324D"/>
              </a:solidFill>
              <a:effectLst/>
              <a:uLnTx/>
              <a:uFillTx/>
              <a:latin typeface="Arial"/>
              <a:ea typeface="Arial"/>
              <a:cs typeface="Arial"/>
            </a:endParaRPr>
          </a:p>
        </p:txBody>
      </p:sp>
      <p:sp>
        <p:nvSpPr>
          <p:cNvPr id="6" name="text-5">
            <a:extLst>
              <a:ext uri="{FF2B5EF4-FFF2-40B4-BE49-F238E27FC236}">
                <a16:creationId xmlns:a16="http://schemas.microsoft.com/office/drawing/2014/main" id="{8A1E12B2-C640-45C0-8745-4D1CF8C7FE73}"/>
              </a:ext>
            </a:extLst>
          </p:cNvPr>
          <p:cNvSpPr>
            <a:spLocks noGrp="1"/>
          </p:cNvSpPr>
          <p:nvPr/>
        </p:nvSpPr>
        <p:spPr>
          <a:xfrm>
            <a:off x="6858000" y="5610225"/>
            <a:ext cx="46482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8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8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kumimoji="0" sz="1875" b="0" i="0" u="none" strike="noStrike" kern="1200" cap="none" spc="0" normalizeH="0" baseline="0" noProof="0" dirty="0">
                <a:ln>
                  <a:noFill/>
                </a:ln>
                <a:solidFill>
                  <a:srgbClr val="51677B"/>
                </a:solidFill>
                <a:effectLst/>
                <a:uLnTx/>
                <a:uFillTx/>
                <a:latin typeface="Arial"/>
                <a:ea typeface="Arial"/>
                <a:cs typeface="Arial"/>
              </a:rPr>
              <a:t>16 October 2026</a:t>
            </a:r>
          </a:p>
        </p:txBody>
      </p:sp>
    </p:spTree>
    <p:extLst>
      <p:ext uri="{BB962C8B-B14F-4D97-AF65-F5344CB8AC3E}">
        <p14:creationId xmlns:p14="http://schemas.microsoft.com/office/powerpoint/2010/main" val="34173761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v2-shape-1000">
            <a:extLst>
              <a:ext uri="{FF2B5EF4-FFF2-40B4-BE49-F238E27FC236}">
                <a16:creationId xmlns:a16="http://schemas.microsoft.com/office/drawing/2014/main" id="{941B47A8-E79E-4305-ACEA-926708D3F681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33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From where did we start?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3BAA99E-83FA-461D-883E-A36BA95B3462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v2-shape-1002">
            <a:extLst>
              <a:ext uri="{FF2B5EF4-FFF2-40B4-BE49-F238E27FC236}">
                <a16:creationId xmlns:a16="http://schemas.microsoft.com/office/drawing/2014/main" id="{EBB386C3-2E86-41D7-9229-F525C2C06D80}"/>
              </a:ext>
            </a:extLst>
          </p:cNvPr>
          <p:cNvSpPr>
            <a:spLocks noGrp="1"/>
          </p:cNvSpPr>
          <p:nvPr/>
        </p:nvSpPr>
        <p:spPr>
          <a:xfrm>
            <a:off x="10382250" y="6486525"/>
            <a:ext cx="112395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01 / 16</a:t>
            </a:r>
          </a:p>
        </p:txBody>
      </p:sp>
      <p:sp>
        <p:nvSpPr>
          <p:cNvPr id="5" name="v2-shape-1003">
            <a:extLst>
              <a:ext uri="{FF2B5EF4-FFF2-40B4-BE49-F238E27FC236}">
                <a16:creationId xmlns:a16="http://schemas.microsoft.com/office/drawing/2014/main" id="{9227634F-B864-4C8C-B577-534841870425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OUR ORIGINAL RESEARCH DIRECTION</a:t>
            </a:r>
          </a:p>
        </p:txBody>
      </p:sp>
      <p:sp>
        <p:nvSpPr>
          <p:cNvPr id="6" name="v2-shape-1004">
            <a:extLst>
              <a:ext uri="{FF2B5EF4-FFF2-40B4-BE49-F238E27FC236}">
                <a16:creationId xmlns:a16="http://schemas.microsoft.com/office/drawing/2014/main" id="{F61B316F-EE99-4CE1-B362-C0DCFB7915A8}"/>
              </a:ext>
            </a:extLst>
          </p:cNvPr>
          <p:cNvSpPr>
            <a:spLocks noGrp="1"/>
          </p:cNvSpPr>
          <p:nvPr/>
        </p:nvSpPr>
        <p:spPr>
          <a:xfrm>
            <a:off x="685800" y="1885950"/>
            <a:ext cx="10820400" cy="11334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White-box versus black-box models</a:t>
            </a:r>
          </a:p>
          <a:p>
            <a:pPr algn="l">
              <a:defRPr sz="29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with our extended SAFE approach</a:t>
            </a:r>
          </a:p>
        </p:txBody>
      </p:sp>
      <p:sp>
        <p:nvSpPr>
          <p:cNvPr id="7" name="v2-shape-1005">
            <a:extLst>
              <a:ext uri="{FF2B5EF4-FFF2-40B4-BE49-F238E27FC236}">
                <a16:creationId xmlns:a16="http://schemas.microsoft.com/office/drawing/2014/main" id="{E56FC4AD-0E05-46BF-8C25-2A32FD2C265F}"/>
              </a:ext>
            </a:extLst>
          </p:cNvPr>
          <p:cNvSpPr>
            <a:spLocks noGrp="1"/>
          </p:cNvSpPr>
          <p:nvPr/>
        </p:nvSpPr>
        <p:spPr>
          <a:xfrm>
            <a:off x="685800" y="3362325"/>
            <a:ext cx="4905375" cy="1038225"/>
          </a:xfrm>
          <a:prstGeom prst="rect">
            <a:avLst/>
          </a:prstGeom>
          <a:solidFill>
            <a:srgbClr val="EAF3F3"/>
          </a:solidFill>
          <a:ln w="14288">
            <a:solidFill>
              <a:srgbClr val="007F83"/>
            </a:solidFill>
            <a:prstDash val="solid"/>
          </a:ln>
        </p:spPr>
        <p:txBody>
          <a:bodyPr wrap="square" lIns="114300" tIns="114300" rIns="114300" bIns="114300" anchor="ctr"/>
          <a:lstStyle>
            <a:defPPr algn="ctr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White-box example</a:t>
            </a:r>
          </a:p>
          <a:p>
            <a:pPr algn="ctr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Regularized Logistic Regression</a:t>
            </a:r>
          </a:p>
        </p:txBody>
      </p:sp>
      <p:sp>
        <p:nvSpPr>
          <p:cNvPr id="8" name="v2-shape-1006">
            <a:extLst>
              <a:ext uri="{FF2B5EF4-FFF2-40B4-BE49-F238E27FC236}">
                <a16:creationId xmlns:a16="http://schemas.microsoft.com/office/drawing/2014/main" id="{7C90C791-5C03-46E8-BC31-3DCEA92C513A}"/>
              </a:ext>
            </a:extLst>
          </p:cNvPr>
          <p:cNvSpPr>
            <a:spLocks noGrp="1"/>
          </p:cNvSpPr>
          <p:nvPr/>
        </p:nvSpPr>
        <p:spPr>
          <a:xfrm>
            <a:off x="6600825" y="3362325"/>
            <a:ext cx="4905375" cy="1038225"/>
          </a:xfrm>
          <a:prstGeom prst="rect">
            <a:avLst/>
          </a:prstGeom>
          <a:solidFill>
            <a:srgbClr val="EAF3F3"/>
          </a:solidFill>
          <a:ln w="14288">
            <a:solidFill>
              <a:srgbClr val="007F83"/>
            </a:solidFill>
            <a:prstDash val="solid"/>
          </a:ln>
        </p:spPr>
        <p:txBody>
          <a:bodyPr wrap="square" lIns="114300" tIns="114300" rIns="114300" bIns="114300" anchor="ctr"/>
          <a:lstStyle>
            <a:defPPr algn="ctr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Black-box example</a:t>
            </a:r>
          </a:p>
          <a:p>
            <a:pPr algn="ctr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Gradient Boosting</a:t>
            </a:r>
          </a:p>
        </p:txBody>
      </p:sp>
      <p:sp>
        <p:nvSpPr>
          <p:cNvPr id="9" name="v2-shape-1007">
            <a:extLst>
              <a:ext uri="{FF2B5EF4-FFF2-40B4-BE49-F238E27FC236}">
                <a16:creationId xmlns:a16="http://schemas.microsoft.com/office/drawing/2014/main" id="{1F6EE304-B11A-4AFE-95F3-CB345E644CD3}"/>
              </a:ext>
            </a:extLst>
          </p:cNvPr>
          <p:cNvSpPr>
            <a:spLocks noGrp="1"/>
          </p:cNvSpPr>
          <p:nvPr/>
        </p:nvSpPr>
        <p:spPr>
          <a:xfrm>
            <a:off x="685800" y="4810125"/>
            <a:ext cx="10820400" cy="4476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Implemented on Taiwan credit-card default data</a:t>
            </a:r>
          </a:p>
        </p:txBody>
      </p:sp>
      <p:sp>
        <p:nvSpPr>
          <p:cNvPr id="10" name="v2-shape-1008">
            <a:extLst>
              <a:ext uri="{FF2B5EF4-FFF2-40B4-BE49-F238E27FC236}">
                <a16:creationId xmlns:a16="http://schemas.microsoft.com/office/drawing/2014/main" id="{EA333372-EAB6-46EF-85B6-7D9CA8F88AE0}"/>
              </a:ext>
            </a:extLst>
          </p:cNvPr>
          <p:cNvSpPr>
            <a:spLocks noGrp="1"/>
          </p:cNvSpPr>
          <p:nvPr/>
        </p:nvSpPr>
        <p:spPr>
          <a:xfrm>
            <a:off x="685800" y="5334000"/>
            <a:ext cx="108204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About 30,000 records and 22 main inputs. SEX retained for subgroup assessment.</a:t>
            </a:r>
          </a:p>
        </p:txBody>
      </p:sp>
      <p:sp>
        <p:nvSpPr>
          <p:cNvPr id="11" name="v2-shape-1009">
            <a:extLst>
              <a:ext uri="{FF2B5EF4-FFF2-40B4-BE49-F238E27FC236}">
                <a16:creationId xmlns:a16="http://schemas.microsoft.com/office/drawing/2014/main" id="{3E4436FB-B98D-4695-A688-69AC26E65B80}"/>
              </a:ext>
            </a:extLst>
          </p:cNvPr>
          <p:cNvSpPr>
            <a:spLocks noGrp="1"/>
          </p:cNvSpPr>
          <p:nvPr/>
        </p:nvSpPr>
        <p:spPr>
          <a:xfrm>
            <a:off x="685800" y="5848350"/>
            <a:ext cx="108204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Completed assessment: performance, fairness, explainability and robustness</a:t>
            </a:r>
          </a:p>
        </p:txBody>
      </p:sp>
    </p:spTree>
    <p:extLst>
      <p:ext uri="{BB962C8B-B14F-4D97-AF65-F5344CB8AC3E}">
        <p14:creationId xmlns:p14="http://schemas.microsoft.com/office/powerpoint/2010/main" val="13853320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2-shape-1010">
            <a:extLst>
              <a:ext uri="{FF2B5EF4-FFF2-40B4-BE49-F238E27FC236}">
                <a16:creationId xmlns:a16="http://schemas.microsoft.com/office/drawing/2014/main" id="{36424400-D9F3-4022-91F3-1382DF14F0A5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33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How the research direction changed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7E217F82-E0F3-45ED-9EDE-B1D3B0E7810D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v2-shape-1012">
            <a:extLst>
              <a:ext uri="{FF2B5EF4-FFF2-40B4-BE49-F238E27FC236}">
                <a16:creationId xmlns:a16="http://schemas.microsoft.com/office/drawing/2014/main" id="{45608AAD-09D7-4869-9B49-A5D5DC159751}"/>
              </a:ext>
            </a:extLst>
          </p:cNvPr>
          <p:cNvSpPr>
            <a:spLocks noGrp="1"/>
          </p:cNvSpPr>
          <p:nvPr/>
        </p:nvSpPr>
        <p:spPr>
          <a:xfrm>
            <a:off x="10382250" y="6486525"/>
            <a:ext cx="112395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02 / 16</a:t>
            </a:r>
          </a:p>
        </p:txBody>
      </p:sp>
      <p:sp>
        <p:nvSpPr>
          <p:cNvPr id="5" name="v2-shape-1013">
            <a:extLst>
              <a:ext uri="{FF2B5EF4-FFF2-40B4-BE49-F238E27FC236}">
                <a16:creationId xmlns:a16="http://schemas.microsoft.com/office/drawing/2014/main" id="{28C79CEE-D8A8-4531-A92E-AF49F53FCB94}"/>
              </a:ext>
            </a:extLst>
          </p:cNvPr>
          <p:cNvSpPr>
            <a:spLocks noGrp="1"/>
          </p:cNvSpPr>
          <p:nvPr/>
        </p:nvSpPr>
        <p:spPr>
          <a:xfrm>
            <a:off x="685800" y="1390650"/>
            <a:ext cx="10820400" cy="762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After the professor’s recommendation: compare our</a:t>
            </a:r>
          </a:p>
          <a:p>
            <a: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Trustworthy AI methodology with published SAFE</a:t>
            </a:r>
          </a:p>
        </p:txBody>
      </p:sp>
      <p:sp>
        <p:nvSpPr>
          <p:cNvPr id="6" name="v2-shape-1014">
            <a:extLst>
              <a:ext uri="{FF2B5EF4-FFF2-40B4-BE49-F238E27FC236}">
                <a16:creationId xmlns:a16="http://schemas.microsoft.com/office/drawing/2014/main" id="{29FFD56D-A0AD-479A-ABF8-74939CA7B652}"/>
              </a:ext>
            </a:extLst>
          </p:cNvPr>
          <p:cNvSpPr>
            <a:spLocks noGrp="1"/>
          </p:cNvSpPr>
          <p:nvPr/>
        </p:nvSpPr>
        <p:spPr>
          <a:xfrm>
            <a:off x="685800" y="2343150"/>
            <a:ext cx="123825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7" name="v2-shape-1015">
            <a:extLst>
              <a:ext uri="{FF2B5EF4-FFF2-40B4-BE49-F238E27FC236}">
                <a16:creationId xmlns:a16="http://schemas.microsoft.com/office/drawing/2014/main" id="{97D71D61-23FA-4531-8832-E1E0394DAC83}"/>
              </a:ext>
            </a:extLst>
          </p:cNvPr>
          <p:cNvSpPr>
            <a:spLocks noGrp="1"/>
          </p:cNvSpPr>
          <p:nvPr/>
        </p:nvSpPr>
        <p:spPr>
          <a:xfrm>
            <a:off x="2247900" y="2343150"/>
            <a:ext cx="9258300" cy="352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83"/>
                </a:solidFill>
                <a:latin typeface="Arial"/>
                <a:ea typeface="Arial"/>
                <a:cs typeface="Arial"/>
                <a:hlinkClick r:id="rId3"/>
              </a:rPr>
              <a:t>Artificial Intelligence risk measurement</a:t>
            </a:r>
          </a:p>
        </p:txBody>
      </p:sp>
      <p:sp>
        <p:nvSpPr>
          <p:cNvPr id="8" name="v2-shape-1016">
            <a:extLst>
              <a:ext uri="{FF2B5EF4-FFF2-40B4-BE49-F238E27FC236}">
                <a16:creationId xmlns:a16="http://schemas.microsoft.com/office/drawing/2014/main" id="{7EB47289-2FD9-4F62-98DF-39C60B662AEB}"/>
              </a:ext>
            </a:extLst>
          </p:cNvPr>
          <p:cNvSpPr>
            <a:spLocks noGrp="1"/>
          </p:cNvSpPr>
          <p:nvPr/>
        </p:nvSpPr>
        <p:spPr>
          <a:xfrm>
            <a:off x="2247900" y="2705100"/>
            <a:ext cx="9258300" cy="314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Original reference for our article-adaptation branch</a:t>
            </a:r>
          </a:p>
        </p:txBody>
      </p:sp>
      <p:sp>
        <p:nvSpPr>
          <p:cNvPr id="9" name="v2-shape-1017">
            <a:extLst>
              <a:ext uri="{FF2B5EF4-FFF2-40B4-BE49-F238E27FC236}">
                <a16:creationId xmlns:a16="http://schemas.microsoft.com/office/drawing/2014/main" id="{61D69627-57C7-4AB9-B57F-AA1CBD646A4B}"/>
              </a:ext>
            </a:extLst>
          </p:cNvPr>
          <p:cNvSpPr>
            <a:spLocks noGrp="1"/>
          </p:cNvSpPr>
          <p:nvPr/>
        </p:nvSpPr>
        <p:spPr>
          <a:xfrm>
            <a:off x="685800" y="3124200"/>
            <a:ext cx="123825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10" name="v2-shape-1018">
            <a:extLst>
              <a:ext uri="{FF2B5EF4-FFF2-40B4-BE49-F238E27FC236}">
                <a16:creationId xmlns:a16="http://schemas.microsoft.com/office/drawing/2014/main" id="{73CFC87D-49E7-4789-B3D5-173A1E6A04BC}"/>
              </a:ext>
            </a:extLst>
          </p:cNvPr>
          <p:cNvSpPr>
            <a:spLocks noGrp="1"/>
          </p:cNvSpPr>
          <p:nvPr/>
        </p:nvSpPr>
        <p:spPr>
          <a:xfrm>
            <a:off x="2247900" y="3124200"/>
            <a:ext cx="9258300" cy="352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83"/>
                </a:solidFill>
                <a:latin typeface="Arial"/>
                <a:ea typeface="Arial"/>
                <a:cs typeface="Arial"/>
                <a:hlinkClick r:id="rId4"/>
              </a:rPr>
              <a:t>A Rank Graduation Box for SAFE AI</a:t>
            </a:r>
          </a:p>
        </p:txBody>
      </p:sp>
      <p:sp>
        <p:nvSpPr>
          <p:cNvPr id="11" name="v2-shape-1019">
            <a:extLst>
              <a:ext uri="{FF2B5EF4-FFF2-40B4-BE49-F238E27FC236}">
                <a16:creationId xmlns:a16="http://schemas.microsoft.com/office/drawing/2014/main" id="{9494CAA8-3B96-4865-872B-5E73262E62D3}"/>
              </a:ext>
            </a:extLst>
          </p:cNvPr>
          <p:cNvSpPr>
            <a:spLocks noGrp="1"/>
          </p:cNvSpPr>
          <p:nvPr/>
        </p:nvSpPr>
        <p:spPr>
          <a:xfrm>
            <a:off x="2247900" y="3486150"/>
            <a:ext cx="9258300" cy="314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Rank-based measures and statistical comparisons</a:t>
            </a:r>
          </a:p>
        </p:txBody>
      </p:sp>
      <p:sp>
        <p:nvSpPr>
          <p:cNvPr id="12" name="v2-shape-1020">
            <a:extLst>
              <a:ext uri="{FF2B5EF4-FFF2-40B4-BE49-F238E27FC236}">
                <a16:creationId xmlns:a16="http://schemas.microsoft.com/office/drawing/2014/main" id="{952C683C-CEAB-4A01-B939-9FAF0985CADD}"/>
              </a:ext>
            </a:extLst>
          </p:cNvPr>
          <p:cNvSpPr>
            <a:spLocks noGrp="1"/>
          </p:cNvSpPr>
          <p:nvPr/>
        </p:nvSpPr>
        <p:spPr>
          <a:xfrm>
            <a:off x="685800" y="3905250"/>
            <a:ext cx="123825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13" name="v2-shape-1021">
            <a:extLst>
              <a:ext uri="{FF2B5EF4-FFF2-40B4-BE49-F238E27FC236}">
                <a16:creationId xmlns:a16="http://schemas.microsoft.com/office/drawing/2014/main" id="{471953D7-444A-4267-B5F8-771D03D96837}"/>
              </a:ext>
            </a:extLst>
          </p:cNvPr>
          <p:cNvSpPr>
            <a:spLocks noGrp="1"/>
          </p:cNvSpPr>
          <p:nvPr/>
        </p:nvSpPr>
        <p:spPr>
          <a:xfrm>
            <a:off x="2247900" y="3905250"/>
            <a:ext cx="9258300" cy="352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83"/>
                </a:solidFill>
                <a:latin typeface="Arial"/>
                <a:ea typeface="Arial"/>
                <a:cs typeface="Arial"/>
                <a:hlinkClick r:id="rId5"/>
              </a:rPr>
              <a:t>Correlation Metrics for Safe Artificial Intelligence</a:t>
            </a:r>
          </a:p>
        </p:txBody>
      </p:sp>
      <p:sp>
        <p:nvSpPr>
          <p:cNvPr id="14" name="v2-shape-1022">
            <a:extLst>
              <a:ext uri="{FF2B5EF4-FFF2-40B4-BE49-F238E27FC236}">
                <a16:creationId xmlns:a16="http://schemas.microsoft.com/office/drawing/2014/main" id="{37805333-3D62-4EE2-9758-FBC7A01DAFFB}"/>
              </a:ext>
            </a:extLst>
          </p:cNvPr>
          <p:cNvSpPr>
            <a:spLocks noGrp="1"/>
          </p:cNvSpPr>
          <p:nvPr/>
        </p:nvSpPr>
        <p:spPr>
          <a:xfrm>
            <a:off x="2247900" y="4267200"/>
            <a:ext cx="9258300" cy="314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Probability-sensitive assessment also appears in later SAFE work</a:t>
            </a:r>
          </a:p>
        </p:txBody>
      </p:sp>
      <p:sp>
        <p:nvSpPr>
          <p:cNvPr id="15" name="v2-shape-1023">
            <a:extLst>
              <a:ext uri="{FF2B5EF4-FFF2-40B4-BE49-F238E27FC236}">
                <a16:creationId xmlns:a16="http://schemas.microsoft.com/office/drawing/2014/main" id="{7846E834-2BA2-4D82-9661-8F0602CDAA6E}"/>
              </a:ext>
            </a:extLst>
          </p:cNvPr>
          <p:cNvSpPr>
            <a:spLocks noGrp="1"/>
          </p:cNvSpPr>
          <p:nvPr/>
        </p:nvSpPr>
        <p:spPr>
          <a:xfrm>
            <a:off x="685800" y="4686300"/>
            <a:ext cx="123825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6" name="v2-shape-1024">
            <a:extLst>
              <a:ext uri="{FF2B5EF4-FFF2-40B4-BE49-F238E27FC236}">
                <a16:creationId xmlns:a16="http://schemas.microsoft.com/office/drawing/2014/main" id="{13B44108-3065-4D95-A9D6-1E28ECF45BC9}"/>
              </a:ext>
            </a:extLst>
          </p:cNvPr>
          <p:cNvSpPr>
            <a:spLocks noGrp="1"/>
          </p:cNvSpPr>
          <p:nvPr/>
        </p:nvSpPr>
        <p:spPr>
          <a:xfrm>
            <a:off x="2247900" y="4686300"/>
            <a:ext cx="9258300" cy="352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83"/>
                </a:solidFill>
                <a:latin typeface="Arial"/>
                <a:ea typeface="Arial"/>
                <a:cs typeface="Arial"/>
                <a:hlinkClick r:id="rId6"/>
              </a:rPr>
              <a:t>SAFE AI metrics: An integrated approach</a:t>
            </a:r>
          </a:p>
        </p:txBody>
      </p:sp>
      <p:sp>
        <p:nvSpPr>
          <p:cNvPr id="17" name="v2-shape-1025">
            <a:extLst>
              <a:ext uri="{FF2B5EF4-FFF2-40B4-BE49-F238E27FC236}">
                <a16:creationId xmlns:a16="http://schemas.microsoft.com/office/drawing/2014/main" id="{B5FB07DD-788C-412D-8F84-06CBF6D5E51C}"/>
              </a:ext>
            </a:extLst>
          </p:cNvPr>
          <p:cNvSpPr>
            <a:spLocks noGrp="1"/>
          </p:cNvSpPr>
          <p:nvPr/>
        </p:nvSpPr>
        <p:spPr>
          <a:xfrm>
            <a:off x="2247900" y="5048250"/>
            <a:ext cx="9258300" cy="3143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Three curves feed an integrated compliance score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001289FA-0837-4D76-95FE-63EEA98D41CE}"/>
              </a:ext>
            </a:extLst>
          </p:cNvPr>
          <p:cNvSpPr>
            <a:spLocks noGrp="1"/>
          </p:cNvSpPr>
          <p:nvPr/>
        </p:nvSpPr>
        <p:spPr>
          <a:xfrm>
            <a:off x="685800" y="5629275"/>
            <a:ext cx="10820400" cy="0"/>
          </a:xfrm>
          <a:prstGeom prst="line">
            <a:avLst/>
          </a:prstGeom>
          <a:noFill/>
          <a:ln w="19050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v2-shape-1026">
            <a:extLst>
              <a:ext uri="{FF2B5EF4-FFF2-40B4-BE49-F238E27FC236}">
                <a16:creationId xmlns:a16="http://schemas.microsoft.com/office/drawing/2014/main" id="{ED084E62-E978-43A3-AC65-473C33ADAA82}"/>
              </a:ext>
            </a:extLst>
          </p:cNvPr>
          <p:cNvSpPr>
            <a:spLocks noGrp="1"/>
          </p:cNvSpPr>
          <p:nvPr/>
        </p:nvSpPr>
        <p:spPr>
          <a:xfrm>
            <a:off x="685800" y="5819775"/>
            <a:ext cx="10820400" cy="5429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Current question: can our methodology make better model choices</a:t>
            </a:r>
          </a:p>
          <a:p>
            <a:pPr algn="l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under an independently specified evaluation?</a:t>
            </a:r>
          </a:p>
        </p:txBody>
      </p:sp>
    </p:spTree>
    <p:extLst>
      <p:ext uri="{BB962C8B-B14F-4D97-AF65-F5344CB8AC3E}">
        <p14:creationId xmlns:p14="http://schemas.microsoft.com/office/powerpoint/2010/main" val="110500786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541DFD59-B1AA-464F-B532-D8B156CA3BEC}"/>
              </a:ext>
            </a:extLst>
          </p:cNvPr>
          <p:cNvCxnSpPr>
            <a:stCxn id="21" idx="3"/>
            <a:endCxn id="22" idx="1"/>
          </p:cNvCxnSpPr>
          <p:nvPr/>
        </p:nvCxnSpPr>
        <p:spPr>
          <a:xfrm>
            <a:off x="9534525" y="4829175"/>
            <a:ext cx="495300" cy="0"/>
          </a:xfrm>
          <a:prstGeom prst="straightConnector1">
            <a:avLst/>
          </a:prstGeom>
          <a:ln w="19050">
            <a:solidFill>
              <a:srgbClr val="51677B"/>
            </a:solidFill>
            <a:prstDash val="solid"/>
            <a:tailEnd type="triangle" w="sm" len="sm"/>
          </a:ln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DA1537BB-501B-47B0-B979-D7EDFBD32701}"/>
              </a:ext>
            </a:extLst>
          </p:cNvPr>
          <p:cNvCxnSpPr>
            <a:stCxn id="18" idx="3"/>
            <a:endCxn id="19" idx="1"/>
          </p:cNvCxnSpPr>
          <p:nvPr/>
        </p:nvCxnSpPr>
        <p:spPr>
          <a:xfrm>
            <a:off x="5876925" y="4829175"/>
            <a:ext cx="476250" cy="0"/>
          </a:xfrm>
          <a:prstGeom prst="straightConnector1">
            <a:avLst/>
          </a:prstGeom>
          <a:ln w="19050">
            <a:solidFill>
              <a:srgbClr val="51677B"/>
            </a:solidFill>
            <a:prstDash val="solid"/>
            <a:tailEnd type="triangle" w="sm" len="sm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84244D80-1235-4192-9B28-2E3771907654}"/>
              </a:ext>
            </a:extLst>
          </p:cNvPr>
          <p:cNvCxnSpPr>
            <a:stCxn id="15" idx="3"/>
            <a:endCxn id="16" idx="1"/>
          </p:cNvCxnSpPr>
          <p:nvPr/>
        </p:nvCxnSpPr>
        <p:spPr>
          <a:xfrm>
            <a:off x="2019300" y="4810125"/>
            <a:ext cx="476250" cy="0"/>
          </a:xfrm>
          <a:prstGeom prst="straightConnector1">
            <a:avLst/>
          </a:prstGeom>
          <a:ln w="19050">
            <a:solidFill>
              <a:srgbClr val="51677B"/>
            </a:solidFill>
            <a:prstDash val="solid"/>
            <a:tailEnd type="triangle" w="sm" len="sm"/>
          </a:ln>
        </p:spPr>
      </p:cxnSp>
      <p:sp>
        <p:nvSpPr>
          <p:cNvPr id="25" name="text-29">
            <a:extLst>
              <a:ext uri="{FF2B5EF4-FFF2-40B4-BE49-F238E27FC236}">
                <a16:creationId xmlns:a16="http://schemas.microsoft.com/office/drawing/2014/main" id="{C50055B5-E852-4A86-B27B-637C381AB1D5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33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What published SAFE evaluates</a:t>
            </a:r>
          </a:p>
        </p:txBody>
      </p:sp>
      <p:sp>
        <p:nvSpPr>
          <p:cNvPr id="2" name="rule-30">
            <a:extLst>
              <a:ext uri="{FF2B5EF4-FFF2-40B4-BE49-F238E27FC236}">
                <a16:creationId xmlns:a16="http://schemas.microsoft.com/office/drawing/2014/main" id="{3F27E5E0-363A-43D4-889C-52441188B7F5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32">
            <a:extLst>
              <a:ext uri="{FF2B5EF4-FFF2-40B4-BE49-F238E27FC236}">
                <a16:creationId xmlns:a16="http://schemas.microsoft.com/office/drawing/2014/main" id="{DBFE9261-2156-425D-B16B-8887A706A488}"/>
              </a:ext>
            </a:extLst>
          </p:cNvPr>
          <p:cNvSpPr>
            <a:spLocks noGrp="1"/>
          </p:cNvSpPr>
          <p:nvPr/>
        </p:nvSpPr>
        <p:spPr>
          <a:xfrm>
            <a:off x="10382250" y="6486525"/>
            <a:ext cx="112395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03 / 16</a:t>
            </a:r>
          </a:p>
        </p:txBody>
      </p:sp>
      <p:sp>
        <p:nvSpPr>
          <p:cNvPr id="5" name="text-33">
            <a:extLst>
              <a:ext uri="{FF2B5EF4-FFF2-40B4-BE49-F238E27FC236}">
                <a16:creationId xmlns:a16="http://schemas.microsoft.com/office/drawing/2014/main" id="{BC585B7E-59FF-4902-ADD1-F05BD7399D6D}"/>
              </a:ext>
            </a:extLst>
          </p:cNvPr>
          <p:cNvSpPr>
            <a:spLocks noGrp="1"/>
          </p:cNvSpPr>
          <p:nvPr/>
        </p:nvSpPr>
        <p:spPr>
          <a:xfrm>
            <a:off x="685800" y="1514475"/>
            <a:ext cx="329565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RGA</a:t>
            </a:r>
          </a:p>
        </p:txBody>
      </p:sp>
      <p:sp>
        <p:nvSpPr>
          <p:cNvPr id="6" name="text-34">
            <a:extLst>
              <a:ext uri="{FF2B5EF4-FFF2-40B4-BE49-F238E27FC236}">
                <a16:creationId xmlns:a16="http://schemas.microsoft.com/office/drawing/2014/main" id="{3240C973-2F71-4C88-B04A-6937C58F788A}"/>
              </a:ext>
            </a:extLst>
          </p:cNvPr>
          <p:cNvSpPr>
            <a:spLocks noGrp="1"/>
          </p:cNvSpPr>
          <p:nvPr/>
        </p:nvSpPr>
        <p:spPr>
          <a:xfrm>
            <a:off x="685800" y="1933575"/>
            <a:ext cx="3295650" cy="4762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Accuracy</a:t>
            </a:r>
          </a:p>
        </p:txBody>
      </p:sp>
      <p:sp>
        <p:nvSpPr>
          <p:cNvPr id="7" name="text-35">
            <a:extLst>
              <a:ext uri="{FF2B5EF4-FFF2-40B4-BE49-F238E27FC236}">
                <a16:creationId xmlns:a16="http://schemas.microsoft.com/office/drawing/2014/main" id="{09DC6378-0FBA-4640-B30F-6395CF7FCCA4}"/>
              </a:ext>
            </a:extLst>
          </p:cNvPr>
          <p:cNvSpPr>
            <a:spLocks noGrp="1"/>
          </p:cNvSpPr>
          <p:nvPr/>
        </p:nvSpPr>
        <p:spPr>
          <a:xfrm>
            <a:off x="4448175" y="1514475"/>
            <a:ext cx="329565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RGR</a:t>
            </a:r>
          </a:p>
        </p:txBody>
      </p:sp>
      <p:sp>
        <p:nvSpPr>
          <p:cNvPr id="8" name="text-36">
            <a:extLst>
              <a:ext uri="{FF2B5EF4-FFF2-40B4-BE49-F238E27FC236}">
                <a16:creationId xmlns:a16="http://schemas.microsoft.com/office/drawing/2014/main" id="{C31727BE-33E3-4631-9E6D-D7210B1CD4DA}"/>
              </a:ext>
            </a:extLst>
          </p:cNvPr>
          <p:cNvSpPr>
            <a:spLocks noGrp="1"/>
          </p:cNvSpPr>
          <p:nvPr/>
        </p:nvSpPr>
        <p:spPr>
          <a:xfrm>
            <a:off x="4448175" y="1933575"/>
            <a:ext cx="3295650" cy="4762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Robustness</a:t>
            </a:r>
          </a:p>
        </p:txBody>
      </p:sp>
      <p:sp>
        <p:nvSpPr>
          <p:cNvPr id="9" name="text-37">
            <a:extLst>
              <a:ext uri="{FF2B5EF4-FFF2-40B4-BE49-F238E27FC236}">
                <a16:creationId xmlns:a16="http://schemas.microsoft.com/office/drawing/2014/main" id="{D3F42F60-23CA-4BD6-B41E-8151CC9471CC}"/>
              </a:ext>
            </a:extLst>
          </p:cNvPr>
          <p:cNvSpPr>
            <a:spLocks noGrp="1"/>
          </p:cNvSpPr>
          <p:nvPr/>
        </p:nvSpPr>
        <p:spPr>
          <a:xfrm>
            <a:off x="8210550" y="1514475"/>
            <a:ext cx="329565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RGE</a:t>
            </a:r>
          </a:p>
        </p:txBody>
      </p:sp>
      <p:sp>
        <p:nvSpPr>
          <p:cNvPr id="10" name="text-38">
            <a:extLst>
              <a:ext uri="{FF2B5EF4-FFF2-40B4-BE49-F238E27FC236}">
                <a16:creationId xmlns:a16="http://schemas.microsoft.com/office/drawing/2014/main" id="{BCD766C3-C18B-4B6C-BA70-2B1D450D6FC2}"/>
              </a:ext>
            </a:extLst>
          </p:cNvPr>
          <p:cNvSpPr>
            <a:spLocks noGrp="1"/>
          </p:cNvSpPr>
          <p:nvPr/>
        </p:nvSpPr>
        <p:spPr>
          <a:xfrm>
            <a:off x="8210550" y="1933575"/>
            <a:ext cx="3295650" cy="4762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Explainability</a:t>
            </a:r>
          </a:p>
        </p:txBody>
      </p:sp>
      <p:sp>
        <p:nvSpPr>
          <p:cNvPr id="11" name="text-39">
            <a:extLst>
              <a:ext uri="{FF2B5EF4-FFF2-40B4-BE49-F238E27FC236}">
                <a16:creationId xmlns:a16="http://schemas.microsoft.com/office/drawing/2014/main" id="{B66D30B7-8822-4C1E-A410-D3DDD74C8FCD}"/>
              </a:ext>
            </a:extLst>
          </p:cNvPr>
          <p:cNvSpPr>
            <a:spLocks noGrp="1"/>
          </p:cNvSpPr>
          <p:nvPr/>
        </p:nvSpPr>
        <p:spPr>
          <a:xfrm>
            <a:off x="685800" y="2638425"/>
            <a:ext cx="3295650" cy="1257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Can it distinguish</a:t>
            </a:r>
          </a:p>
          <a:p>
            <a:pPr algn="l">
              <a:buNone/>
              <a:defRPr sz="21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higher-risk from</a:t>
            </a:r>
          </a:p>
          <a:p>
            <a:pPr algn="l">
              <a:buNone/>
              <a:defRPr sz="21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lower-risk customers?</a:t>
            </a:r>
          </a:p>
        </p:txBody>
      </p:sp>
      <p:sp>
        <p:nvSpPr>
          <p:cNvPr id="12" name="text-40">
            <a:extLst>
              <a:ext uri="{FF2B5EF4-FFF2-40B4-BE49-F238E27FC236}">
                <a16:creationId xmlns:a16="http://schemas.microsoft.com/office/drawing/2014/main" id="{224AF7FD-0AFF-4E5C-B68E-FA67638161F8}"/>
              </a:ext>
            </a:extLst>
          </p:cNvPr>
          <p:cNvSpPr>
            <a:spLocks noGrp="1"/>
          </p:cNvSpPr>
          <p:nvPr/>
        </p:nvSpPr>
        <p:spPr>
          <a:xfrm>
            <a:off x="4448175" y="2638425"/>
            <a:ext cx="3295650" cy="1257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Does the risk ranking</a:t>
            </a:r>
          </a:p>
          <a:p>
            <a:pPr algn="l">
              <a:buNone/>
              <a:defRPr sz="21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survive disturbances</a:t>
            </a:r>
          </a:p>
          <a:p>
            <a:pPr algn="l">
              <a:buNone/>
              <a:defRPr sz="21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to the inputs?</a:t>
            </a:r>
          </a:p>
        </p:txBody>
      </p:sp>
      <p:sp>
        <p:nvSpPr>
          <p:cNvPr id="13" name="text-41">
            <a:extLst>
              <a:ext uri="{FF2B5EF4-FFF2-40B4-BE49-F238E27FC236}">
                <a16:creationId xmlns:a16="http://schemas.microsoft.com/office/drawing/2014/main" id="{4AF0F3B0-096B-4457-8BD9-6B7B30F05934}"/>
              </a:ext>
            </a:extLst>
          </p:cNvPr>
          <p:cNvSpPr>
            <a:spLocks noGrp="1"/>
          </p:cNvSpPr>
          <p:nvPr/>
        </p:nvSpPr>
        <p:spPr>
          <a:xfrm>
            <a:off x="8210550" y="2638425"/>
            <a:ext cx="3295650" cy="1257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How strongly do</a:t>
            </a:r>
          </a:p>
          <a:p>
            <a:pPr algn="l">
              <a:buNone/>
              <a:defRPr sz="21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individual inputs</a:t>
            </a:r>
          </a:p>
          <a:p>
            <a:pPr algn="l">
              <a:buNone/>
              <a:defRPr sz="21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influence the ranking?</a:t>
            </a:r>
          </a:p>
        </p:txBody>
      </p:sp>
      <p:sp>
        <p:nvSpPr>
          <p:cNvPr id="14" name="rule-42">
            <a:extLst>
              <a:ext uri="{FF2B5EF4-FFF2-40B4-BE49-F238E27FC236}">
                <a16:creationId xmlns:a16="http://schemas.microsoft.com/office/drawing/2014/main" id="{083640C7-374B-4572-A5DE-13FCCFFDC5E6}"/>
              </a:ext>
            </a:extLst>
          </p:cNvPr>
          <p:cNvSpPr>
            <a:spLocks noGrp="1"/>
          </p:cNvSpPr>
          <p:nvPr/>
        </p:nvSpPr>
        <p:spPr>
          <a:xfrm>
            <a:off x="685800" y="4133850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diagram-node-43">
            <a:extLst>
              <a:ext uri="{FF2B5EF4-FFF2-40B4-BE49-F238E27FC236}">
                <a16:creationId xmlns:a16="http://schemas.microsoft.com/office/drawing/2014/main" id="{70C8EB45-6FEA-4338-A5A4-6397765AF441}"/>
              </a:ext>
            </a:extLst>
          </p:cNvPr>
          <p:cNvSpPr>
            <a:spLocks noGrp="1"/>
          </p:cNvSpPr>
          <p:nvPr/>
        </p:nvSpPr>
        <p:spPr>
          <a:xfrm>
            <a:off x="685800" y="4533900"/>
            <a:ext cx="1333500" cy="552450"/>
          </a:xfrm>
          <a:prstGeom prst="rect">
            <a:avLst/>
          </a:prstGeom>
          <a:solidFill>
            <a:srgbClr val="EAF3F3"/>
          </a:solidFill>
          <a:ln w="14288">
            <a:solidFill>
              <a:srgbClr val="CDDBE2"/>
            </a:solidFill>
            <a:prstDash val="solid"/>
          </a:ln>
        </p:spPr>
        <p:txBody>
          <a:bodyPr wrap="square" lIns="114300" tIns="114300" rIns="114300" bIns="114300" anchor="ctr"/>
          <a:lstStyle>
            <a:def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Lower risk</a:t>
            </a:r>
          </a:p>
        </p:txBody>
      </p:sp>
      <p:sp>
        <p:nvSpPr>
          <p:cNvPr id="16" name="diagram-node-44">
            <a:extLst>
              <a:ext uri="{FF2B5EF4-FFF2-40B4-BE49-F238E27FC236}">
                <a16:creationId xmlns:a16="http://schemas.microsoft.com/office/drawing/2014/main" id="{68045968-20F8-4B5D-B1B9-B86EF76400F1}"/>
              </a:ext>
            </a:extLst>
          </p:cNvPr>
          <p:cNvSpPr>
            <a:spLocks noGrp="1"/>
          </p:cNvSpPr>
          <p:nvPr/>
        </p:nvSpPr>
        <p:spPr>
          <a:xfrm>
            <a:off x="2495550" y="4533900"/>
            <a:ext cx="1485900" cy="552450"/>
          </a:xfrm>
          <a:prstGeom prst="rect">
            <a:avLst/>
          </a:prstGeom>
          <a:solidFill>
            <a:srgbClr val="EAF3F3"/>
          </a:solidFill>
          <a:ln w="14288">
            <a:solidFill>
              <a:srgbClr val="CDDBE2"/>
            </a:solidFill>
            <a:prstDash val="solid"/>
          </a:ln>
        </p:spPr>
        <p:txBody>
          <a:bodyPr wrap="square" lIns="114300" tIns="114300" rIns="114300" bIns="114300" anchor="ctr"/>
          <a:lstStyle>
            <a:defPPr algn="ctr"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5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Higher risk</a:t>
            </a:r>
          </a:p>
        </p:txBody>
      </p:sp>
      <p:sp>
        <p:nvSpPr>
          <p:cNvPr id="18" name="diagram-node-45">
            <a:extLst>
              <a:ext uri="{FF2B5EF4-FFF2-40B4-BE49-F238E27FC236}">
                <a16:creationId xmlns:a16="http://schemas.microsoft.com/office/drawing/2014/main" id="{9E583D03-EA12-4E27-B514-DA2E3DD399EF}"/>
              </a:ext>
            </a:extLst>
          </p:cNvPr>
          <p:cNvSpPr>
            <a:spLocks noGrp="1"/>
          </p:cNvSpPr>
          <p:nvPr/>
        </p:nvSpPr>
        <p:spPr>
          <a:xfrm>
            <a:off x="4448175" y="4438650"/>
            <a:ext cx="142875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CDDBE2"/>
            </a:solidFill>
            <a:prstDash val="solid"/>
          </a:ln>
        </p:spPr>
        <p:txBody>
          <a:bodyPr wrap="square" lIns="114300" tIns="114300" rIns="114300" bIns="114300" anchor="ctr"/>
          <a:lstStyle>
            <a:def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Original</a:t>
            </a:r>
          </a:p>
          <a:p>
            <a:pPr algn="ctr"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ranking</a:t>
            </a:r>
          </a:p>
        </p:txBody>
      </p:sp>
      <p:sp>
        <p:nvSpPr>
          <p:cNvPr id="19" name="diagram-node-46">
            <a:extLst>
              <a:ext uri="{FF2B5EF4-FFF2-40B4-BE49-F238E27FC236}">
                <a16:creationId xmlns:a16="http://schemas.microsoft.com/office/drawing/2014/main" id="{19D11FE9-A6B9-4E8D-9175-C5EE9ACA9457}"/>
              </a:ext>
            </a:extLst>
          </p:cNvPr>
          <p:cNvSpPr>
            <a:spLocks noGrp="1"/>
          </p:cNvSpPr>
          <p:nvPr/>
        </p:nvSpPr>
        <p:spPr>
          <a:xfrm>
            <a:off x="6353175" y="4438650"/>
            <a:ext cx="1428750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CDDBE2"/>
            </a:solidFill>
            <a:prstDash val="solid"/>
          </a:ln>
        </p:spPr>
        <p:txBody>
          <a:bodyPr wrap="square" lIns="114300" tIns="114300" rIns="114300" bIns="114300" anchor="ctr"/>
          <a:lstStyle>
            <a:def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Perturbed</a:t>
            </a:r>
          </a:p>
          <a:p>
            <a:pPr algn="ctr"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ranking</a:t>
            </a:r>
          </a:p>
        </p:txBody>
      </p:sp>
      <p:sp>
        <p:nvSpPr>
          <p:cNvPr id="21" name="diagram-node-47">
            <a:extLst>
              <a:ext uri="{FF2B5EF4-FFF2-40B4-BE49-F238E27FC236}">
                <a16:creationId xmlns:a16="http://schemas.microsoft.com/office/drawing/2014/main" id="{6DB86032-9572-4236-AF32-BB379CEE1BE3}"/>
              </a:ext>
            </a:extLst>
          </p:cNvPr>
          <p:cNvSpPr>
            <a:spLocks noGrp="1"/>
          </p:cNvSpPr>
          <p:nvPr/>
        </p:nvSpPr>
        <p:spPr>
          <a:xfrm>
            <a:off x="8210550" y="4438650"/>
            <a:ext cx="1323975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CDDBE2"/>
            </a:solidFill>
            <a:prstDash val="solid"/>
          </a:ln>
        </p:spPr>
        <p:txBody>
          <a:bodyPr wrap="square" lIns="114300" tIns="114300" rIns="114300" bIns="114300" anchor="ctr"/>
          <a:lstStyle>
            <a:def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Full</a:t>
            </a:r>
          </a:p>
          <a:p>
            <a:pPr algn="ctr"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inputs</a:t>
            </a:r>
          </a:p>
        </p:txBody>
      </p:sp>
      <p:sp>
        <p:nvSpPr>
          <p:cNvPr id="22" name="diagram-node-48">
            <a:extLst>
              <a:ext uri="{FF2B5EF4-FFF2-40B4-BE49-F238E27FC236}">
                <a16:creationId xmlns:a16="http://schemas.microsoft.com/office/drawing/2014/main" id="{2AE9B25B-5725-4C9C-9D69-AAEDA268C3EA}"/>
              </a:ext>
            </a:extLst>
          </p:cNvPr>
          <p:cNvSpPr>
            <a:spLocks noGrp="1"/>
          </p:cNvSpPr>
          <p:nvPr/>
        </p:nvSpPr>
        <p:spPr>
          <a:xfrm>
            <a:off x="10029825" y="4438650"/>
            <a:ext cx="1476375" cy="781050"/>
          </a:xfrm>
          <a:prstGeom prst="rect">
            <a:avLst/>
          </a:prstGeom>
          <a:solidFill>
            <a:srgbClr val="FFFFFF"/>
          </a:solidFill>
          <a:ln w="14288">
            <a:solidFill>
              <a:srgbClr val="CDDBE2"/>
            </a:solidFill>
            <a:prstDash val="solid"/>
          </a:ln>
        </p:spPr>
        <p:txBody>
          <a:bodyPr wrap="square" lIns="114300" tIns="114300" rIns="114300" bIns="114300" anchor="ctr"/>
          <a:lstStyle>
            <a:defPPr algn="ctr"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Remove</a:t>
            </a:r>
          </a:p>
          <a:p>
            <a:pPr algn="ctr">
              <a:buNone/>
              <a:defRPr sz="16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an input</a:t>
            </a:r>
          </a:p>
        </p:txBody>
      </p:sp>
      <p:sp>
        <p:nvSpPr>
          <p:cNvPr id="24" name="text-49">
            <a:extLst>
              <a:ext uri="{FF2B5EF4-FFF2-40B4-BE49-F238E27FC236}">
                <a16:creationId xmlns:a16="http://schemas.microsoft.com/office/drawing/2014/main" id="{27826077-3305-4651-9B15-9A0A288EAAA6}"/>
              </a:ext>
            </a:extLst>
          </p:cNvPr>
          <p:cNvSpPr>
            <a:spLocks noGrp="1"/>
          </p:cNvSpPr>
          <p:nvPr/>
        </p:nvSpPr>
        <p:spPr>
          <a:xfrm>
            <a:off x="685800" y="5676900"/>
            <a:ext cx="10820400" cy="4381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Integrated explainability uses the reversed RGE curve. Details are in Appendix B.</a:t>
            </a:r>
          </a:p>
        </p:txBody>
      </p:sp>
    </p:spTree>
    <p:extLst>
      <p:ext uri="{BB962C8B-B14F-4D97-AF65-F5344CB8AC3E}">
        <p14:creationId xmlns:p14="http://schemas.microsoft.com/office/powerpoint/2010/main" val="930601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2C8ADC74-31F6-4C87-AA7E-3C05A4342980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4210050" y="3305175"/>
            <a:ext cx="2933700" cy="1185863"/>
          </a:xfrm>
          <a:prstGeom prst="straightConnector1">
            <a:avLst/>
          </a:prstGeom>
          <a:ln w="19050">
            <a:solidFill>
              <a:srgbClr val="51677B"/>
            </a:solidFill>
            <a:prstDash val="solid"/>
            <a:tailEnd type="triangle" w="sm" len="sm"/>
          </a:ln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F22E3C7E-C92F-4F1D-80C1-933EAFCFA61D}"/>
              </a:ext>
            </a:extLst>
          </p:cNvPr>
          <p:cNvCxnSpPr>
            <a:stCxn id="6" idx="3"/>
            <a:endCxn id="8" idx="1"/>
          </p:cNvCxnSpPr>
          <p:nvPr/>
        </p:nvCxnSpPr>
        <p:spPr>
          <a:xfrm flipV="1">
            <a:off x="4210050" y="3305175"/>
            <a:ext cx="2933700" cy="4763"/>
          </a:xfrm>
          <a:prstGeom prst="straightConnector1">
            <a:avLst/>
          </a:prstGeom>
          <a:ln w="19050">
            <a:solidFill>
              <a:srgbClr val="51677B"/>
            </a:solidFill>
            <a:prstDash val="solid"/>
            <a:tailEnd type="triangle" w="sm" len="sm"/>
          </a:ln>
        </p:spPr>
      </p:cxn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0D6AD09-823E-48AE-92A0-850C1D6AC726}"/>
              </a:ext>
            </a:extLst>
          </p:cNvPr>
          <p:cNvCxnSpPr>
            <a:stCxn id="5" idx="3"/>
            <a:endCxn id="8" idx="1"/>
          </p:cNvCxnSpPr>
          <p:nvPr/>
        </p:nvCxnSpPr>
        <p:spPr>
          <a:xfrm>
            <a:off x="4210050" y="2128838"/>
            <a:ext cx="2933700" cy="1176338"/>
          </a:xfrm>
          <a:prstGeom prst="straightConnector1">
            <a:avLst/>
          </a:prstGeom>
          <a:ln w="19050">
            <a:solidFill>
              <a:srgbClr val="51677B"/>
            </a:solidFill>
            <a:prstDash val="solid"/>
            <a:tailEnd type="triangle" w="sm" len="sm"/>
          </a:ln>
        </p:spPr>
      </p:cxnSp>
      <p:sp>
        <p:nvSpPr>
          <p:cNvPr id="14" name="text-50">
            <a:extLst>
              <a:ext uri="{FF2B5EF4-FFF2-40B4-BE49-F238E27FC236}">
                <a16:creationId xmlns:a16="http://schemas.microsoft.com/office/drawing/2014/main" id="{8DBE947C-E04C-4FCF-959F-0AFDF15DABDA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33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How SAFE 2026 produces its integrated score</a:t>
            </a:r>
          </a:p>
        </p:txBody>
      </p:sp>
      <p:sp>
        <p:nvSpPr>
          <p:cNvPr id="2" name="rule-51">
            <a:extLst>
              <a:ext uri="{FF2B5EF4-FFF2-40B4-BE49-F238E27FC236}">
                <a16:creationId xmlns:a16="http://schemas.microsoft.com/office/drawing/2014/main" id="{162E3325-6701-450F-94C5-822C5F614C96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53">
            <a:extLst>
              <a:ext uri="{FF2B5EF4-FFF2-40B4-BE49-F238E27FC236}">
                <a16:creationId xmlns:a16="http://schemas.microsoft.com/office/drawing/2014/main" id="{1086EBCB-DD6E-4B0B-A761-BAF3D8DC8C90}"/>
              </a:ext>
            </a:extLst>
          </p:cNvPr>
          <p:cNvSpPr>
            <a:spLocks noGrp="1"/>
          </p:cNvSpPr>
          <p:nvPr/>
        </p:nvSpPr>
        <p:spPr>
          <a:xfrm>
            <a:off x="10382250" y="6486525"/>
            <a:ext cx="112395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04 / 16</a:t>
            </a:r>
          </a:p>
        </p:txBody>
      </p:sp>
      <p:sp>
        <p:nvSpPr>
          <p:cNvPr id="5" name="diagram-node-54">
            <a:extLst>
              <a:ext uri="{FF2B5EF4-FFF2-40B4-BE49-F238E27FC236}">
                <a16:creationId xmlns:a16="http://schemas.microsoft.com/office/drawing/2014/main" id="{E2537823-77EE-422B-A5B8-8D4F587F68AB}"/>
              </a:ext>
            </a:extLst>
          </p:cNvPr>
          <p:cNvSpPr>
            <a:spLocks noGrp="1"/>
          </p:cNvSpPr>
          <p:nvPr/>
        </p:nvSpPr>
        <p:spPr>
          <a:xfrm>
            <a:off x="685800" y="1752600"/>
            <a:ext cx="3524250" cy="752475"/>
          </a:xfrm>
          <a:prstGeom prst="rect">
            <a:avLst/>
          </a:prstGeom>
          <a:solidFill>
            <a:srgbClr val="EAF3F3"/>
          </a:solidFill>
          <a:ln w="14288">
            <a:solidFill>
              <a:srgbClr val="007F83"/>
            </a:solidFill>
            <a:prstDash val="solid"/>
          </a:ln>
        </p:spPr>
        <p:txBody>
          <a:bodyPr wrap="square" lIns="114300" tIns="114300" rIns="114300" bIns="114300" anchor="ctr"/>
          <a:lstStyle>
            <a:defPPr algn="ctr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Accuracy (RGA)</a:t>
            </a:r>
          </a:p>
        </p:txBody>
      </p:sp>
      <p:sp>
        <p:nvSpPr>
          <p:cNvPr id="6" name="diagram-node-55">
            <a:extLst>
              <a:ext uri="{FF2B5EF4-FFF2-40B4-BE49-F238E27FC236}">
                <a16:creationId xmlns:a16="http://schemas.microsoft.com/office/drawing/2014/main" id="{97681D63-DDFC-42C5-B352-121A19398854}"/>
              </a:ext>
            </a:extLst>
          </p:cNvPr>
          <p:cNvSpPr>
            <a:spLocks noGrp="1"/>
          </p:cNvSpPr>
          <p:nvPr/>
        </p:nvSpPr>
        <p:spPr>
          <a:xfrm>
            <a:off x="685800" y="2933700"/>
            <a:ext cx="3524250" cy="752475"/>
          </a:xfrm>
          <a:prstGeom prst="rect">
            <a:avLst/>
          </a:prstGeom>
          <a:solidFill>
            <a:srgbClr val="EAF3F3"/>
          </a:solidFill>
          <a:ln w="14288">
            <a:solidFill>
              <a:srgbClr val="007F83"/>
            </a:solidFill>
            <a:prstDash val="solid"/>
          </a:ln>
        </p:spPr>
        <p:txBody>
          <a:bodyPr wrap="square" lIns="114300" tIns="114300" rIns="114300" bIns="114300" anchor="ctr"/>
          <a:lstStyle>
            <a:defPPr algn="ctr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Robustness (RGR)</a:t>
            </a:r>
          </a:p>
        </p:txBody>
      </p:sp>
      <p:sp>
        <p:nvSpPr>
          <p:cNvPr id="7" name="diagram-node-56">
            <a:extLst>
              <a:ext uri="{FF2B5EF4-FFF2-40B4-BE49-F238E27FC236}">
                <a16:creationId xmlns:a16="http://schemas.microsoft.com/office/drawing/2014/main" id="{E58BB0D0-9528-4A20-92B3-3E5DB9D6DF25}"/>
              </a:ext>
            </a:extLst>
          </p:cNvPr>
          <p:cNvSpPr>
            <a:spLocks noGrp="1"/>
          </p:cNvSpPr>
          <p:nvPr/>
        </p:nvSpPr>
        <p:spPr>
          <a:xfrm>
            <a:off x="685800" y="4114800"/>
            <a:ext cx="3524250" cy="752475"/>
          </a:xfrm>
          <a:prstGeom prst="rect">
            <a:avLst/>
          </a:prstGeom>
          <a:solidFill>
            <a:srgbClr val="EAF3F3"/>
          </a:solidFill>
          <a:ln w="14288">
            <a:solidFill>
              <a:srgbClr val="007F83"/>
            </a:solidFill>
            <a:prstDash val="solid"/>
          </a:ln>
        </p:spPr>
        <p:txBody>
          <a:bodyPr wrap="square" lIns="114300" tIns="114300" rIns="114300" bIns="114300" anchor="ctr"/>
          <a:lstStyle>
            <a:defPPr algn="ctr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Explainability (RGE)</a:t>
            </a:r>
          </a:p>
        </p:txBody>
      </p:sp>
      <p:sp>
        <p:nvSpPr>
          <p:cNvPr id="8" name="diagram-node-57">
            <a:extLst>
              <a:ext uri="{FF2B5EF4-FFF2-40B4-BE49-F238E27FC236}">
                <a16:creationId xmlns:a16="http://schemas.microsoft.com/office/drawing/2014/main" id="{6226BEFF-9487-4B20-A8D7-B12A29F6BB91}"/>
              </a:ext>
            </a:extLst>
          </p:cNvPr>
          <p:cNvSpPr>
            <a:spLocks noGrp="1"/>
          </p:cNvSpPr>
          <p:nvPr/>
        </p:nvSpPr>
        <p:spPr>
          <a:xfrm>
            <a:off x="7143750" y="2590800"/>
            <a:ext cx="4362450" cy="1428750"/>
          </a:xfrm>
          <a:prstGeom prst="rect">
            <a:avLst/>
          </a:prstGeom>
          <a:solidFill>
            <a:srgbClr val="17324D"/>
          </a:solidFill>
          <a:ln w="14288">
            <a:solidFill>
              <a:srgbClr val="17324D"/>
            </a:solidFill>
            <a:prstDash val="solid"/>
          </a:ln>
        </p:spPr>
        <p:txBody>
          <a:bodyPr wrap="square" lIns="114300" tIns="114300" rIns="114300" bIns="114300" anchor="ctr"/>
          <a:lstStyle>
            <a:defPPr algn="ctr"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Integrated SAFE</a:t>
            </a:r>
          </a:p>
          <a:p>
            <a:pPr algn="ctr">
              <a:buNone/>
              <a:defRPr sz="247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Compliance Score</a:t>
            </a:r>
          </a:p>
        </p:txBody>
      </p:sp>
      <p:sp>
        <p:nvSpPr>
          <p:cNvPr id="12" name="text-58">
            <a:extLst>
              <a:ext uri="{FF2B5EF4-FFF2-40B4-BE49-F238E27FC236}">
                <a16:creationId xmlns:a16="http://schemas.microsoft.com/office/drawing/2014/main" id="{FF062D86-AE8C-4142-AC1B-AE084917531E}"/>
              </a:ext>
            </a:extLst>
          </p:cNvPr>
          <p:cNvSpPr>
            <a:spLocks noGrp="1"/>
          </p:cNvSpPr>
          <p:nvPr/>
        </p:nvSpPr>
        <p:spPr>
          <a:xfrm>
            <a:off x="685800" y="5391150"/>
            <a:ext cx="10820400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Published means: arithmetic, geometric and quadratic. TOPSIS is a separate comparator.</a:t>
            </a:r>
          </a:p>
        </p:txBody>
      </p:sp>
      <p:sp>
        <p:nvSpPr>
          <p:cNvPr id="13" name="text-59">
            <a:extLst>
              <a:ext uri="{FF2B5EF4-FFF2-40B4-BE49-F238E27FC236}">
                <a16:creationId xmlns:a16="http://schemas.microsoft.com/office/drawing/2014/main" id="{1F21C054-8F13-4AF5-ACC7-9E625AE1136A}"/>
              </a:ext>
            </a:extLst>
          </p:cNvPr>
          <p:cNvSpPr>
            <a:spLocks noGrp="1"/>
          </p:cNvSpPr>
          <p:nvPr/>
        </p:nvSpPr>
        <p:spPr>
          <a:xfrm>
            <a:off x="685800" y="5762625"/>
            <a:ext cx="10820400" cy="5238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5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The published volume has no separate demographic-fairness axis.</a:t>
            </a:r>
          </a:p>
          <a:p>
            <a:pPr algn="l">
              <a:buNone/>
              <a:defRPr sz="15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Our study will report fairness separately.</a:t>
            </a:r>
          </a:p>
        </p:txBody>
      </p:sp>
    </p:spTree>
    <p:extLst>
      <p:ext uri="{BB962C8B-B14F-4D97-AF65-F5344CB8AC3E}">
        <p14:creationId xmlns:p14="http://schemas.microsoft.com/office/powerpoint/2010/main" val="147778334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-60">
            <a:extLst>
              <a:ext uri="{FF2B5EF4-FFF2-40B4-BE49-F238E27FC236}">
                <a16:creationId xmlns:a16="http://schemas.microsoft.com/office/drawing/2014/main" id="{284ED8A8-0014-4647-822E-E8BF4957DF02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33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Why an independent judge matters</a:t>
            </a:r>
          </a:p>
        </p:txBody>
      </p:sp>
      <p:sp>
        <p:nvSpPr>
          <p:cNvPr id="2" name="rule-61">
            <a:extLst>
              <a:ext uri="{FF2B5EF4-FFF2-40B4-BE49-F238E27FC236}">
                <a16:creationId xmlns:a16="http://schemas.microsoft.com/office/drawing/2014/main" id="{369D5641-0691-49F7-884D-7E61969B514B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63">
            <a:extLst>
              <a:ext uri="{FF2B5EF4-FFF2-40B4-BE49-F238E27FC236}">
                <a16:creationId xmlns:a16="http://schemas.microsoft.com/office/drawing/2014/main" id="{7BE37C44-8DBF-4214-A2F7-801920722A7A}"/>
              </a:ext>
            </a:extLst>
          </p:cNvPr>
          <p:cNvSpPr>
            <a:spLocks noGrp="1"/>
          </p:cNvSpPr>
          <p:nvPr/>
        </p:nvSpPr>
        <p:spPr>
          <a:xfrm>
            <a:off x="10382250" y="6486525"/>
            <a:ext cx="112395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05 / 16</a:t>
            </a:r>
          </a:p>
        </p:txBody>
      </p:sp>
      <p:sp>
        <p:nvSpPr>
          <p:cNvPr id="5" name="text-64">
            <a:extLst>
              <a:ext uri="{FF2B5EF4-FFF2-40B4-BE49-F238E27FC236}">
                <a16:creationId xmlns:a16="http://schemas.microsoft.com/office/drawing/2014/main" id="{8B6AFC28-B150-468F-A49E-21CE7880B84A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47750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75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6D26"/>
                </a:solidFill>
                <a:latin typeface="Arial"/>
                <a:ea typeface="Arial"/>
                <a:cs typeface="Arial"/>
              </a:rPr>
              <a:t>HYPOTHETICAL EXAMPLE / RISK RANKING</a:t>
            </a:r>
          </a:p>
        </p:txBody>
      </p:sp>
      <p:sp>
        <p:nvSpPr>
          <p:cNvPr id="6" name="text-65">
            <a:extLst>
              <a:ext uri="{FF2B5EF4-FFF2-40B4-BE49-F238E27FC236}">
                <a16:creationId xmlns:a16="http://schemas.microsoft.com/office/drawing/2014/main" id="{307160FF-6D7F-45AA-B15B-25BAC427B9E6}"/>
              </a:ext>
            </a:extLst>
          </p:cNvPr>
          <p:cNvSpPr>
            <a:spLocks noGrp="1"/>
          </p:cNvSpPr>
          <p:nvPr/>
        </p:nvSpPr>
        <p:spPr>
          <a:xfrm>
            <a:off x="685800" y="1800225"/>
            <a:ext cx="10820400" cy="4762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Both models rank the customers A, B, C from lower to higher risk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B8852DA5-D0C0-4ECD-BB49-4FC154A0564C}"/>
              </a:ext>
            </a:extLst>
          </p:cNvPr>
          <p:cNvGraphicFramePr/>
          <p:nvPr/>
        </p:nvGraphicFramePr>
        <p:xfrm>
          <a:off x="685800" y="2514600"/>
          <a:ext cx="10820400" cy="2343152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8578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Actual outcome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No default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No default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Default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Model 1 risk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80%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8578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Model 2 risk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60%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70%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90%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-66">
            <a:extLst>
              <a:ext uri="{FF2B5EF4-FFF2-40B4-BE49-F238E27FC236}">
                <a16:creationId xmlns:a16="http://schemas.microsoft.com/office/drawing/2014/main" id="{5AA74F13-FDFD-45EA-85E4-8FF0010CFF9E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409575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AVERAGE BRIER LOSS</a:t>
            </a:r>
          </a:p>
        </p:txBody>
      </p:sp>
      <p:sp>
        <p:nvSpPr>
          <p:cNvPr id="9" name="text-67">
            <a:extLst>
              <a:ext uri="{FF2B5EF4-FFF2-40B4-BE49-F238E27FC236}">
                <a16:creationId xmlns:a16="http://schemas.microsoft.com/office/drawing/2014/main" id="{4108749B-7856-4E86-9547-EE41C945AA4B}"/>
              </a:ext>
            </a:extLst>
          </p:cNvPr>
          <p:cNvSpPr>
            <a:spLocks noGrp="1"/>
          </p:cNvSpPr>
          <p:nvPr/>
        </p:nvSpPr>
        <p:spPr>
          <a:xfrm>
            <a:off x="685800" y="5581650"/>
            <a:ext cx="4619625" cy="514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6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Model 1  0.030</a:t>
            </a:r>
          </a:p>
        </p:txBody>
      </p:sp>
      <p:sp>
        <p:nvSpPr>
          <p:cNvPr id="10" name="text-68">
            <a:extLst>
              <a:ext uri="{FF2B5EF4-FFF2-40B4-BE49-F238E27FC236}">
                <a16:creationId xmlns:a16="http://schemas.microsoft.com/office/drawing/2014/main" id="{1E14208B-48BA-478B-B4F4-FA0E69883EC4}"/>
              </a:ext>
            </a:extLst>
          </p:cNvPr>
          <p:cNvSpPr>
            <a:spLocks noGrp="1"/>
          </p:cNvSpPr>
          <p:nvPr/>
        </p:nvSpPr>
        <p:spPr>
          <a:xfrm>
            <a:off x="6096000" y="5581650"/>
            <a:ext cx="5410200" cy="514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625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625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pPr>
            <a:r>
              <a:rPr sz="2625" b="1">
                <a:solidFill>
                  <a:srgbClr val="A96D26"/>
                </a:solidFill>
                <a:latin typeface="Arial"/>
                <a:ea typeface="Arial"/>
                <a:cs typeface="Arial"/>
              </a:rPr>
              <a:t>Model 2  0.287</a:t>
            </a:r>
          </a:p>
        </p:txBody>
      </p:sp>
    </p:spTree>
    <p:extLst>
      <p:ext uri="{BB962C8B-B14F-4D97-AF65-F5344CB8AC3E}">
        <p14:creationId xmlns:p14="http://schemas.microsoft.com/office/powerpoint/2010/main" val="7978575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8062CC2-0B5C-44EE-8A81-96E613AF0E59}"/>
              </a:ext>
            </a:extLst>
          </p:cNvPr>
          <p:cNvCxnSpPr>
            <a:cxnSpLocks/>
            <a:stCxn id="7" idx="3"/>
          </p:cNvCxnSpPr>
          <p:nvPr/>
        </p:nvCxnSpPr>
        <p:spPr>
          <a:xfrm>
            <a:off x="2638425" y="3638550"/>
            <a:ext cx="638175" cy="1509713"/>
          </a:xfrm>
          <a:prstGeom prst="straightConnector1">
            <a:avLst/>
          </a:prstGeom>
          <a:ln w="19050">
            <a:solidFill>
              <a:srgbClr val="51677B"/>
            </a:solidFill>
            <a:tailEnd type="triangle" w="sm" len="sm"/>
          </a:ln>
        </p:spPr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CD21AA36-914B-4375-9161-7CA94C6A87C3}"/>
              </a:ext>
            </a:extLst>
          </p:cNvPr>
          <p:cNvCxnSpPr>
            <a:stCxn id="12" idx="3"/>
            <a:endCxn id="14" idx="1"/>
          </p:cNvCxnSpPr>
          <p:nvPr/>
        </p:nvCxnSpPr>
        <p:spPr>
          <a:xfrm flipV="1">
            <a:off x="8514991" y="3862388"/>
            <a:ext cx="914759" cy="1313731"/>
          </a:xfrm>
          <a:prstGeom prst="straightConnector1">
            <a:avLst/>
          </a:prstGeom>
          <a:ln w="19050">
            <a:solidFill>
              <a:srgbClr val="51677B"/>
            </a:solidFill>
            <a:tailEnd type="triangle" w="sm" len="sm"/>
          </a:ln>
        </p:spPr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D46E74FC-EF13-47C7-9706-48F50409DE88}"/>
              </a:ext>
            </a:extLst>
          </p:cNvPr>
          <p:cNvCxnSpPr>
            <a:stCxn id="9" idx="3"/>
            <a:endCxn id="12" idx="1"/>
          </p:cNvCxnSpPr>
          <p:nvPr/>
        </p:nvCxnSpPr>
        <p:spPr>
          <a:xfrm>
            <a:off x="6186577" y="5176119"/>
            <a:ext cx="623439" cy="0"/>
          </a:xfrm>
          <a:prstGeom prst="straightConnector1">
            <a:avLst/>
          </a:prstGeom>
          <a:ln w="19050">
            <a:solidFill>
              <a:srgbClr val="51677B"/>
            </a:solidFill>
            <a:tailEnd type="triangle" w="sm" len="sm"/>
          </a:ln>
        </p:spPr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18DEF5C8-65B9-4E7A-9286-3EA6271C1D81}"/>
              </a:ext>
            </a:extLst>
          </p:cNvPr>
          <p:cNvCxnSpPr>
            <a:stCxn id="7" idx="3"/>
            <a:endCxn id="9" idx="1"/>
          </p:cNvCxnSpPr>
          <p:nvPr/>
        </p:nvCxnSpPr>
        <p:spPr>
          <a:xfrm>
            <a:off x="2638425" y="3638550"/>
            <a:ext cx="652552" cy="1537569"/>
          </a:xfrm>
          <a:prstGeom prst="straightConnector1">
            <a:avLst/>
          </a:prstGeom>
          <a:ln w="19050">
            <a:solidFill>
              <a:srgbClr val="51677B"/>
            </a:solidFill>
            <a:tailEnd type="triangle" w="sm" len="sm"/>
          </a:ln>
        </p:spPr>
      </p:cxn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0A56349A-CC95-44A9-A33A-4DBB6453DAF6}"/>
              </a:ext>
            </a:extLst>
          </p:cNvPr>
          <p:cNvCxnSpPr>
            <a:stCxn id="11" idx="3"/>
            <a:endCxn id="14" idx="1"/>
          </p:cNvCxnSpPr>
          <p:nvPr/>
        </p:nvCxnSpPr>
        <p:spPr>
          <a:xfrm>
            <a:off x="8572500" y="2386013"/>
            <a:ext cx="857250" cy="1476375"/>
          </a:xfrm>
          <a:prstGeom prst="straightConnector1">
            <a:avLst/>
          </a:prstGeom>
          <a:ln w="19050">
            <a:solidFill>
              <a:srgbClr val="51677B"/>
            </a:solidFill>
            <a:tailEnd type="triangle" w="sm" len="sm"/>
          </a:ln>
        </p:spPr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52275B0E-B08C-49E9-9346-8341CAAE1158}"/>
              </a:ext>
            </a:extLst>
          </p:cNvPr>
          <p:cNvCxnSpPr>
            <a:stCxn id="8" idx="3"/>
            <a:endCxn id="11" idx="1"/>
          </p:cNvCxnSpPr>
          <p:nvPr/>
        </p:nvCxnSpPr>
        <p:spPr>
          <a:xfrm>
            <a:off x="6172200" y="2386013"/>
            <a:ext cx="695325" cy="0"/>
          </a:xfrm>
          <a:prstGeom prst="straightConnector1">
            <a:avLst/>
          </a:prstGeom>
          <a:ln w="19050">
            <a:solidFill>
              <a:srgbClr val="51677B"/>
            </a:solidFill>
            <a:tailEnd type="triangle" w="sm" len="sm"/>
          </a:ln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049B7639-94FD-4E9D-B7D6-50187962DE9F}"/>
              </a:ext>
            </a:extLst>
          </p:cNvPr>
          <p:cNvCxnSpPr>
            <a:stCxn id="7" idx="3"/>
            <a:endCxn id="8" idx="1"/>
          </p:cNvCxnSpPr>
          <p:nvPr/>
        </p:nvCxnSpPr>
        <p:spPr>
          <a:xfrm flipV="1">
            <a:off x="2638425" y="2386013"/>
            <a:ext cx="638175" cy="1252538"/>
          </a:xfrm>
          <a:prstGeom prst="straightConnector1">
            <a:avLst/>
          </a:prstGeom>
          <a:ln w="19050">
            <a:solidFill>
              <a:srgbClr val="51677B"/>
            </a:solidFill>
            <a:tailEnd type="triangle" w="sm" len="sm"/>
          </a:ln>
        </p:spPr>
      </p:cxnSp>
      <p:sp>
        <p:nvSpPr>
          <p:cNvPr id="26" name="v2-shape-1027">
            <a:extLst>
              <a:ext uri="{FF2B5EF4-FFF2-40B4-BE49-F238E27FC236}">
                <a16:creationId xmlns:a16="http://schemas.microsoft.com/office/drawing/2014/main" id="{43E6FB59-200E-4DB6-B108-E916A23BB49B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33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Our proposed experimental architecture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C8D773BC-ABDF-4929-BFD2-B356F1D12801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v2-shape-1029">
            <a:extLst>
              <a:ext uri="{FF2B5EF4-FFF2-40B4-BE49-F238E27FC236}">
                <a16:creationId xmlns:a16="http://schemas.microsoft.com/office/drawing/2014/main" id="{82A624BD-F889-43D9-9223-27DE5A252E7B}"/>
              </a:ext>
            </a:extLst>
          </p:cNvPr>
          <p:cNvSpPr>
            <a:spLocks noGrp="1"/>
          </p:cNvSpPr>
          <p:nvPr/>
        </p:nvSpPr>
        <p:spPr>
          <a:xfrm>
            <a:off x="10382250" y="6486525"/>
            <a:ext cx="112395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06 / 16</a:t>
            </a:r>
          </a:p>
        </p:txBody>
      </p:sp>
      <p:sp>
        <p:nvSpPr>
          <p:cNvPr id="5" name="v2-shape-1030">
            <a:extLst>
              <a:ext uri="{FF2B5EF4-FFF2-40B4-BE49-F238E27FC236}">
                <a16:creationId xmlns:a16="http://schemas.microsoft.com/office/drawing/2014/main" id="{2DDA562C-C1EA-4E20-B777-30C37AB421E9}"/>
              </a:ext>
            </a:extLst>
          </p:cNvPr>
          <p:cNvSpPr>
            <a:spLocks noGrp="1"/>
          </p:cNvSpPr>
          <p:nvPr/>
        </p:nvSpPr>
        <p:spPr>
          <a:xfrm>
            <a:off x="685800" y="1409700"/>
            <a:ext cx="8048625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DEVELOPMENT AND MODEL CHOICE</a:t>
            </a:r>
          </a:p>
        </p:txBody>
      </p:sp>
      <p:sp>
        <p:nvSpPr>
          <p:cNvPr id="6" name="v2-shape-1031">
            <a:extLst>
              <a:ext uri="{FF2B5EF4-FFF2-40B4-BE49-F238E27FC236}">
                <a16:creationId xmlns:a16="http://schemas.microsoft.com/office/drawing/2014/main" id="{825887A9-2880-4AD0-AA04-7B8A8F1805EB}"/>
              </a:ext>
            </a:extLst>
          </p:cNvPr>
          <p:cNvSpPr>
            <a:spLocks noGrp="1"/>
          </p:cNvSpPr>
          <p:nvPr/>
        </p:nvSpPr>
        <p:spPr>
          <a:xfrm>
            <a:off x="9429750" y="1409700"/>
            <a:ext cx="207645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FINAL EVALUATION</a:t>
            </a:r>
          </a:p>
        </p:txBody>
      </p:sp>
      <p:sp>
        <p:nvSpPr>
          <p:cNvPr id="7" name="v2-shape-1032">
            <a:extLst>
              <a:ext uri="{FF2B5EF4-FFF2-40B4-BE49-F238E27FC236}">
                <a16:creationId xmlns:a16="http://schemas.microsoft.com/office/drawing/2014/main" id="{170F2FFC-BA19-4491-9091-1EEB98AD699B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1952625" cy="1295400"/>
          </a:xfrm>
          <a:prstGeom prst="rect">
            <a:avLst/>
          </a:prstGeom>
          <a:solidFill>
            <a:srgbClr val="F2F5F7"/>
          </a:solidFill>
          <a:ln w="14288">
            <a:solidFill>
              <a:srgbClr val="CDDBE2"/>
            </a:solidFill>
            <a:prstDash val="solid"/>
          </a:ln>
        </p:spPr>
        <p:txBody>
          <a:bodyPr wrap="square" lIns="114300" tIns="114300" rIns="114300" bIns="114300" anchor="ctr"/>
          <a:lstStyle>
            <a:defPPr algn="ctr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Same candidate</a:t>
            </a:r>
          </a:p>
          <a:p>
            <a:pPr algn="ctr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model pool</a:t>
            </a:r>
          </a:p>
        </p:txBody>
      </p:sp>
      <p:sp>
        <p:nvSpPr>
          <p:cNvPr id="8" name="v2-shape-1033">
            <a:extLst>
              <a:ext uri="{FF2B5EF4-FFF2-40B4-BE49-F238E27FC236}">
                <a16:creationId xmlns:a16="http://schemas.microsoft.com/office/drawing/2014/main" id="{5F9CD448-664D-423B-9D16-E973075B95A1}"/>
              </a:ext>
            </a:extLst>
          </p:cNvPr>
          <p:cNvSpPr>
            <a:spLocks noGrp="1"/>
          </p:cNvSpPr>
          <p:nvPr/>
        </p:nvSpPr>
        <p:spPr>
          <a:xfrm>
            <a:off x="3276600" y="1943100"/>
            <a:ext cx="2895600" cy="885825"/>
          </a:xfrm>
          <a:prstGeom prst="rect">
            <a:avLst/>
          </a:prstGeom>
          <a:solidFill>
            <a:srgbClr val="EAF3F3"/>
          </a:solidFill>
          <a:ln w="14288">
            <a:solidFill>
              <a:srgbClr val="007F83"/>
            </a:solidFill>
            <a:prstDash val="solid"/>
          </a:ln>
        </p:spPr>
        <p:txBody>
          <a:bodyPr wrap="square" lIns="114300" tIns="114300" rIns="114300" bIns="114300" anchor="ctr"/>
          <a:lstStyle>
            <a:defPPr algn="ctr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Published SAFE 2026</a:t>
            </a:r>
          </a:p>
        </p:txBody>
      </p:sp>
      <p:sp>
        <p:nvSpPr>
          <p:cNvPr id="9" name="v2-shape-1034">
            <a:extLst>
              <a:ext uri="{FF2B5EF4-FFF2-40B4-BE49-F238E27FC236}">
                <a16:creationId xmlns:a16="http://schemas.microsoft.com/office/drawing/2014/main" id="{0E8EB8C0-C7F8-4166-8A5A-8127D5441967}"/>
              </a:ext>
            </a:extLst>
          </p:cNvPr>
          <p:cNvSpPr>
            <a:spLocks noGrp="1"/>
          </p:cNvSpPr>
          <p:nvPr/>
        </p:nvSpPr>
        <p:spPr>
          <a:xfrm>
            <a:off x="3290977" y="4733206"/>
            <a:ext cx="2895600" cy="885825"/>
          </a:xfrm>
          <a:prstGeom prst="rect">
            <a:avLst/>
          </a:prstGeom>
          <a:solidFill>
            <a:srgbClr val="FFFFFF"/>
          </a:solidFill>
          <a:ln w="14288">
            <a:solidFill>
              <a:srgbClr val="007F83"/>
            </a:solidFill>
            <a:prstDash val="dash"/>
          </a:ln>
        </p:spPr>
        <p:txBody>
          <a:bodyPr wrap="square" lIns="114300" tIns="114300" rIns="114300" bIns="114300" anchor="ctr"/>
          <a:lstStyle>
            <a:def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Our Trustworthy AI</a:t>
            </a:r>
          </a:p>
          <a:p>
            <a:pPr algn="ctr">
              <a:defRPr sz="17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method in development</a:t>
            </a:r>
          </a:p>
        </p:txBody>
      </p:sp>
      <p:sp>
        <p:nvSpPr>
          <p:cNvPr id="11" name="v2-shape-1036">
            <a:extLst>
              <a:ext uri="{FF2B5EF4-FFF2-40B4-BE49-F238E27FC236}">
                <a16:creationId xmlns:a16="http://schemas.microsoft.com/office/drawing/2014/main" id="{26CF03E6-4314-4C5F-AEDD-1F05C1ECD848}"/>
              </a:ext>
            </a:extLst>
          </p:cNvPr>
          <p:cNvSpPr>
            <a:spLocks noGrp="1"/>
          </p:cNvSpPr>
          <p:nvPr/>
        </p:nvSpPr>
        <p:spPr>
          <a:xfrm>
            <a:off x="6867525" y="1943100"/>
            <a:ext cx="1704975" cy="885825"/>
          </a:xfrm>
          <a:prstGeom prst="rect">
            <a:avLst/>
          </a:prstGeom>
          <a:solidFill>
            <a:srgbClr val="FFFFFF"/>
          </a:solidFill>
          <a:ln w="14288">
            <a:solidFill>
              <a:srgbClr val="CDDBE2"/>
            </a:solidFill>
            <a:prstDash val="solid"/>
          </a:ln>
        </p:spPr>
        <p:txBody>
          <a:bodyPr wrap="square" lIns="114300" tIns="114300" rIns="114300" bIns="114300" anchor="ctr"/>
          <a:lstStyle>
            <a:def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Chosen</a:t>
            </a:r>
          </a:p>
          <a:p>
            <a: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2" name="v2-shape-1037">
            <a:extLst>
              <a:ext uri="{FF2B5EF4-FFF2-40B4-BE49-F238E27FC236}">
                <a16:creationId xmlns:a16="http://schemas.microsoft.com/office/drawing/2014/main" id="{4B945411-9994-4E43-9E9D-BF747DF37892}"/>
              </a:ext>
            </a:extLst>
          </p:cNvPr>
          <p:cNvSpPr>
            <a:spLocks noGrp="1"/>
          </p:cNvSpPr>
          <p:nvPr/>
        </p:nvSpPr>
        <p:spPr>
          <a:xfrm>
            <a:off x="6810016" y="4733206"/>
            <a:ext cx="1704975" cy="885825"/>
          </a:xfrm>
          <a:prstGeom prst="rect">
            <a:avLst/>
          </a:prstGeom>
          <a:solidFill>
            <a:srgbClr val="FFFFFF"/>
          </a:solidFill>
          <a:ln w="14288">
            <a:solidFill>
              <a:srgbClr val="CDDBE2"/>
            </a:solidFill>
            <a:prstDash val="solid"/>
          </a:ln>
        </p:spPr>
        <p:txBody>
          <a:bodyPr wrap="square" lIns="114300" tIns="114300" rIns="114300" bIns="114300" anchor="ctr"/>
          <a:lstStyle>
            <a:def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Chosen</a:t>
            </a:r>
          </a:p>
          <a:p>
            <a:pPr algn="ctr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model</a:t>
            </a:r>
          </a:p>
        </p:txBody>
      </p:sp>
      <p:sp>
        <p:nvSpPr>
          <p:cNvPr id="14" name="v2-shape-1039">
            <a:extLst>
              <a:ext uri="{FF2B5EF4-FFF2-40B4-BE49-F238E27FC236}">
                <a16:creationId xmlns:a16="http://schemas.microsoft.com/office/drawing/2014/main" id="{E039A4A8-AE1F-424B-B77F-2E93209540BB}"/>
              </a:ext>
            </a:extLst>
          </p:cNvPr>
          <p:cNvSpPr>
            <a:spLocks noGrp="1"/>
          </p:cNvSpPr>
          <p:nvPr/>
        </p:nvSpPr>
        <p:spPr>
          <a:xfrm>
            <a:off x="9429750" y="3209925"/>
            <a:ext cx="2076450" cy="1304925"/>
          </a:xfrm>
          <a:prstGeom prst="rect">
            <a:avLst/>
          </a:prstGeom>
          <a:solidFill>
            <a:srgbClr val="17324D"/>
          </a:solidFill>
          <a:ln w="14288">
            <a:solidFill>
              <a:srgbClr val="17324D"/>
            </a:solidFill>
            <a:prstDash val="solid"/>
          </a:ln>
        </p:spPr>
        <p:txBody>
          <a:bodyPr wrap="square" lIns="114300" tIns="114300" rIns="114300" bIns="114300" anchor="ctr"/>
          <a:lstStyle>
            <a:def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Independent</a:t>
            </a:r>
          </a:p>
          <a:p>
            <a:pPr algn="ctr">
              <a:defRPr sz="21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judge</a:t>
            </a:r>
          </a:p>
        </p:txBody>
      </p:sp>
      <p:sp>
        <p:nvSpPr>
          <p:cNvPr id="24" name="Straight Connector 23">
            <a:extLst>
              <a:ext uri="{FF2B5EF4-FFF2-40B4-BE49-F238E27FC236}">
                <a16:creationId xmlns:a16="http://schemas.microsoft.com/office/drawing/2014/main" id="{C91F9145-14BB-4EFC-9EEF-D0DA1A33D6EA}"/>
              </a:ext>
            </a:extLst>
          </p:cNvPr>
          <p:cNvSpPr>
            <a:spLocks noGrp="1"/>
          </p:cNvSpPr>
          <p:nvPr/>
        </p:nvSpPr>
        <p:spPr>
          <a:xfrm>
            <a:off x="9020175" y="1809750"/>
            <a:ext cx="0" cy="3943350"/>
          </a:xfrm>
          <a:prstGeom prst="line">
            <a:avLst/>
          </a:prstGeom>
          <a:noFill/>
          <a:ln w="14288">
            <a:solidFill>
              <a:srgbClr val="CDDBE2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25" name="v2-shape-1040">
            <a:extLst>
              <a:ext uri="{FF2B5EF4-FFF2-40B4-BE49-F238E27FC236}">
                <a16:creationId xmlns:a16="http://schemas.microsoft.com/office/drawing/2014/main" id="{84C04183-93F9-4FF6-9846-5702B475BC77}"/>
              </a:ext>
            </a:extLst>
          </p:cNvPr>
          <p:cNvSpPr>
            <a:spLocks noGrp="1"/>
          </p:cNvSpPr>
          <p:nvPr/>
        </p:nvSpPr>
        <p:spPr>
          <a:xfrm>
            <a:off x="685800" y="5886450"/>
            <a:ext cx="108204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725" b="0" dirty="0">
                <a:solidFill>
                  <a:srgbClr val="51677B"/>
                </a:solidFill>
                <a:latin typeface="Arial"/>
                <a:ea typeface="Arial"/>
                <a:cs typeface="Arial"/>
              </a:rPr>
              <a:t>Initial families: Logistic Regression, Decision Tree, Random Forest and Gradient Boosting</a:t>
            </a:r>
          </a:p>
        </p:txBody>
      </p:sp>
    </p:spTree>
    <p:extLst>
      <p:ext uri="{BB962C8B-B14F-4D97-AF65-F5344CB8AC3E}">
        <p14:creationId xmlns:p14="http://schemas.microsoft.com/office/powerpoint/2010/main" val="208806089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83">
            <a:extLst>
              <a:ext uri="{FF2B5EF4-FFF2-40B4-BE49-F238E27FC236}">
                <a16:creationId xmlns:a16="http://schemas.microsoft.com/office/drawing/2014/main" id="{AB723F4A-0B21-462E-B290-DC440518F33B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33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Brier Score and LogLoss</a:t>
            </a:r>
          </a:p>
        </p:txBody>
      </p:sp>
      <p:sp>
        <p:nvSpPr>
          <p:cNvPr id="2" name="rule-84">
            <a:extLst>
              <a:ext uri="{FF2B5EF4-FFF2-40B4-BE49-F238E27FC236}">
                <a16:creationId xmlns:a16="http://schemas.microsoft.com/office/drawing/2014/main" id="{21CD86DD-C292-4DFE-A2F6-9DC98A6A7EDF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86">
            <a:extLst>
              <a:ext uri="{FF2B5EF4-FFF2-40B4-BE49-F238E27FC236}">
                <a16:creationId xmlns:a16="http://schemas.microsoft.com/office/drawing/2014/main" id="{62617DE4-3C1A-4081-8B25-F76FAE80D693}"/>
              </a:ext>
            </a:extLst>
          </p:cNvPr>
          <p:cNvSpPr>
            <a:spLocks noGrp="1"/>
          </p:cNvSpPr>
          <p:nvPr/>
        </p:nvSpPr>
        <p:spPr>
          <a:xfrm>
            <a:off x="10382250" y="6486525"/>
            <a:ext cx="112395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07 / 16</a:t>
            </a:r>
          </a:p>
        </p:txBody>
      </p:sp>
      <p:sp>
        <p:nvSpPr>
          <p:cNvPr id="5" name="text-87">
            <a:extLst>
              <a:ext uri="{FF2B5EF4-FFF2-40B4-BE49-F238E27FC236}">
                <a16:creationId xmlns:a16="http://schemas.microsoft.com/office/drawing/2014/main" id="{9D56D49E-E122-4575-889B-22AD71196EF1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47750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75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6D26"/>
                </a:solidFill>
                <a:latin typeface="Arial"/>
                <a:ea typeface="Arial"/>
                <a:cs typeface="Arial"/>
              </a:rPr>
              <a:t>HYPOTHETICAL EXAMPLE / ACTUAL DEFAULT</a:t>
            </a:r>
          </a:p>
        </p:txBody>
      </p:sp>
      <p:sp>
        <p:nvSpPr>
          <p:cNvPr id="6" name="text-88">
            <a:extLst>
              <a:ext uri="{FF2B5EF4-FFF2-40B4-BE49-F238E27FC236}">
                <a16:creationId xmlns:a16="http://schemas.microsoft.com/office/drawing/2014/main" id="{5050B6DB-9C61-4933-A2B1-B4DD4DBA0BCC}"/>
              </a:ext>
            </a:extLst>
          </p:cNvPr>
          <p:cNvSpPr>
            <a:spLocks noGrp="1"/>
          </p:cNvSpPr>
          <p:nvPr/>
        </p:nvSpPr>
        <p:spPr>
          <a:xfrm>
            <a:off x="685800" y="1809750"/>
            <a:ext cx="10820400" cy="4381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 customer actually defaults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851B052-524F-4F6F-8B58-BD1FA5F41809}"/>
              </a:ext>
            </a:extLst>
          </p:cNvPr>
          <p:cNvGraphicFramePr/>
          <p:nvPr/>
        </p:nvGraphicFramePr>
        <p:xfrm>
          <a:off x="685800" y="2524125"/>
          <a:ext cx="10820400" cy="201930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10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73100"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Predicted risk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Brier contribution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LogLoss contribution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80%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0.0400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0.223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73100"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1%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0.9801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10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4.605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text-89">
            <a:extLst>
              <a:ext uri="{FF2B5EF4-FFF2-40B4-BE49-F238E27FC236}">
                <a16:creationId xmlns:a16="http://schemas.microsoft.com/office/drawing/2014/main" id="{CBF43A7A-0CFE-4BEE-AB6F-153F0331EBFF}"/>
              </a:ext>
            </a:extLst>
          </p:cNvPr>
          <p:cNvSpPr>
            <a:spLocks noGrp="1"/>
          </p:cNvSpPr>
          <p:nvPr/>
        </p:nvSpPr>
        <p:spPr>
          <a:xfrm>
            <a:off x="685800" y="4914900"/>
            <a:ext cx="49530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3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Brier Score</a:t>
            </a:r>
          </a:p>
        </p:txBody>
      </p:sp>
      <p:sp>
        <p:nvSpPr>
          <p:cNvPr id="9" name="text-90">
            <a:extLst>
              <a:ext uri="{FF2B5EF4-FFF2-40B4-BE49-F238E27FC236}">
                <a16:creationId xmlns:a16="http://schemas.microsoft.com/office/drawing/2014/main" id="{D0DA7BD8-4A3C-4629-810C-9383E3AA4902}"/>
              </a:ext>
            </a:extLst>
          </p:cNvPr>
          <p:cNvSpPr>
            <a:spLocks noGrp="1"/>
          </p:cNvSpPr>
          <p:nvPr/>
        </p:nvSpPr>
        <p:spPr>
          <a:xfrm>
            <a:off x="685800" y="5353050"/>
            <a:ext cx="4953000" cy="676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How accurate are the</a:t>
            </a:r>
          </a:p>
          <a:p>
            <a:pPr algn="l"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probabilities overall?</a:t>
            </a:r>
          </a:p>
        </p:txBody>
      </p:sp>
      <p:sp>
        <p:nvSpPr>
          <p:cNvPr id="10" name="text-91">
            <a:extLst>
              <a:ext uri="{FF2B5EF4-FFF2-40B4-BE49-F238E27FC236}">
                <a16:creationId xmlns:a16="http://schemas.microsoft.com/office/drawing/2014/main" id="{1AC8170F-3F7B-46CF-826A-98DF384ABD16}"/>
              </a:ext>
            </a:extLst>
          </p:cNvPr>
          <p:cNvSpPr>
            <a:spLocks noGrp="1"/>
          </p:cNvSpPr>
          <p:nvPr/>
        </p:nvSpPr>
        <p:spPr>
          <a:xfrm>
            <a:off x="6553200" y="4914900"/>
            <a:ext cx="49530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3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LogLoss</a:t>
            </a:r>
          </a:p>
        </p:txBody>
      </p:sp>
      <p:sp>
        <p:nvSpPr>
          <p:cNvPr id="11" name="text-92">
            <a:extLst>
              <a:ext uri="{FF2B5EF4-FFF2-40B4-BE49-F238E27FC236}">
                <a16:creationId xmlns:a16="http://schemas.microsoft.com/office/drawing/2014/main" id="{46615C53-856A-463E-BD79-C8BA0ABCE767}"/>
              </a:ext>
            </a:extLst>
          </p:cNvPr>
          <p:cNvSpPr>
            <a:spLocks noGrp="1"/>
          </p:cNvSpPr>
          <p:nvPr/>
        </p:nvSpPr>
        <p:spPr>
          <a:xfrm>
            <a:off x="6553200" y="5353050"/>
            <a:ext cx="4953000" cy="676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How strongly do we penalize</a:t>
            </a:r>
          </a:p>
          <a:p>
            <a:pPr algn="l"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highly confident mistakes?</a:t>
            </a:r>
          </a:p>
        </p:txBody>
      </p:sp>
      <p:sp>
        <p:nvSpPr>
          <p:cNvPr id="12" name="text-93">
            <a:extLst>
              <a:ext uri="{FF2B5EF4-FFF2-40B4-BE49-F238E27FC236}">
                <a16:creationId xmlns:a16="http://schemas.microsoft.com/office/drawing/2014/main" id="{06B9AD22-AB96-4585-9B3F-5AC49841D4AC}"/>
              </a:ext>
            </a:extLst>
          </p:cNvPr>
          <p:cNvSpPr>
            <a:spLocks noGrp="1"/>
          </p:cNvSpPr>
          <p:nvPr/>
        </p:nvSpPr>
        <p:spPr>
          <a:xfrm>
            <a:off x="685800" y="6134100"/>
            <a:ext cx="10820400" cy="2286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3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3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Proposed primary: Brier. LogLoss: secondary or co-primary. Lower is better for both.</a:t>
            </a:r>
          </a:p>
        </p:txBody>
      </p:sp>
    </p:spTree>
    <p:extLst>
      <p:ext uri="{BB962C8B-B14F-4D97-AF65-F5344CB8AC3E}">
        <p14:creationId xmlns:p14="http://schemas.microsoft.com/office/powerpoint/2010/main" val="9834646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94">
            <a:extLst>
              <a:ext uri="{FF2B5EF4-FFF2-40B4-BE49-F238E27FC236}">
                <a16:creationId xmlns:a16="http://schemas.microsoft.com/office/drawing/2014/main" id="{6515AE9D-077D-41E1-B094-00E244996CD9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33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Calibration makes risk percentages meaningful</a:t>
            </a:r>
          </a:p>
        </p:txBody>
      </p:sp>
      <p:sp>
        <p:nvSpPr>
          <p:cNvPr id="2" name="rule-95">
            <a:extLst>
              <a:ext uri="{FF2B5EF4-FFF2-40B4-BE49-F238E27FC236}">
                <a16:creationId xmlns:a16="http://schemas.microsoft.com/office/drawing/2014/main" id="{4BE6B3CB-A3E9-4CBF-BB76-422BF0E82B96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97">
            <a:extLst>
              <a:ext uri="{FF2B5EF4-FFF2-40B4-BE49-F238E27FC236}">
                <a16:creationId xmlns:a16="http://schemas.microsoft.com/office/drawing/2014/main" id="{DD9B9A84-3011-4215-9D8B-820FC34C1069}"/>
              </a:ext>
            </a:extLst>
          </p:cNvPr>
          <p:cNvSpPr>
            <a:spLocks noGrp="1"/>
          </p:cNvSpPr>
          <p:nvPr/>
        </p:nvSpPr>
        <p:spPr>
          <a:xfrm>
            <a:off x="10382250" y="6486525"/>
            <a:ext cx="112395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08 / 16</a:t>
            </a:r>
          </a:p>
        </p:txBody>
      </p:sp>
      <p:sp>
        <p:nvSpPr>
          <p:cNvPr id="5" name="text-98">
            <a:extLst>
              <a:ext uri="{FF2B5EF4-FFF2-40B4-BE49-F238E27FC236}">
                <a16:creationId xmlns:a16="http://schemas.microsoft.com/office/drawing/2014/main" id="{FB19AA6C-55E1-430A-9FCB-AB44541C563A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47750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75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6D26"/>
                </a:solidFill>
                <a:latin typeface="Arial"/>
                <a:ea typeface="Arial"/>
                <a:cs typeface="Arial"/>
              </a:rPr>
              <a:t>HYPOTHETICAL CALIBRATION GROUP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F573CE7D-B124-4161-A832-3F8E40F10071}"/>
              </a:ext>
            </a:extLst>
          </p:cNvPr>
          <p:cNvGraphicFramePr/>
          <p:nvPr/>
        </p:nvGraphicFramePr>
        <p:xfrm>
          <a:off x="685800" y="2000250"/>
          <a:ext cx="5715000" cy="37719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-99">
            <a:extLst>
              <a:ext uri="{FF2B5EF4-FFF2-40B4-BE49-F238E27FC236}">
                <a16:creationId xmlns:a16="http://schemas.microsoft.com/office/drawing/2014/main" id="{C1AB02CD-5AE8-46B2-A3B7-221DC797B2E8}"/>
              </a:ext>
            </a:extLst>
          </p:cNvPr>
          <p:cNvSpPr>
            <a:spLocks noGrp="1"/>
          </p:cNvSpPr>
          <p:nvPr/>
        </p:nvSpPr>
        <p:spPr>
          <a:xfrm>
            <a:off x="7162800" y="2095500"/>
            <a:ext cx="4343400" cy="5048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7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7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7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1,000 customers</a:t>
            </a:r>
          </a:p>
        </p:txBody>
      </p:sp>
      <p:sp>
        <p:nvSpPr>
          <p:cNvPr id="8" name="text-100">
            <a:extLst>
              <a:ext uri="{FF2B5EF4-FFF2-40B4-BE49-F238E27FC236}">
                <a16:creationId xmlns:a16="http://schemas.microsoft.com/office/drawing/2014/main" id="{DA6DA93A-366C-4CD6-8618-47625A164790}"/>
              </a:ext>
            </a:extLst>
          </p:cNvPr>
          <p:cNvSpPr>
            <a:spLocks noGrp="1"/>
          </p:cNvSpPr>
          <p:nvPr/>
        </p:nvSpPr>
        <p:spPr>
          <a:xfrm>
            <a:off x="7162800" y="2638425"/>
            <a:ext cx="4343400" cy="6381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Each assigned about 20% risk</a:t>
            </a:r>
          </a:p>
        </p:txBody>
      </p:sp>
      <p:sp>
        <p:nvSpPr>
          <p:cNvPr id="9" name="text-101">
            <a:extLst>
              <a:ext uri="{FF2B5EF4-FFF2-40B4-BE49-F238E27FC236}">
                <a16:creationId xmlns:a16="http://schemas.microsoft.com/office/drawing/2014/main" id="{4AFD5570-2C76-4E6C-AE68-BD1A02AD3EF7}"/>
              </a:ext>
            </a:extLst>
          </p:cNvPr>
          <p:cNvSpPr>
            <a:spLocks noGrp="1"/>
          </p:cNvSpPr>
          <p:nvPr/>
        </p:nvSpPr>
        <p:spPr>
          <a:xfrm>
            <a:off x="7162800" y="3552825"/>
            <a:ext cx="4343400" cy="4191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2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200 expected defaults</a:t>
            </a:r>
          </a:p>
        </p:txBody>
      </p:sp>
      <p:sp>
        <p:nvSpPr>
          <p:cNvPr id="10" name="text-102">
            <a:extLst>
              <a:ext uri="{FF2B5EF4-FFF2-40B4-BE49-F238E27FC236}">
                <a16:creationId xmlns:a16="http://schemas.microsoft.com/office/drawing/2014/main" id="{99C64F3D-6E77-4082-8E6F-3E9276BCDF4C}"/>
              </a:ext>
            </a:extLst>
          </p:cNvPr>
          <p:cNvSpPr>
            <a:spLocks noGrp="1"/>
          </p:cNvSpPr>
          <p:nvPr/>
        </p:nvSpPr>
        <p:spPr>
          <a:xfrm>
            <a:off x="7162800" y="4124325"/>
            <a:ext cx="4343400" cy="4191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250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A96D26"/>
                </a:solidFill>
                <a:latin typeface="Arial"/>
                <a:ea typeface="Arial"/>
                <a:cs typeface="Arial"/>
              </a:rPr>
              <a:t>400 actual defaults</a:t>
            </a:r>
          </a:p>
        </p:txBody>
      </p:sp>
      <p:sp>
        <p:nvSpPr>
          <p:cNvPr id="11" name="text-103">
            <a:extLst>
              <a:ext uri="{FF2B5EF4-FFF2-40B4-BE49-F238E27FC236}">
                <a16:creationId xmlns:a16="http://schemas.microsoft.com/office/drawing/2014/main" id="{FF1413F4-B397-48AC-BC1C-0352A54E95F0}"/>
              </a:ext>
            </a:extLst>
          </p:cNvPr>
          <p:cNvSpPr>
            <a:spLocks noGrp="1"/>
          </p:cNvSpPr>
          <p:nvPr/>
        </p:nvSpPr>
        <p:spPr>
          <a:xfrm>
            <a:off x="7162800" y="4657725"/>
            <a:ext cx="43434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75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475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pPr>
            <a:r>
              <a:rPr sz="2475" b="1">
                <a:solidFill>
                  <a:srgbClr val="A96D26"/>
                </a:solidFill>
                <a:latin typeface="Arial"/>
                <a:ea typeface="Arial"/>
                <a:cs typeface="Arial"/>
              </a:rPr>
              <a:t>40% observed</a:t>
            </a:r>
          </a:p>
        </p:txBody>
      </p:sp>
      <p:sp>
        <p:nvSpPr>
          <p:cNvPr id="12" name="text-104">
            <a:extLst>
              <a:ext uri="{FF2B5EF4-FFF2-40B4-BE49-F238E27FC236}">
                <a16:creationId xmlns:a16="http://schemas.microsoft.com/office/drawing/2014/main" id="{E2633772-DE50-4F10-B6C5-662C5D07C70F}"/>
              </a:ext>
            </a:extLst>
          </p:cNvPr>
          <p:cNvSpPr>
            <a:spLocks noGrp="1"/>
          </p:cNvSpPr>
          <p:nvPr/>
        </p:nvSpPr>
        <p:spPr>
          <a:xfrm>
            <a:off x="7162800" y="5372100"/>
            <a:ext cx="4343400" cy="666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Risk is underestimated for this group.</a:t>
            </a:r>
          </a:p>
        </p:txBody>
      </p:sp>
    </p:spTree>
    <p:extLst>
      <p:ext uri="{BB962C8B-B14F-4D97-AF65-F5344CB8AC3E}">
        <p14:creationId xmlns:p14="http://schemas.microsoft.com/office/powerpoint/2010/main" val="16181468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text-105">
            <a:extLst>
              <a:ext uri="{FF2B5EF4-FFF2-40B4-BE49-F238E27FC236}">
                <a16:creationId xmlns:a16="http://schemas.microsoft.com/office/drawing/2014/main" id="{4735DEFD-3506-4A15-A643-4600ACE7E793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33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Capture@q under limited review capacity</a:t>
            </a:r>
          </a:p>
        </p:txBody>
      </p:sp>
      <p:sp>
        <p:nvSpPr>
          <p:cNvPr id="2" name="rule-106">
            <a:extLst>
              <a:ext uri="{FF2B5EF4-FFF2-40B4-BE49-F238E27FC236}">
                <a16:creationId xmlns:a16="http://schemas.microsoft.com/office/drawing/2014/main" id="{BE76EAB3-36A4-435F-A557-1C94E1E1D9A1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108">
            <a:extLst>
              <a:ext uri="{FF2B5EF4-FFF2-40B4-BE49-F238E27FC236}">
                <a16:creationId xmlns:a16="http://schemas.microsoft.com/office/drawing/2014/main" id="{E0C73363-15CE-4524-B9BC-63A0AE7DDEAF}"/>
              </a:ext>
            </a:extLst>
          </p:cNvPr>
          <p:cNvSpPr>
            <a:spLocks noGrp="1"/>
          </p:cNvSpPr>
          <p:nvPr/>
        </p:nvSpPr>
        <p:spPr>
          <a:xfrm>
            <a:off x="10382250" y="6486525"/>
            <a:ext cx="112395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09 / 16</a:t>
            </a:r>
          </a:p>
        </p:txBody>
      </p:sp>
      <p:sp>
        <p:nvSpPr>
          <p:cNvPr id="5" name="text-109">
            <a:extLst>
              <a:ext uri="{FF2B5EF4-FFF2-40B4-BE49-F238E27FC236}">
                <a16:creationId xmlns:a16="http://schemas.microsoft.com/office/drawing/2014/main" id="{92C2F466-8A7B-4518-93EB-8E20ACF5CEE5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47750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75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6D26"/>
                </a:solidFill>
                <a:latin typeface="Arial"/>
                <a:ea typeface="Arial"/>
                <a:cs typeface="Arial"/>
              </a:rPr>
              <a:t>HYPOTHETICAL EXAMPLE / REVIEW CAPACITY</a:t>
            </a:r>
          </a:p>
        </p:txBody>
      </p:sp>
      <p:sp>
        <p:nvSpPr>
          <p:cNvPr id="6" name="text-110">
            <a:extLst>
              <a:ext uri="{FF2B5EF4-FFF2-40B4-BE49-F238E27FC236}">
                <a16:creationId xmlns:a16="http://schemas.microsoft.com/office/drawing/2014/main" id="{7D95EC8E-90AD-478E-B2C8-8804F5B3B3E0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4381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100 customers, including 20 actual defaulters</a:t>
            </a:r>
          </a:p>
        </p:txBody>
      </p:sp>
      <p:sp>
        <p:nvSpPr>
          <p:cNvPr id="7" name="review-capacity-outline-111">
            <a:extLst>
              <a:ext uri="{FF2B5EF4-FFF2-40B4-BE49-F238E27FC236}">
                <a16:creationId xmlns:a16="http://schemas.microsoft.com/office/drawing/2014/main" id="{79BCAC93-0F39-488E-A6BC-C1F920B32E0E}"/>
              </a:ext>
            </a:extLst>
          </p:cNvPr>
          <p:cNvSpPr>
            <a:spLocks noGrp="1"/>
          </p:cNvSpPr>
          <p:nvPr/>
        </p:nvSpPr>
        <p:spPr>
          <a:xfrm>
            <a:off x="590550" y="2390775"/>
            <a:ext cx="4810125" cy="419100"/>
          </a:xfrm>
          <a:prstGeom prst="rect">
            <a:avLst/>
          </a:prstGeom>
          <a:solidFill>
            <a:srgbClr val="EAF3F3"/>
          </a:solidFill>
          <a:ln w="14288">
            <a:solidFill>
              <a:srgbClr val="007F8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5563C9F9-ECC6-41D5-8D99-59BA6DE89510}"/>
              </a:ext>
            </a:extLst>
          </p:cNvPr>
          <p:cNvSpPr>
            <a:spLocks noGrp="1"/>
          </p:cNvSpPr>
          <p:nvPr/>
        </p:nvSpPr>
        <p:spPr>
          <a:xfrm>
            <a:off x="723900" y="2505075"/>
            <a:ext cx="171450" cy="171450"/>
          </a:xfrm>
          <a:prstGeom prst="ellipse">
            <a:avLst/>
          </a:prstGeom>
          <a:solidFill>
            <a:srgbClr val="007F83"/>
          </a:solidFill>
          <a:ln w="16193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6E5745D4-BBDB-41F4-977B-262C99D42665}"/>
              </a:ext>
            </a:extLst>
          </p:cNvPr>
          <p:cNvSpPr>
            <a:spLocks noGrp="1"/>
          </p:cNvSpPr>
          <p:nvPr/>
        </p:nvSpPr>
        <p:spPr>
          <a:xfrm>
            <a:off x="1190625" y="2505075"/>
            <a:ext cx="171450" cy="171450"/>
          </a:xfrm>
          <a:prstGeom prst="ellipse">
            <a:avLst/>
          </a:prstGeom>
          <a:solidFill>
            <a:srgbClr val="007F83"/>
          </a:solidFill>
          <a:ln w="16193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0586276-DE82-4B4B-8761-DBB954293EE9}"/>
              </a:ext>
            </a:extLst>
          </p:cNvPr>
          <p:cNvSpPr>
            <a:spLocks noGrp="1"/>
          </p:cNvSpPr>
          <p:nvPr/>
        </p:nvSpPr>
        <p:spPr>
          <a:xfrm>
            <a:off x="1657350" y="2505075"/>
            <a:ext cx="171450" cy="171450"/>
          </a:xfrm>
          <a:prstGeom prst="ellipse">
            <a:avLst/>
          </a:prstGeom>
          <a:solidFill>
            <a:srgbClr val="007F83"/>
          </a:solidFill>
          <a:ln w="16193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BB3F2A15-485A-4639-AE12-60B7C5658563}"/>
              </a:ext>
            </a:extLst>
          </p:cNvPr>
          <p:cNvSpPr>
            <a:spLocks noGrp="1"/>
          </p:cNvSpPr>
          <p:nvPr/>
        </p:nvSpPr>
        <p:spPr>
          <a:xfrm>
            <a:off x="2124075" y="2505075"/>
            <a:ext cx="171450" cy="171450"/>
          </a:xfrm>
          <a:prstGeom prst="ellipse">
            <a:avLst/>
          </a:prstGeom>
          <a:solidFill>
            <a:srgbClr val="007F83"/>
          </a:solidFill>
          <a:ln w="16193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3C57A904-E77A-4CBC-B858-7C00388DD243}"/>
              </a:ext>
            </a:extLst>
          </p:cNvPr>
          <p:cNvSpPr>
            <a:spLocks noGrp="1"/>
          </p:cNvSpPr>
          <p:nvPr/>
        </p:nvSpPr>
        <p:spPr>
          <a:xfrm>
            <a:off x="2590800" y="2505075"/>
            <a:ext cx="171450" cy="171450"/>
          </a:xfrm>
          <a:prstGeom prst="ellipse">
            <a:avLst/>
          </a:prstGeom>
          <a:solidFill>
            <a:srgbClr val="007F83"/>
          </a:solidFill>
          <a:ln w="16193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AC9E490-A1EB-41CB-9CB2-E71A65FC9E8D}"/>
              </a:ext>
            </a:extLst>
          </p:cNvPr>
          <p:cNvSpPr>
            <a:spLocks noGrp="1"/>
          </p:cNvSpPr>
          <p:nvPr/>
        </p:nvSpPr>
        <p:spPr>
          <a:xfrm>
            <a:off x="3057525" y="2505075"/>
            <a:ext cx="171450" cy="171450"/>
          </a:xfrm>
          <a:prstGeom prst="ellipse">
            <a:avLst/>
          </a:prstGeom>
          <a:solidFill>
            <a:srgbClr val="007F83"/>
          </a:solidFill>
          <a:ln w="16193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A20465AB-A7DD-4A7C-A333-32A5CFF1F35E}"/>
              </a:ext>
            </a:extLst>
          </p:cNvPr>
          <p:cNvSpPr>
            <a:spLocks noGrp="1"/>
          </p:cNvSpPr>
          <p:nvPr/>
        </p:nvSpPr>
        <p:spPr>
          <a:xfrm>
            <a:off x="3524250" y="25050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4CAD6D7A-8A97-4DE8-AE9C-05B855C7E6FB}"/>
              </a:ext>
            </a:extLst>
          </p:cNvPr>
          <p:cNvSpPr>
            <a:spLocks noGrp="1"/>
          </p:cNvSpPr>
          <p:nvPr/>
        </p:nvSpPr>
        <p:spPr>
          <a:xfrm>
            <a:off x="3990975" y="25050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714B424F-28E0-4917-986D-A272F1DB04FD}"/>
              </a:ext>
            </a:extLst>
          </p:cNvPr>
          <p:cNvSpPr>
            <a:spLocks noGrp="1"/>
          </p:cNvSpPr>
          <p:nvPr/>
        </p:nvSpPr>
        <p:spPr>
          <a:xfrm>
            <a:off x="4457700" y="25050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ED5F73AA-4F3E-4961-9CC5-D5FF39B7DDD7}"/>
              </a:ext>
            </a:extLst>
          </p:cNvPr>
          <p:cNvSpPr>
            <a:spLocks noGrp="1"/>
          </p:cNvSpPr>
          <p:nvPr/>
        </p:nvSpPr>
        <p:spPr>
          <a:xfrm>
            <a:off x="4924425" y="25050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1484C1FE-DB9F-42AE-8121-A67506581532}"/>
              </a:ext>
            </a:extLst>
          </p:cNvPr>
          <p:cNvSpPr>
            <a:spLocks noGrp="1"/>
          </p:cNvSpPr>
          <p:nvPr/>
        </p:nvSpPr>
        <p:spPr>
          <a:xfrm>
            <a:off x="723900" y="2800350"/>
            <a:ext cx="171450" cy="171450"/>
          </a:xfrm>
          <a:prstGeom prst="ellipse">
            <a:avLst/>
          </a:prstGeom>
          <a:solidFill>
            <a:srgbClr val="007F83"/>
          </a:solidFill>
          <a:ln w="16193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329BB84-4991-43F9-BA17-0DDFC2B956FD}"/>
              </a:ext>
            </a:extLst>
          </p:cNvPr>
          <p:cNvSpPr>
            <a:spLocks noGrp="1"/>
          </p:cNvSpPr>
          <p:nvPr/>
        </p:nvSpPr>
        <p:spPr>
          <a:xfrm>
            <a:off x="1190625" y="2800350"/>
            <a:ext cx="171450" cy="171450"/>
          </a:xfrm>
          <a:prstGeom prst="ellipse">
            <a:avLst/>
          </a:prstGeom>
          <a:solidFill>
            <a:srgbClr val="007F83"/>
          </a:solidFill>
          <a:ln w="16193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D08F33F3-8FEF-432F-8A8D-4787FB801AA4}"/>
              </a:ext>
            </a:extLst>
          </p:cNvPr>
          <p:cNvSpPr>
            <a:spLocks noGrp="1"/>
          </p:cNvSpPr>
          <p:nvPr/>
        </p:nvSpPr>
        <p:spPr>
          <a:xfrm>
            <a:off x="1657350" y="2800350"/>
            <a:ext cx="171450" cy="171450"/>
          </a:xfrm>
          <a:prstGeom prst="ellipse">
            <a:avLst/>
          </a:prstGeom>
          <a:solidFill>
            <a:srgbClr val="007F83"/>
          </a:solidFill>
          <a:ln w="16193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5117E782-817A-45F6-867B-5DB7B14B6952}"/>
              </a:ext>
            </a:extLst>
          </p:cNvPr>
          <p:cNvSpPr>
            <a:spLocks noGrp="1"/>
          </p:cNvSpPr>
          <p:nvPr/>
        </p:nvSpPr>
        <p:spPr>
          <a:xfrm>
            <a:off x="2124075" y="2800350"/>
            <a:ext cx="171450" cy="171450"/>
          </a:xfrm>
          <a:prstGeom prst="ellipse">
            <a:avLst/>
          </a:prstGeom>
          <a:solidFill>
            <a:srgbClr val="007F83"/>
          </a:solidFill>
          <a:ln w="16193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37FBF308-5AA2-45AC-BF3C-AECF864F3B2C}"/>
              </a:ext>
            </a:extLst>
          </p:cNvPr>
          <p:cNvSpPr>
            <a:spLocks noGrp="1"/>
          </p:cNvSpPr>
          <p:nvPr/>
        </p:nvSpPr>
        <p:spPr>
          <a:xfrm>
            <a:off x="2590800" y="2800350"/>
            <a:ext cx="171450" cy="171450"/>
          </a:xfrm>
          <a:prstGeom prst="ellipse">
            <a:avLst/>
          </a:prstGeom>
          <a:solidFill>
            <a:srgbClr val="007F83"/>
          </a:solidFill>
          <a:ln w="16193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4521035-6B96-4354-A7E1-ED29D94AA410}"/>
              </a:ext>
            </a:extLst>
          </p:cNvPr>
          <p:cNvSpPr>
            <a:spLocks noGrp="1"/>
          </p:cNvSpPr>
          <p:nvPr/>
        </p:nvSpPr>
        <p:spPr>
          <a:xfrm>
            <a:off x="3057525" y="2800350"/>
            <a:ext cx="171450" cy="171450"/>
          </a:xfrm>
          <a:prstGeom prst="ellipse">
            <a:avLst/>
          </a:prstGeom>
          <a:solidFill>
            <a:srgbClr val="007F83"/>
          </a:solidFill>
          <a:ln w="16193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4E1DAFE-6FE5-4ABC-9978-83A9170D06D1}"/>
              </a:ext>
            </a:extLst>
          </p:cNvPr>
          <p:cNvSpPr>
            <a:spLocks noGrp="1"/>
          </p:cNvSpPr>
          <p:nvPr/>
        </p:nvSpPr>
        <p:spPr>
          <a:xfrm>
            <a:off x="3524250" y="2800350"/>
            <a:ext cx="171450" cy="171450"/>
          </a:xfrm>
          <a:prstGeom prst="ellipse">
            <a:avLst/>
          </a:prstGeom>
          <a:solidFill>
            <a:srgbClr val="007F83"/>
          </a:solidFill>
          <a:ln w="16193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9A0F1465-FE63-48F2-AD20-45024212A7D3}"/>
              </a:ext>
            </a:extLst>
          </p:cNvPr>
          <p:cNvSpPr>
            <a:spLocks noGrp="1"/>
          </p:cNvSpPr>
          <p:nvPr/>
        </p:nvSpPr>
        <p:spPr>
          <a:xfrm>
            <a:off x="3990975" y="2800350"/>
            <a:ext cx="171450" cy="171450"/>
          </a:xfrm>
          <a:prstGeom prst="ellipse">
            <a:avLst/>
          </a:prstGeom>
          <a:solidFill>
            <a:srgbClr val="007F83"/>
          </a:solidFill>
          <a:ln w="16193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100072F7-61F5-449D-A495-6DF7FB51C49A}"/>
              </a:ext>
            </a:extLst>
          </p:cNvPr>
          <p:cNvSpPr>
            <a:spLocks noGrp="1"/>
          </p:cNvSpPr>
          <p:nvPr/>
        </p:nvSpPr>
        <p:spPr>
          <a:xfrm>
            <a:off x="4457700" y="2800350"/>
            <a:ext cx="171450" cy="171450"/>
          </a:xfrm>
          <a:prstGeom prst="ellipse">
            <a:avLst/>
          </a:prstGeom>
          <a:solidFill>
            <a:srgbClr val="007F83"/>
          </a:solidFill>
          <a:ln w="16193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7" name="Oval 26">
            <a:extLst>
              <a:ext uri="{FF2B5EF4-FFF2-40B4-BE49-F238E27FC236}">
                <a16:creationId xmlns:a16="http://schemas.microsoft.com/office/drawing/2014/main" id="{5ED9B7D3-F0AA-4D2D-8261-9A63AB245461}"/>
              </a:ext>
            </a:extLst>
          </p:cNvPr>
          <p:cNvSpPr>
            <a:spLocks noGrp="1"/>
          </p:cNvSpPr>
          <p:nvPr/>
        </p:nvSpPr>
        <p:spPr>
          <a:xfrm>
            <a:off x="4924425" y="2800350"/>
            <a:ext cx="171450" cy="171450"/>
          </a:xfrm>
          <a:prstGeom prst="ellipse">
            <a:avLst/>
          </a:prstGeom>
          <a:solidFill>
            <a:srgbClr val="007F83"/>
          </a:solidFill>
          <a:ln w="16193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627EA3D8-2F9C-422D-8A4E-8EE7C3582F45}"/>
              </a:ext>
            </a:extLst>
          </p:cNvPr>
          <p:cNvSpPr>
            <a:spLocks noGrp="1"/>
          </p:cNvSpPr>
          <p:nvPr/>
        </p:nvSpPr>
        <p:spPr>
          <a:xfrm>
            <a:off x="723900" y="3095625"/>
            <a:ext cx="171450" cy="171450"/>
          </a:xfrm>
          <a:prstGeom prst="ellipse">
            <a:avLst/>
          </a:prstGeom>
          <a:solidFill>
            <a:srgbClr val="007F83"/>
          </a:solidFill>
          <a:ln w="16193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29" name="Oval 28">
            <a:extLst>
              <a:ext uri="{FF2B5EF4-FFF2-40B4-BE49-F238E27FC236}">
                <a16:creationId xmlns:a16="http://schemas.microsoft.com/office/drawing/2014/main" id="{D5A59F1A-03F6-4197-835E-E453BA7CC7B3}"/>
              </a:ext>
            </a:extLst>
          </p:cNvPr>
          <p:cNvSpPr>
            <a:spLocks noGrp="1"/>
          </p:cNvSpPr>
          <p:nvPr/>
        </p:nvSpPr>
        <p:spPr>
          <a:xfrm>
            <a:off x="1190625" y="3095625"/>
            <a:ext cx="171450" cy="171450"/>
          </a:xfrm>
          <a:prstGeom prst="ellipse">
            <a:avLst/>
          </a:prstGeom>
          <a:solidFill>
            <a:srgbClr val="007F83"/>
          </a:solidFill>
          <a:ln w="16193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DD3D9674-BD77-48A5-BCF5-894D7FC2F5E3}"/>
              </a:ext>
            </a:extLst>
          </p:cNvPr>
          <p:cNvSpPr>
            <a:spLocks noGrp="1"/>
          </p:cNvSpPr>
          <p:nvPr/>
        </p:nvSpPr>
        <p:spPr>
          <a:xfrm>
            <a:off x="1657350" y="3095625"/>
            <a:ext cx="171450" cy="171450"/>
          </a:xfrm>
          <a:prstGeom prst="ellipse">
            <a:avLst/>
          </a:prstGeom>
          <a:solidFill>
            <a:srgbClr val="007F83"/>
          </a:solidFill>
          <a:ln w="16193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1" name="Oval 30">
            <a:extLst>
              <a:ext uri="{FF2B5EF4-FFF2-40B4-BE49-F238E27FC236}">
                <a16:creationId xmlns:a16="http://schemas.microsoft.com/office/drawing/2014/main" id="{A9F3AF45-778E-4189-8EF7-799ECD0060DE}"/>
              </a:ext>
            </a:extLst>
          </p:cNvPr>
          <p:cNvSpPr>
            <a:spLocks noGrp="1"/>
          </p:cNvSpPr>
          <p:nvPr/>
        </p:nvSpPr>
        <p:spPr>
          <a:xfrm>
            <a:off x="2124075" y="3095625"/>
            <a:ext cx="171450" cy="171450"/>
          </a:xfrm>
          <a:prstGeom prst="ellipse">
            <a:avLst/>
          </a:prstGeom>
          <a:solidFill>
            <a:srgbClr val="007F83"/>
          </a:solidFill>
          <a:ln w="16193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200493C1-7B0E-4117-9BCC-178F58CE30F4}"/>
              </a:ext>
            </a:extLst>
          </p:cNvPr>
          <p:cNvSpPr>
            <a:spLocks noGrp="1"/>
          </p:cNvSpPr>
          <p:nvPr/>
        </p:nvSpPr>
        <p:spPr>
          <a:xfrm>
            <a:off x="2590800" y="309562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071569CC-D344-4424-8F64-1DE3A800BAEF}"/>
              </a:ext>
            </a:extLst>
          </p:cNvPr>
          <p:cNvSpPr>
            <a:spLocks noGrp="1"/>
          </p:cNvSpPr>
          <p:nvPr/>
        </p:nvSpPr>
        <p:spPr>
          <a:xfrm>
            <a:off x="3057525" y="309562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63168E30-F434-4D47-9CEE-4CA7A61BF8BB}"/>
              </a:ext>
            </a:extLst>
          </p:cNvPr>
          <p:cNvSpPr>
            <a:spLocks noGrp="1"/>
          </p:cNvSpPr>
          <p:nvPr/>
        </p:nvSpPr>
        <p:spPr>
          <a:xfrm>
            <a:off x="3524250" y="309562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5" name="Oval 34">
            <a:extLst>
              <a:ext uri="{FF2B5EF4-FFF2-40B4-BE49-F238E27FC236}">
                <a16:creationId xmlns:a16="http://schemas.microsoft.com/office/drawing/2014/main" id="{53C68C9A-6608-483F-A217-06AF55710AF5}"/>
              </a:ext>
            </a:extLst>
          </p:cNvPr>
          <p:cNvSpPr>
            <a:spLocks noGrp="1"/>
          </p:cNvSpPr>
          <p:nvPr/>
        </p:nvSpPr>
        <p:spPr>
          <a:xfrm>
            <a:off x="3990975" y="309562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6" name="Oval 35">
            <a:extLst>
              <a:ext uri="{FF2B5EF4-FFF2-40B4-BE49-F238E27FC236}">
                <a16:creationId xmlns:a16="http://schemas.microsoft.com/office/drawing/2014/main" id="{6F511081-76E2-41AF-9D10-BDF7A1DAC219}"/>
              </a:ext>
            </a:extLst>
          </p:cNvPr>
          <p:cNvSpPr>
            <a:spLocks noGrp="1"/>
          </p:cNvSpPr>
          <p:nvPr/>
        </p:nvSpPr>
        <p:spPr>
          <a:xfrm>
            <a:off x="4457700" y="309562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7" name="Oval 36">
            <a:extLst>
              <a:ext uri="{FF2B5EF4-FFF2-40B4-BE49-F238E27FC236}">
                <a16:creationId xmlns:a16="http://schemas.microsoft.com/office/drawing/2014/main" id="{FA5DB156-D1D1-47A5-9C1C-2BCB4E31175C}"/>
              </a:ext>
            </a:extLst>
          </p:cNvPr>
          <p:cNvSpPr>
            <a:spLocks noGrp="1"/>
          </p:cNvSpPr>
          <p:nvPr/>
        </p:nvSpPr>
        <p:spPr>
          <a:xfrm>
            <a:off x="4924425" y="309562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8" name="Oval 37">
            <a:extLst>
              <a:ext uri="{FF2B5EF4-FFF2-40B4-BE49-F238E27FC236}">
                <a16:creationId xmlns:a16="http://schemas.microsoft.com/office/drawing/2014/main" id="{5D00DEE1-38A6-410C-9645-76B05B43C67C}"/>
              </a:ext>
            </a:extLst>
          </p:cNvPr>
          <p:cNvSpPr>
            <a:spLocks noGrp="1"/>
          </p:cNvSpPr>
          <p:nvPr/>
        </p:nvSpPr>
        <p:spPr>
          <a:xfrm>
            <a:off x="723900" y="339090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5A57DDAF-19C2-4E17-98C3-1228C29AF65F}"/>
              </a:ext>
            </a:extLst>
          </p:cNvPr>
          <p:cNvSpPr>
            <a:spLocks noGrp="1"/>
          </p:cNvSpPr>
          <p:nvPr/>
        </p:nvSpPr>
        <p:spPr>
          <a:xfrm>
            <a:off x="1190625" y="339090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0" name="Oval 39">
            <a:extLst>
              <a:ext uri="{FF2B5EF4-FFF2-40B4-BE49-F238E27FC236}">
                <a16:creationId xmlns:a16="http://schemas.microsoft.com/office/drawing/2014/main" id="{8D5C81E7-BCEF-432C-A690-87083651301D}"/>
              </a:ext>
            </a:extLst>
          </p:cNvPr>
          <p:cNvSpPr>
            <a:spLocks noGrp="1"/>
          </p:cNvSpPr>
          <p:nvPr/>
        </p:nvSpPr>
        <p:spPr>
          <a:xfrm>
            <a:off x="1657350" y="339090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1" name="Oval 40">
            <a:extLst>
              <a:ext uri="{FF2B5EF4-FFF2-40B4-BE49-F238E27FC236}">
                <a16:creationId xmlns:a16="http://schemas.microsoft.com/office/drawing/2014/main" id="{1471710E-B264-4B2C-AAF3-7816371A4B29}"/>
              </a:ext>
            </a:extLst>
          </p:cNvPr>
          <p:cNvSpPr>
            <a:spLocks noGrp="1"/>
          </p:cNvSpPr>
          <p:nvPr/>
        </p:nvSpPr>
        <p:spPr>
          <a:xfrm>
            <a:off x="2124075" y="339090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DADD6DD2-2095-44B0-A9AE-6C7ADE0E7681}"/>
              </a:ext>
            </a:extLst>
          </p:cNvPr>
          <p:cNvSpPr>
            <a:spLocks noGrp="1"/>
          </p:cNvSpPr>
          <p:nvPr/>
        </p:nvSpPr>
        <p:spPr>
          <a:xfrm>
            <a:off x="2590800" y="339090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3" name="Oval 42">
            <a:extLst>
              <a:ext uri="{FF2B5EF4-FFF2-40B4-BE49-F238E27FC236}">
                <a16:creationId xmlns:a16="http://schemas.microsoft.com/office/drawing/2014/main" id="{820E1C7F-FFD0-4649-97A2-2547E4D61F2B}"/>
              </a:ext>
            </a:extLst>
          </p:cNvPr>
          <p:cNvSpPr>
            <a:spLocks noGrp="1"/>
          </p:cNvSpPr>
          <p:nvPr/>
        </p:nvSpPr>
        <p:spPr>
          <a:xfrm>
            <a:off x="3057525" y="339090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4" name="Oval 43">
            <a:extLst>
              <a:ext uri="{FF2B5EF4-FFF2-40B4-BE49-F238E27FC236}">
                <a16:creationId xmlns:a16="http://schemas.microsoft.com/office/drawing/2014/main" id="{190B46AF-CE2D-40CD-AB3C-B5211398A2C8}"/>
              </a:ext>
            </a:extLst>
          </p:cNvPr>
          <p:cNvSpPr>
            <a:spLocks noGrp="1"/>
          </p:cNvSpPr>
          <p:nvPr/>
        </p:nvSpPr>
        <p:spPr>
          <a:xfrm>
            <a:off x="3524250" y="339090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D34F1446-9A0A-4C81-9AE5-821CCA4E9BE1}"/>
              </a:ext>
            </a:extLst>
          </p:cNvPr>
          <p:cNvSpPr>
            <a:spLocks noGrp="1"/>
          </p:cNvSpPr>
          <p:nvPr/>
        </p:nvSpPr>
        <p:spPr>
          <a:xfrm>
            <a:off x="3990975" y="339090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6" name="Oval 45">
            <a:extLst>
              <a:ext uri="{FF2B5EF4-FFF2-40B4-BE49-F238E27FC236}">
                <a16:creationId xmlns:a16="http://schemas.microsoft.com/office/drawing/2014/main" id="{F526D298-0156-4889-940F-2EB9BDD73DED}"/>
              </a:ext>
            </a:extLst>
          </p:cNvPr>
          <p:cNvSpPr>
            <a:spLocks noGrp="1"/>
          </p:cNvSpPr>
          <p:nvPr/>
        </p:nvSpPr>
        <p:spPr>
          <a:xfrm>
            <a:off x="4457700" y="339090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7" name="Oval 46">
            <a:extLst>
              <a:ext uri="{FF2B5EF4-FFF2-40B4-BE49-F238E27FC236}">
                <a16:creationId xmlns:a16="http://schemas.microsoft.com/office/drawing/2014/main" id="{BE08247F-FCAD-4346-805A-DE5AC2CD05A9}"/>
              </a:ext>
            </a:extLst>
          </p:cNvPr>
          <p:cNvSpPr>
            <a:spLocks noGrp="1"/>
          </p:cNvSpPr>
          <p:nvPr/>
        </p:nvSpPr>
        <p:spPr>
          <a:xfrm>
            <a:off x="4924425" y="339090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8" name="Oval 47">
            <a:extLst>
              <a:ext uri="{FF2B5EF4-FFF2-40B4-BE49-F238E27FC236}">
                <a16:creationId xmlns:a16="http://schemas.microsoft.com/office/drawing/2014/main" id="{B2AD84EF-6B27-4164-A208-E5CC2414EC0F}"/>
              </a:ext>
            </a:extLst>
          </p:cNvPr>
          <p:cNvSpPr>
            <a:spLocks noGrp="1"/>
          </p:cNvSpPr>
          <p:nvPr/>
        </p:nvSpPr>
        <p:spPr>
          <a:xfrm>
            <a:off x="723900" y="36861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9" name="Oval 48">
            <a:extLst>
              <a:ext uri="{FF2B5EF4-FFF2-40B4-BE49-F238E27FC236}">
                <a16:creationId xmlns:a16="http://schemas.microsoft.com/office/drawing/2014/main" id="{9DC28BE2-29D8-4EB3-82E2-A240F4FD2D6F}"/>
              </a:ext>
            </a:extLst>
          </p:cNvPr>
          <p:cNvSpPr>
            <a:spLocks noGrp="1"/>
          </p:cNvSpPr>
          <p:nvPr/>
        </p:nvSpPr>
        <p:spPr>
          <a:xfrm>
            <a:off x="1190625" y="36861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0" name="Oval 49">
            <a:extLst>
              <a:ext uri="{FF2B5EF4-FFF2-40B4-BE49-F238E27FC236}">
                <a16:creationId xmlns:a16="http://schemas.microsoft.com/office/drawing/2014/main" id="{D691DF1E-89D2-4A22-94E9-3B599C72A88B}"/>
              </a:ext>
            </a:extLst>
          </p:cNvPr>
          <p:cNvSpPr>
            <a:spLocks noGrp="1"/>
          </p:cNvSpPr>
          <p:nvPr/>
        </p:nvSpPr>
        <p:spPr>
          <a:xfrm>
            <a:off x="1657350" y="36861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1" name="Oval 50">
            <a:extLst>
              <a:ext uri="{FF2B5EF4-FFF2-40B4-BE49-F238E27FC236}">
                <a16:creationId xmlns:a16="http://schemas.microsoft.com/office/drawing/2014/main" id="{A1FCB1BE-76F4-4675-BAEE-C57EF2507D51}"/>
              </a:ext>
            </a:extLst>
          </p:cNvPr>
          <p:cNvSpPr>
            <a:spLocks noGrp="1"/>
          </p:cNvSpPr>
          <p:nvPr/>
        </p:nvSpPr>
        <p:spPr>
          <a:xfrm>
            <a:off x="2124075" y="36861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2" name="Oval 51">
            <a:extLst>
              <a:ext uri="{FF2B5EF4-FFF2-40B4-BE49-F238E27FC236}">
                <a16:creationId xmlns:a16="http://schemas.microsoft.com/office/drawing/2014/main" id="{C0350FC8-2615-4E27-B59F-5E492AB15628}"/>
              </a:ext>
            </a:extLst>
          </p:cNvPr>
          <p:cNvSpPr>
            <a:spLocks noGrp="1"/>
          </p:cNvSpPr>
          <p:nvPr/>
        </p:nvSpPr>
        <p:spPr>
          <a:xfrm>
            <a:off x="2590800" y="36861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3" name="Oval 52">
            <a:extLst>
              <a:ext uri="{FF2B5EF4-FFF2-40B4-BE49-F238E27FC236}">
                <a16:creationId xmlns:a16="http://schemas.microsoft.com/office/drawing/2014/main" id="{63B9F646-1E78-4196-8F47-E112A3D1A1D8}"/>
              </a:ext>
            </a:extLst>
          </p:cNvPr>
          <p:cNvSpPr>
            <a:spLocks noGrp="1"/>
          </p:cNvSpPr>
          <p:nvPr/>
        </p:nvSpPr>
        <p:spPr>
          <a:xfrm>
            <a:off x="3057525" y="36861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4" name="Oval 53">
            <a:extLst>
              <a:ext uri="{FF2B5EF4-FFF2-40B4-BE49-F238E27FC236}">
                <a16:creationId xmlns:a16="http://schemas.microsoft.com/office/drawing/2014/main" id="{2BE64FDD-0C7B-47EA-81FA-EE5CB102356F}"/>
              </a:ext>
            </a:extLst>
          </p:cNvPr>
          <p:cNvSpPr>
            <a:spLocks noGrp="1"/>
          </p:cNvSpPr>
          <p:nvPr/>
        </p:nvSpPr>
        <p:spPr>
          <a:xfrm>
            <a:off x="3524250" y="36861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5" name="Oval 54">
            <a:extLst>
              <a:ext uri="{FF2B5EF4-FFF2-40B4-BE49-F238E27FC236}">
                <a16:creationId xmlns:a16="http://schemas.microsoft.com/office/drawing/2014/main" id="{C997793C-CC48-4F61-8A52-8B25FA4EE334}"/>
              </a:ext>
            </a:extLst>
          </p:cNvPr>
          <p:cNvSpPr>
            <a:spLocks noGrp="1"/>
          </p:cNvSpPr>
          <p:nvPr/>
        </p:nvSpPr>
        <p:spPr>
          <a:xfrm>
            <a:off x="3990975" y="36861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6" name="Oval 55">
            <a:extLst>
              <a:ext uri="{FF2B5EF4-FFF2-40B4-BE49-F238E27FC236}">
                <a16:creationId xmlns:a16="http://schemas.microsoft.com/office/drawing/2014/main" id="{303B7D8D-2D4C-41CD-B934-F00D07E98523}"/>
              </a:ext>
            </a:extLst>
          </p:cNvPr>
          <p:cNvSpPr>
            <a:spLocks noGrp="1"/>
          </p:cNvSpPr>
          <p:nvPr/>
        </p:nvSpPr>
        <p:spPr>
          <a:xfrm>
            <a:off x="4457700" y="36861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7" name="Oval 56">
            <a:extLst>
              <a:ext uri="{FF2B5EF4-FFF2-40B4-BE49-F238E27FC236}">
                <a16:creationId xmlns:a16="http://schemas.microsoft.com/office/drawing/2014/main" id="{7A639163-DE7F-4BD1-B1C8-6945683880B3}"/>
              </a:ext>
            </a:extLst>
          </p:cNvPr>
          <p:cNvSpPr>
            <a:spLocks noGrp="1"/>
          </p:cNvSpPr>
          <p:nvPr/>
        </p:nvSpPr>
        <p:spPr>
          <a:xfrm>
            <a:off x="4924425" y="36861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8" name="Oval 57">
            <a:extLst>
              <a:ext uri="{FF2B5EF4-FFF2-40B4-BE49-F238E27FC236}">
                <a16:creationId xmlns:a16="http://schemas.microsoft.com/office/drawing/2014/main" id="{E5956BF7-08A1-4658-942D-A0AB8BFB8602}"/>
              </a:ext>
            </a:extLst>
          </p:cNvPr>
          <p:cNvSpPr>
            <a:spLocks noGrp="1"/>
          </p:cNvSpPr>
          <p:nvPr/>
        </p:nvSpPr>
        <p:spPr>
          <a:xfrm>
            <a:off x="723900" y="398145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9" name="Oval 58">
            <a:extLst>
              <a:ext uri="{FF2B5EF4-FFF2-40B4-BE49-F238E27FC236}">
                <a16:creationId xmlns:a16="http://schemas.microsoft.com/office/drawing/2014/main" id="{BFC1869B-B3F2-42CB-9F43-D305A4081403}"/>
              </a:ext>
            </a:extLst>
          </p:cNvPr>
          <p:cNvSpPr>
            <a:spLocks noGrp="1"/>
          </p:cNvSpPr>
          <p:nvPr/>
        </p:nvSpPr>
        <p:spPr>
          <a:xfrm>
            <a:off x="1190625" y="398145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0" name="Oval 59">
            <a:extLst>
              <a:ext uri="{FF2B5EF4-FFF2-40B4-BE49-F238E27FC236}">
                <a16:creationId xmlns:a16="http://schemas.microsoft.com/office/drawing/2014/main" id="{BC04F073-2641-4EEF-96AB-6E76B5838D86}"/>
              </a:ext>
            </a:extLst>
          </p:cNvPr>
          <p:cNvSpPr>
            <a:spLocks noGrp="1"/>
          </p:cNvSpPr>
          <p:nvPr/>
        </p:nvSpPr>
        <p:spPr>
          <a:xfrm>
            <a:off x="1657350" y="398145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1" name="Oval 60">
            <a:extLst>
              <a:ext uri="{FF2B5EF4-FFF2-40B4-BE49-F238E27FC236}">
                <a16:creationId xmlns:a16="http://schemas.microsoft.com/office/drawing/2014/main" id="{AA08B1D8-CE5E-4C81-BEBF-0CAEBA26D75C}"/>
              </a:ext>
            </a:extLst>
          </p:cNvPr>
          <p:cNvSpPr>
            <a:spLocks noGrp="1"/>
          </p:cNvSpPr>
          <p:nvPr/>
        </p:nvSpPr>
        <p:spPr>
          <a:xfrm>
            <a:off x="2124075" y="398145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2" name="Oval 61">
            <a:extLst>
              <a:ext uri="{FF2B5EF4-FFF2-40B4-BE49-F238E27FC236}">
                <a16:creationId xmlns:a16="http://schemas.microsoft.com/office/drawing/2014/main" id="{4182B34D-CEF5-4C01-927E-5C21AE40DADD}"/>
              </a:ext>
            </a:extLst>
          </p:cNvPr>
          <p:cNvSpPr>
            <a:spLocks noGrp="1"/>
          </p:cNvSpPr>
          <p:nvPr/>
        </p:nvSpPr>
        <p:spPr>
          <a:xfrm>
            <a:off x="2590800" y="398145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3" name="Oval 62">
            <a:extLst>
              <a:ext uri="{FF2B5EF4-FFF2-40B4-BE49-F238E27FC236}">
                <a16:creationId xmlns:a16="http://schemas.microsoft.com/office/drawing/2014/main" id="{C2372C2C-51FF-4915-9CE5-91D10E1D442E}"/>
              </a:ext>
            </a:extLst>
          </p:cNvPr>
          <p:cNvSpPr>
            <a:spLocks noGrp="1"/>
          </p:cNvSpPr>
          <p:nvPr/>
        </p:nvSpPr>
        <p:spPr>
          <a:xfrm>
            <a:off x="3057525" y="398145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4" name="Oval 63">
            <a:extLst>
              <a:ext uri="{FF2B5EF4-FFF2-40B4-BE49-F238E27FC236}">
                <a16:creationId xmlns:a16="http://schemas.microsoft.com/office/drawing/2014/main" id="{47D7A44C-E8EF-4C0C-B963-8C1645EFFF52}"/>
              </a:ext>
            </a:extLst>
          </p:cNvPr>
          <p:cNvSpPr>
            <a:spLocks noGrp="1"/>
          </p:cNvSpPr>
          <p:nvPr/>
        </p:nvSpPr>
        <p:spPr>
          <a:xfrm>
            <a:off x="3524250" y="398145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5" name="Oval 64">
            <a:extLst>
              <a:ext uri="{FF2B5EF4-FFF2-40B4-BE49-F238E27FC236}">
                <a16:creationId xmlns:a16="http://schemas.microsoft.com/office/drawing/2014/main" id="{738A011C-7D81-4401-9312-7F2B56DB38E4}"/>
              </a:ext>
            </a:extLst>
          </p:cNvPr>
          <p:cNvSpPr>
            <a:spLocks noGrp="1"/>
          </p:cNvSpPr>
          <p:nvPr/>
        </p:nvSpPr>
        <p:spPr>
          <a:xfrm>
            <a:off x="3990975" y="398145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6" name="Oval 65">
            <a:extLst>
              <a:ext uri="{FF2B5EF4-FFF2-40B4-BE49-F238E27FC236}">
                <a16:creationId xmlns:a16="http://schemas.microsoft.com/office/drawing/2014/main" id="{FDB18ABE-8367-47EE-B745-A5D1FE3E33E8}"/>
              </a:ext>
            </a:extLst>
          </p:cNvPr>
          <p:cNvSpPr>
            <a:spLocks noGrp="1"/>
          </p:cNvSpPr>
          <p:nvPr/>
        </p:nvSpPr>
        <p:spPr>
          <a:xfrm>
            <a:off x="4457700" y="398145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7" name="Oval 66">
            <a:extLst>
              <a:ext uri="{FF2B5EF4-FFF2-40B4-BE49-F238E27FC236}">
                <a16:creationId xmlns:a16="http://schemas.microsoft.com/office/drawing/2014/main" id="{1E9EAA04-6DC3-45AC-B6DD-17A7BB742AEB}"/>
              </a:ext>
            </a:extLst>
          </p:cNvPr>
          <p:cNvSpPr>
            <a:spLocks noGrp="1"/>
          </p:cNvSpPr>
          <p:nvPr/>
        </p:nvSpPr>
        <p:spPr>
          <a:xfrm>
            <a:off x="4924425" y="398145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8" name="Oval 67">
            <a:extLst>
              <a:ext uri="{FF2B5EF4-FFF2-40B4-BE49-F238E27FC236}">
                <a16:creationId xmlns:a16="http://schemas.microsoft.com/office/drawing/2014/main" id="{2250A335-A3DD-4CD3-BD74-65E8C3CEBE55}"/>
              </a:ext>
            </a:extLst>
          </p:cNvPr>
          <p:cNvSpPr>
            <a:spLocks noGrp="1"/>
          </p:cNvSpPr>
          <p:nvPr/>
        </p:nvSpPr>
        <p:spPr>
          <a:xfrm>
            <a:off x="723900" y="427672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69" name="Oval 68">
            <a:extLst>
              <a:ext uri="{FF2B5EF4-FFF2-40B4-BE49-F238E27FC236}">
                <a16:creationId xmlns:a16="http://schemas.microsoft.com/office/drawing/2014/main" id="{DC6970CA-7C63-43B6-83FB-F75233B25A5A}"/>
              </a:ext>
            </a:extLst>
          </p:cNvPr>
          <p:cNvSpPr>
            <a:spLocks noGrp="1"/>
          </p:cNvSpPr>
          <p:nvPr/>
        </p:nvSpPr>
        <p:spPr>
          <a:xfrm>
            <a:off x="1190625" y="427672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0" name="Oval 69">
            <a:extLst>
              <a:ext uri="{FF2B5EF4-FFF2-40B4-BE49-F238E27FC236}">
                <a16:creationId xmlns:a16="http://schemas.microsoft.com/office/drawing/2014/main" id="{07C754D0-1FB6-492E-99A8-DAE83980FFEB}"/>
              </a:ext>
            </a:extLst>
          </p:cNvPr>
          <p:cNvSpPr>
            <a:spLocks noGrp="1"/>
          </p:cNvSpPr>
          <p:nvPr/>
        </p:nvSpPr>
        <p:spPr>
          <a:xfrm>
            <a:off x="1657350" y="427672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1" name="Oval 70">
            <a:extLst>
              <a:ext uri="{FF2B5EF4-FFF2-40B4-BE49-F238E27FC236}">
                <a16:creationId xmlns:a16="http://schemas.microsoft.com/office/drawing/2014/main" id="{B2FDA227-467D-423C-AFAB-D06406CE91C0}"/>
              </a:ext>
            </a:extLst>
          </p:cNvPr>
          <p:cNvSpPr>
            <a:spLocks noGrp="1"/>
          </p:cNvSpPr>
          <p:nvPr/>
        </p:nvSpPr>
        <p:spPr>
          <a:xfrm>
            <a:off x="2124075" y="427672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2" name="Oval 71">
            <a:extLst>
              <a:ext uri="{FF2B5EF4-FFF2-40B4-BE49-F238E27FC236}">
                <a16:creationId xmlns:a16="http://schemas.microsoft.com/office/drawing/2014/main" id="{A4796CDC-AAE5-47DA-83F6-11B68D482874}"/>
              </a:ext>
            </a:extLst>
          </p:cNvPr>
          <p:cNvSpPr>
            <a:spLocks noGrp="1"/>
          </p:cNvSpPr>
          <p:nvPr/>
        </p:nvSpPr>
        <p:spPr>
          <a:xfrm>
            <a:off x="2590800" y="427672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3" name="Oval 72">
            <a:extLst>
              <a:ext uri="{FF2B5EF4-FFF2-40B4-BE49-F238E27FC236}">
                <a16:creationId xmlns:a16="http://schemas.microsoft.com/office/drawing/2014/main" id="{767DEE03-7946-4C14-94A7-59C3A0E5E2CA}"/>
              </a:ext>
            </a:extLst>
          </p:cNvPr>
          <p:cNvSpPr>
            <a:spLocks noGrp="1"/>
          </p:cNvSpPr>
          <p:nvPr/>
        </p:nvSpPr>
        <p:spPr>
          <a:xfrm>
            <a:off x="3057525" y="427672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4" name="Oval 73">
            <a:extLst>
              <a:ext uri="{FF2B5EF4-FFF2-40B4-BE49-F238E27FC236}">
                <a16:creationId xmlns:a16="http://schemas.microsoft.com/office/drawing/2014/main" id="{AA18B44E-AC84-425F-88D1-6E33D816C7A9}"/>
              </a:ext>
            </a:extLst>
          </p:cNvPr>
          <p:cNvSpPr>
            <a:spLocks noGrp="1"/>
          </p:cNvSpPr>
          <p:nvPr/>
        </p:nvSpPr>
        <p:spPr>
          <a:xfrm>
            <a:off x="3524250" y="427672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5" name="Oval 74">
            <a:extLst>
              <a:ext uri="{FF2B5EF4-FFF2-40B4-BE49-F238E27FC236}">
                <a16:creationId xmlns:a16="http://schemas.microsoft.com/office/drawing/2014/main" id="{902B2B69-1BA0-4CB1-8E62-762C65A92651}"/>
              </a:ext>
            </a:extLst>
          </p:cNvPr>
          <p:cNvSpPr>
            <a:spLocks noGrp="1"/>
          </p:cNvSpPr>
          <p:nvPr/>
        </p:nvSpPr>
        <p:spPr>
          <a:xfrm>
            <a:off x="3990975" y="427672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6" name="Oval 75">
            <a:extLst>
              <a:ext uri="{FF2B5EF4-FFF2-40B4-BE49-F238E27FC236}">
                <a16:creationId xmlns:a16="http://schemas.microsoft.com/office/drawing/2014/main" id="{9560E46E-DEAD-4322-945E-24D96F52EAEB}"/>
              </a:ext>
            </a:extLst>
          </p:cNvPr>
          <p:cNvSpPr>
            <a:spLocks noGrp="1"/>
          </p:cNvSpPr>
          <p:nvPr/>
        </p:nvSpPr>
        <p:spPr>
          <a:xfrm>
            <a:off x="4457700" y="427672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7" name="Oval 76">
            <a:extLst>
              <a:ext uri="{FF2B5EF4-FFF2-40B4-BE49-F238E27FC236}">
                <a16:creationId xmlns:a16="http://schemas.microsoft.com/office/drawing/2014/main" id="{D82EAE50-0965-4363-899A-992754AAE565}"/>
              </a:ext>
            </a:extLst>
          </p:cNvPr>
          <p:cNvSpPr>
            <a:spLocks noGrp="1"/>
          </p:cNvSpPr>
          <p:nvPr/>
        </p:nvSpPr>
        <p:spPr>
          <a:xfrm>
            <a:off x="4924425" y="427672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8" name="Oval 77">
            <a:extLst>
              <a:ext uri="{FF2B5EF4-FFF2-40B4-BE49-F238E27FC236}">
                <a16:creationId xmlns:a16="http://schemas.microsoft.com/office/drawing/2014/main" id="{4E97C916-ECDB-4F31-9CBB-5BDC3D2459A3}"/>
              </a:ext>
            </a:extLst>
          </p:cNvPr>
          <p:cNvSpPr>
            <a:spLocks noGrp="1"/>
          </p:cNvSpPr>
          <p:nvPr/>
        </p:nvSpPr>
        <p:spPr>
          <a:xfrm>
            <a:off x="723900" y="457200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79" name="Oval 78">
            <a:extLst>
              <a:ext uri="{FF2B5EF4-FFF2-40B4-BE49-F238E27FC236}">
                <a16:creationId xmlns:a16="http://schemas.microsoft.com/office/drawing/2014/main" id="{ECFAE920-3C97-4210-BE96-06A009300607}"/>
              </a:ext>
            </a:extLst>
          </p:cNvPr>
          <p:cNvSpPr>
            <a:spLocks noGrp="1"/>
          </p:cNvSpPr>
          <p:nvPr/>
        </p:nvSpPr>
        <p:spPr>
          <a:xfrm>
            <a:off x="1190625" y="457200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0" name="Oval 79">
            <a:extLst>
              <a:ext uri="{FF2B5EF4-FFF2-40B4-BE49-F238E27FC236}">
                <a16:creationId xmlns:a16="http://schemas.microsoft.com/office/drawing/2014/main" id="{FD490E89-0B18-422C-8B14-C5DE65C827D3}"/>
              </a:ext>
            </a:extLst>
          </p:cNvPr>
          <p:cNvSpPr>
            <a:spLocks noGrp="1"/>
          </p:cNvSpPr>
          <p:nvPr/>
        </p:nvSpPr>
        <p:spPr>
          <a:xfrm>
            <a:off x="1657350" y="457200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1" name="Oval 80">
            <a:extLst>
              <a:ext uri="{FF2B5EF4-FFF2-40B4-BE49-F238E27FC236}">
                <a16:creationId xmlns:a16="http://schemas.microsoft.com/office/drawing/2014/main" id="{2AD7D490-6D12-44DF-9832-97C846348D85}"/>
              </a:ext>
            </a:extLst>
          </p:cNvPr>
          <p:cNvSpPr>
            <a:spLocks noGrp="1"/>
          </p:cNvSpPr>
          <p:nvPr/>
        </p:nvSpPr>
        <p:spPr>
          <a:xfrm>
            <a:off x="2124075" y="457200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2" name="Oval 81">
            <a:extLst>
              <a:ext uri="{FF2B5EF4-FFF2-40B4-BE49-F238E27FC236}">
                <a16:creationId xmlns:a16="http://schemas.microsoft.com/office/drawing/2014/main" id="{F5F0509C-DAC7-4193-926A-B584F46E9881}"/>
              </a:ext>
            </a:extLst>
          </p:cNvPr>
          <p:cNvSpPr>
            <a:spLocks noGrp="1"/>
          </p:cNvSpPr>
          <p:nvPr/>
        </p:nvSpPr>
        <p:spPr>
          <a:xfrm>
            <a:off x="2590800" y="457200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11AEB268-2A92-47FE-803A-52D54E4C49D7}"/>
              </a:ext>
            </a:extLst>
          </p:cNvPr>
          <p:cNvSpPr>
            <a:spLocks noGrp="1"/>
          </p:cNvSpPr>
          <p:nvPr/>
        </p:nvSpPr>
        <p:spPr>
          <a:xfrm>
            <a:off x="3057525" y="457200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3D7D0872-2B10-4751-B6BD-A093DA0D6E77}"/>
              </a:ext>
            </a:extLst>
          </p:cNvPr>
          <p:cNvSpPr>
            <a:spLocks noGrp="1"/>
          </p:cNvSpPr>
          <p:nvPr/>
        </p:nvSpPr>
        <p:spPr>
          <a:xfrm>
            <a:off x="3524250" y="457200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4F0DCC97-2B45-4CF8-9A71-FA483AE36C63}"/>
              </a:ext>
            </a:extLst>
          </p:cNvPr>
          <p:cNvSpPr>
            <a:spLocks noGrp="1"/>
          </p:cNvSpPr>
          <p:nvPr/>
        </p:nvSpPr>
        <p:spPr>
          <a:xfrm>
            <a:off x="3990975" y="457200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6" name="Oval 85">
            <a:extLst>
              <a:ext uri="{FF2B5EF4-FFF2-40B4-BE49-F238E27FC236}">
                <a16:creationId xmlns:a16="http://schemas.microsoft.com/office/drawing/2014/main" id="{F4FB5F86-A7E7-49F4-90D0-60725B94F53C}"/>
              </a:ext>
            </a:extLst>
          </p:cNvPr>
          <p:cNvSpPr>
            <a:spLocks noGrp="1"/>
          </p:cNvSpPr>
          <p:nvPr/>
        </p:nvSpPr>
        <p:spPr>
          <a:xfrm>
            <a:off x="4457700" y="457200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7" name="Oval 86">
            <a:extLst>
              <a:ext uri="{FF2B5EF4-FFF2-40B4-BE49-F238E27FC236}">
                <a16:creationId xmlns:a16="http://schemas.microsoft.com/office/drawing/2014/main" id="{71C7FF35-F3DE-4A24-8781-D05230342188}"/>
              </a:ext>
            </a:extLst>
          </p:cNvPr>
          <p:cNvSpPr>
            <a:spLocks noGrp="1"/>
          </p:cNvSpPr>
          <p:nvPr/>
        </p:nvSpPr>
        <p:spPr>
          <a:xfrm>
            <a:off x="4924425" y="457200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8" name="Oval 87">
            <a:extLst>
              <a:ext uri="{FF2B5EF4-FFF2-40B4-BE49-F238E27FC236}">
                <a16:creationId xmlns:a16="http://schemas.microsoft.com/office/drawing/2014/main" id="{E6D09BDF-9511-42E1-B38D-D5E564C0DE8B}"/>
              </a:ext>
            </a:extLst>
          </p:cNvPr>
          <p:cNvSpPr>
            <a:spLocks noGrp="1"/>
          </p:cNvSpPr>
          <p:nvPr/>
        </p:nvSpPr>
        <p:spPr>
          <a:xfrm>
            <a:off x="723900" y="48672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89" name="Oval 88">
            <a:extLst>
              <a:ext uri="{FF2B5EF4-FFF2-40B4-BE49-F238E27FC236}">
                <a16:creationId xmlns:a16="http://schemas.microsoft.com/office/drawing/2014/main" id="{27F3EB7A-5250-466F-8F68-F3D6777EDDA8}"/>
              </a:ext>
            </a:extLst>
          </p:cNvPr>
          <p:cNvSpPr>
            <a:spLocks noGrp="1"/>
          </p:cNvSpPr>
          <p:nvPr/>
        </p:nvSpPr>
        <p:spPr>
          <a:xfrm>
            <a:off x="1190625" y="48672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0" name="Oval 89">
            <a:extLst>
              <a:ext uri="{FF2B5EF4-FFF2-40B4-BE49-F238E27FC236}">
                <a16:creationId xmlns:a16="http://schemas.microsoft.com/office/drawing/2014/main" id="{E67CA752-0ACF-4091-B959-FE7CB1E95B74}"/>
              </a:ext>
            </a:extLst>
          </p:cNvPr>
          <p:cNvSpPr>
            <a:spLocks noGrp="1"/>
          </p:cNvSpPr>
          <p:nvPr/>
        </p:nvSpPr>
        <p:spPr>
          <a:xfrm>
            <a:off x="1657350" y="48672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1" name="Oval 90">
            <a:extLst>
              <a:ext uri="{FF2B5EF4-FFF2-40B4-BE49-F238E27FC236}">
                <a16:creationId xmlns:a16="http://schemas.microsoft.com/office/drawing/2014/main" id="{FF45FC40-4A7F-42DA-AF0F-BA34E2E21AB9}"/>
              </a:ext>
            </a:extLst>
          </p:cNvPr>
          <p:cNvSpPr>
            <a:spLocks noGrp="1"/>
          </p:cNvSpPr>
          <p:nvPr/>
        </p:nvSpPr>
        <p:spPr>
          <a:xfrm>
            <a:off x="2124075" y="48672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2" name="Oval 91">
            <a:extLst>
              <a:ext uri="{FF2B5EF4-FFF2-40B4-BE49-F238E27FC236}">
                <a16:creationId xmlns:a16="http://schemas.microsoft.com/office/drawing/2014/main" id="{C1AAD20A-F6E8-47C5-806C-861D8FB5922B}"/>
              </a:ext>
            </a:extLst>
          </p:cNvPr>
          <p:cNvSpPr>
            <a:spLocks noGrp="1"/>
          </p:cNvSpPr>
          <p:nvPr/>
        </p:nvSpPr>
        <p:spPr>
          <a:xfrm>
            <a:off x="2590800" y="48672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3" name="Oval 92">
            <a:extLst>
              <a:ext uri="{FF2B5EF4-FFF2-40B4-BE49-F238E27FC236}">
                <a16:creationId xmlns:a16="http://schemas.microsoft.com/office/drawing/2014/main" id="{B60EB2F0-47DC-4050-A144-CC9599B5D404}"/>
              </a:ext>
            </a:extLst>
          </p:cNvPr>
          <p:cNvSpPr>
            <a:spLocks noGrp="1"/>
          </p:cNvSpPr>
          <p:nvPr/>
        </p:nvSpPr>
        <p:spPr>
          <a:xfrm>
            <a:off x="3057525" y="48672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4" name="Oval 93">
            <a:extLst>
              <a:ext uri="{FF2B5EF4-FFF2-40B4-BE49-F238E27FC236}">
                <a16:creationId xmlns:a16="http://schemas.microsoft.com/office/drawing/2014/main" id="{7C698500-D72A-4CC8-953D-18474A29B401}"/>
              </a:ext>
            </a:extLst>
          </p:cNvPr>
          <p:cNvSpPr>
            <a:spLocks noGrp="1"/>
          </p:cNvSpPr>
          <p:nvPr/>
        </p:nvSpPr>
        <p:spPr>
          <a:xfrm>
            <a:off x="3524250" y="48672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5" name="Oval 94">
            <a:extLst>
              <a:ext uri="{FF2B5EF4-FFF2-40B4-BE49-F238E27FC236}">
                <a16:creationId xmlns:a16="http://schemas.microsoft.com/office/drawing/2014/main" id="{540BA81B-1AF3-4A20-ACA8-973CE205D7A3}"/>
              </a:ext>
            </a:extLst>
          </p:cNvPr>
          <p:cNvSpPr>
            <a:spLocks noGrp="1"/>
          </p:cNvSpPr>
          <p:nvPr/>
        </p:nvSpPr>
        <p:spPr>
          <a:xfrm>
            <a:off x="3990975" y="48672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6" name="Oval 95">
            <a:extLst>
              <a:ext uri="{FF2B5EF4-FFF2-40B4-BE49-F238E27FC236}">
                <a16:creationId xmlns:a16="http://schemas.microsoft.com/office/drawing/2014/main" id="{1A5D836B-2C3D-4825-A446-8C4BA8D5F694}"/>
              </a:ext>
            </a:extLst>
          </p:cNvPr>
          <p:cNvSpPr>
            <a:spLocks noGrp="1"/>
          </p:cNvSpPr>
          <p:nvPr/>
        </p:nvSpPr>
        <p:spPr>
          <a:xfrm>
            <a:off x="4457700" y="48672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7" name="Oval 96">
            <a:extLst>
              <a:ext uri="{FF2B5EF4-FFF2-40B4-BE49-F238E27FC236}">
                <a16:creationId xmlns:a16="http://schemas.microsoft.com/office/drawing/2014/main" id="{BFF2A1D9-4FE7-4620-95BC-B8C65F83F3DF}"/>
              </a:ext>
            </a:extLst>
          </p:cNvPr>
          <p:cNvSpPr>
            <a:spLocks noGrp="1"/>
          </p:cNvSpPr>
          <p:nvPr/>
        </p:nvSpPr>
        <p:spPr>
          <a:xfrm>
            <a:off x="4924425" y="4867275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8" name="Oval 97">
            <a:extLst>
              <a:ext uri="{FF2B5EF4-FFF2-40B4-BE49-F238E27FC236}">
                <a16:creationId xmlns:a16="http://schemas.microsoft.com/office/drawing/2014/main" id="{DD94D13B-8E4D-49C6-93BD-41FAF8F8B5F2}"/>
              </a:ext>
            </a:extLst>
          </p:cNvPr>
          <p:cNvSpPr>
            <a:spLocks noGrp="1"/>
          </p:cNvSpPr>
          <p:nvPr/>
        </p:nvSpPr>
        <p:spPr>
          <a:xfrm>
            <a:off x="723900" y="516255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99" name="Oval 98">
            <a:extLst>
              <a:ext uri="{FF2B5EF4-FFF2-40B4-BE49-F238E27FC236}">
                <a16:creationId xmlns:a16="http://schemas.microsoft.com/office/drawing/2014/main" id="{1C5E19FD-AB5F-4601-95F8-661BCC666D4E}"/>
              </a:ext>
            </a:extLst>
          </p:cNvPr>
          <p:cNvSpPr>
            <a:spLocks noGrp="1"/>
          </p:cNvSpPr>
          <p:nvPr/>
        </p:nvSpPr>
        <p:spPr>
          <a:xfrm>
            <a:off x="1190625" y="516255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0" name="Oval 99">
            <a:extLst>
              <a:ext uri="{FF2B5EF4-FFF2-40B4-BE49-F238E27FC236}">
                <a16:creationId xmlns:a16="http://schemas.microsoft.com/office/drawing/2014/main" id="{A35CBAE6-0D2B-444F-9570-5BE31851C9F0}"/>
              </a:ext>
            </a:extLst>
          </p:cNvPr>
          <p:cNvSpPr>
            <a:spLocks noGrp="1"/>
          </p:cNvSpPr>
          <p:nvPr/>
        </p:nvSpPr>
        <p:spPr>
          <a:xfrm>
            <a:off x="1657350" y="516255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1" name="Oval 100">
            <a:extLst>
              <a:ext uri="{FF2B5EF4-FFF2-40B4-BE49-F238E27FC236}">
                <a16:creationId xmlns:a16="http://schemas.microsoft.com/office/drawing/2014/main" id="{F8D0D8AF-FBEB-4027-8CDF-9BEA248FFFCA}"/>
              </a:ext>
            </a:extLst>
          </p:cNvPr>
          <p:cNvSpPr>
            <a:spLocks noGrp="1"/>
          </p:cNvSpPr>
          <p:nvPr/>
        </p:nvSpPr>
        <p:spPr>
          <a:xfrm>
            <a:off x="2124075" y="516255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2" name="Oval 101">
            <a:extLst>
              <a:ext uri="{FF2B5EF4-FFF2-40B4-BE49-F238E27FC236}">
                <a16:creationId xmlns:a16="http://schemas.microsoft.com/office/drawing/2014/main" id="{2C22A6D7-A6F8-47D4-A50D-4A27250E7806}"/>
              </a:ext>
            </a:extLst>
          </p:cNvPr>
          <p:cNvSpPr>
            <a:spLocks noGrp="1"/>
          </p:cNvSpPr>
          <p:nvPr/>
        </p:nvSpPr>
        <p:spPr>
          <a:xfrm>
            <a:off x="2590800" y="516255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3" name="Oval 102">
            <a:extLst>
              <a:ext uri="{FF2B5EF4-FFF2-40B4-BE49-F238E27FC236}">
                <a16:creationId xmlns:a16="http://schemas.microsoft.com/office/drawing/2014/main" id="{1F981D27-F589-4FC2-8D62-B97EA7D64D23}"/>
              </a:ext>
            </a:extLst>
          </p:cNvPr>
          <p:cNvSpPr>
            <a:spLocks noGrp="1"/>
          </p:cNvSpPr>
          <p:nvPr/>
        </p:nvSpPr>
        <p:spPr>
          <a:xfrm>
            <a:off x="3057525" y="516255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4" name="Oval 103">
            <a:extLst>
              <a:ext uri="{FF2B5EF4-FFF2-40B4-BE49-F238E27FC236}">
                <a16:creationId xmlns:a16="http://schemas.microsoft.com/office/drawing/2014/main" id="{99E46162-FA4A-45DD-A3B3-D63F9F7B6862}"/>
              </a:ext>
            </a:extLst>
          </p:cNvPr>
          <p:cNvSpPr>
            <a:spLocks noGrp="1"/>
          </p:cNvSpPr>
          <p:nvPr/>
        </p:nvSpPr>
        <p:spPr>
          <a:xfrm>
            <a:off x="3524250" y="516255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5" name="Oval 104">
            <a:extLst>
              <a:ext uri="{FF2B5EF4-FFF2-40B4-BE49-F238E27FC236}">
                <a16:creationId xmlns:a16="http://schemas.microsoft.com/office/drawing/2014/main" id="{56E487C1-9274-43E8-ABEF-F20D153E6B15}"/>
              </a:ext>
            </a:extLst>
          </p:cNvPr>
          <p:cNvSpPr>
            <a:spLocks noGrp="1"/>
          </p:cNvSpPr>
          <p:nvPr/>
        </p:nvSpPr>
        <p:spPr>
          <a:xfrm>
            <a:off x="3990975" y="516255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6" name="Oval 105">
            <a:extLst>
              <a:ext uri="{FF2B5EF4-FFF2-40B4-BE49-F238E27FC236}">
                <a16:creationId xmlns:a16="http://schemas.microsoft.com/office/drawing/2014/main" id="{01B03B43-6698-4C31-BD26-F6F948356692}"/>
              </a:ext>
            </a:extLst>
          </p:cNvPr>
          <p:cNvSpPr>
            <a:spLocks noGrp="1"/>
          </p:cNvSpPr>
          <p:nvPr/>
        </p:nvSpPr>
        <p:spPr>
          <a:xfrm>
            <a:off x="4457700" y="516255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7" name="Oval 106">
            <a:extLst>
              <a:ext uri="{FF2B5EF4-FFF2-40B4-BE49-F238E27FC236}">
                <a16:creationId xmlns:a16="http://schemas.microsoft.com/office/drawing/2014/main" id="{FBE74AFE-4CFE-464B-8264-2EE846416EC7}"/>
              </a:ext>
            </a:extLst>
          </p:cNvPr>
          <p:cNvSpPr>
            <a:spLocks noGrp="1"/>
          </p:cNvSpPr>
          <p:nvPr/>
        </p:nvSpPr>
        <p:spPr>
          <a:xfrm>
            <a:off x="4924425" y="5162550"/>
            <a:ext cx="171450" cy="171450"/>
          </a:xfrm>
          <a:prstGeom prst="ellipse">
            <a:avLst/>
          </a:prstGeom>
          <a:solidFill>
            <a:srgbClr val="FFFFFF"/>
          </a:solidFill>
          <a:ln w="16193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08" name="text-112">
            <a:extLst>
              <a:ext uri="{FF2B5EF4-FFF2-40B4-BE49-F238E27FC236}">
                <a16:creationId xmlns:a16="http://schemas.microsoft.com/office/drawing/2014/main" id="{15FA470A-5392-49C4-A619-A6D75953650E}"/>
              </a:ext>
            </a:extLst>
          </p:cNvPr>
          <p:cNvSpPr>
            <a:spLocks noGrp="1"/>
          </p:cNvSpPr>
          <p:nvPr/>
        </p:nvSpPr>
        <p:spPr>
          <a:xfrm>
            <a:off x="685800" y="5657850"/>
            <a:ext cx="51435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6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Top 10% reviewed: 10 customers, 6 defaults</a:t>
            </a:r>
          </a:p>
        </p:txBody>
      </p:sp>
      <p:sp>
        <p:nvSpPr>
          <p:cNvPr id="109" name="Oval 108">
            <a:extLst>
              <a:ext uri="{FF2B5EF4-FFF2-40B4-BE49-F238E27FC236}">
                <a16:creationId xmlns:a16="http://schemas.microsoft.com/office/drawing/2014/main" id="{FF21235A-2278-4E99-9BC9-A636C7235525}"/>
              </a:ext>
            </a:extLst>
          </p:cNvPr>
          <p:cNvSpPr>
            <a:spLocks noGrp="1"/>
          </p:cNvSpPr>
          <p:nvPr/>
        </p:nvSpPr>
        <p:spPr>
          <a:xfrm>
            <a:off x="695325" y="6096000"/>
            <a:ext cx="114300" cy="114300"/>
          </a:xfrm>
          <a:prstGeom prst="ellipse">
            <a:avLst/>
          </a:prstGeom>
          <a:solidFill>
            <a:srgbClr val="007F83"/>
          </a:solidFill>
          <a:ln w="14288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0" name="text-113">
            <a:extLst>
              <a:ext uri="{FF2B5EF4-FFF2-40B4-BE49-F238E27FC236}">
                <a16:creationId xmlns:a16="http://schemas.microsoft.com/office/drawing/2014/main" id="{B78A8D35-F5A1-4179-810D-4C3EB8F94B75}"/>
              </a:ext>
            </a:extLst>
          </p:cNvPr>
          <p:cNvSpPr>
            <a:spLocks noGrp="1"/>
          </p:cNvSpPr>
          <p:nvPr/>
        </p:nvSpPr>
        <p:spPr>
          <a:xfrm>
            <a:off x="914400" y="6048375"/>
            <a:ext cx="133350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Default</a:t>
            </a:r>
          </a:p>
        </p:txBody>
      </p:sp>
      <p:sp>
        <p:nvSpPr>
          <p:cNvPr id="111" name="Oval 110">
            <a:extLst>
              <a:ext uri="{FF2B5EF4-FFF2-40B4-BE49-F238E27FC236}">
                <a16:creationId xmlns:a16="http://schemas.microsoft.com/office/drawing/2014/main" id="{D9A46800-833C-4E79-818D-B350E87F5896}"/>
              </a:ext>
            </a:extLst>
          </p:cNvPr>
          <p:cNvSpPr>
            <a:spLocks noGrp="1"/>
          </p:cNvSpPr>
          <p:nvPr/>
        </p:nvSpPr>
        <p:spPr>
          <a:xfrm>
            <a:off x="2352675" y="6096000"/>
            <a:ext cx="114300" cy="114300"/>
          </a:xfrm>
          <a:prstGeom prst="ellipse">
            <a:avLst/>
          </a:prstGeom>
          <a:solidFill>
            <a:srgbClr val="FFFFFF"/>
          </a:solidFill>
          <a:ln w="14288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2" name="text-114">
            <a:extLst>
              <a:ext uri="{FF2B5EF4-FFF2-40B4-BE49-F238E27FC236}">
                <a16:creationId xmlns:a16="http://schemas.microsoft.com/office/drawing/2014/main" id="{0212D929-7785-4A5C-B8E4-9E76A854BF26}"/>
              </a:ext>
            </a:extLst>
          </p:cNvPr>
          <p:cNvSpPr>
            <a:spLocks noGrp="1"/>
          </p:cNvSpPr>
          <p:nvPr/>
        </p:nvSpPr>
        <p:spPr>
          <a:xfrm>
            <a:off x="2571750" y="6048375"/>
            <a:ext cx="180975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No default</a:t>
            </a:r>
          </a:p>
        </p:txBody>
      </p:sp>
      <p:sp>
        <p:nvSpPr>
          <p:cNvPr id="113" name="text-115">
            <a:extLst>
              <a:ext uri="{FF2B5EF4-FFF2-40B4-BE49-F238E27FC236}">
                <a16:creationId xmlns:a16="http://schemas.microsoft.com/office/drawing/2014/main" id="{6C4EA3B7-46BD-409B-B17E-10AD2BCBDFD6}"/>
              </a:ext>
            </a:extLst>
          </p:cNvPr>
          <p:cNvSpPr>
            <a:spLocks noGrp="1"/>
          </p:cNvSpPr>
          <p:nvPr/>
        </p:nvSpPr>
        <p:spPr>
          <a:xfrm>
            <a:off x="6762750" y="2400300"/>
            <a:ext cx="474345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CAPTURE@10%</a:t>
            </a:r>
          </a:p>
        </p:txBody>
      </p:sp>
      <p:sp>
        <p:nvSpPr>
          <p:cNvPr id="114" name="text-116">
            <a:extLst>
              <a:ext uri="{FF2B5EF4-FFF2-40B4-BE49-F238E27FC236}">
                <a16:creationId xmlns:a16="http://schemas.microsoft.com/office/drawing/2014/main" id="{37B4F93B-D6CD-49D9-B43A-01DB4DED4CF2}"/>
              </a:ext>
            </a:extLst>
          </p:cNvPr>
          <p:cNvSpPr>
            <a:spLocks noGrp="1"/>
          </p:cNvSpPr>
          <p:nvPr/>
        </p:nvSpPr>
        <p:spPr>
          <a:xfrm>
            <a:off x="6762750" y="2781300"/>
            <a:ext cx="4743450" cy="8477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480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480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30%</a:t>
            </a:r>
          </a:p>
        </p:txBody>
      </p:sp>
      <p:sp>
        <p:nvSpPr>
          <p:cNvPr id="115" name="text-117">
            <a:extLst>
              <a:ext uri="{FF2B5EF4-FFF2-40B4-BE49-F238E27FC236}">
                <a16:creationId xmlns:a16="http://schemas.microsoft.com/office/drawing/2014/main" id="{0D79FFBF-67F6-46F7-AE1F-D57F3ADF9551}"/>
              </a:ext>
            </a:extLst>
          </p:cNvPr>
          <p:cNvSpPr>
            <a:spLocks noGrp="1"/>
          </p:cNvSpPr>
          <p:nvPr/>
        </p:nvSpPr>
        <p:spPr>
          <a:xfrm>
            <a:off x="6762750" y="3629025"/>
            <a:ext cx="4743450" cy="4191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 of all 20 defaults</a:t>
            </a:r>
          </a:p>
        </p:txBody>
      </p:sp>
      <p:sp>
        <p:nvSpPr>
          <p:cNvPr id="116" name="text-118">
            <a:extLst>
              <a:ext uri="{FF2B5EF4-FFF2-40B4-BE49-F238E27FC236}">
                <a16:creationId xmlns:a16="http://schemas.microsoft.com/office/drawing/2014/main" id="{692F794E-BD76-48BF-8BF7-26407CA81335}"/>
              </a:ext>
            </a:extLst>
          </p:cNvPr>
          <p:cNvSpPr>
            <a:spLocks noGrp="1"/>
          </p:cNvSpPr>
          <p:nvPr/>
        </p:nvSpPr>
        <p:spPr>
          <a:xfrm>
            <a:off x="6762750" y="4362450"/>
            <a:ext cx="474345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PRECISION@10%</a:t>
            </a:r>
          </a:p>
        </p:txBody>
      </p:sp>
      <p:sp>
        <p:nvSpPr>
          <p:cNvPr id="117" name="text-119">
            <a:extLst>
              <a:ext uri="{FF2B5EF4-FFF2-40B4-BE49-F238E27FC236}">
                <a16:creationId xmlns:a16="http://schemas.microsoft.com/office/drawing/2014/main" id="{A1151B61-42E1-4F6D-9C23-A0843DB01C3B}"/>
              </a:ext>
            </a:extLst>
          </p:cNvPr>
          <p:cNvSpPr>
            <a:spLocks noGrp="1"/>
          </p:cNvSpPr>
          <p:nvPr/>
        </p:nvSpPr>
        <p:spPr>
          <a:xfrm>
            <a:off x="6762750" y="4695825"/>
            <a:ext cx="4743450" cy="8477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4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4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60%</a:t>
            </a:r>
          </a:p>
        </p:txBody>
      </p:sp>
      <p:sp>
        <p:nvSpPr>
          <p:cNvPr id="118" name="text-120">
            <a:extLst>
              <a:ext uri="{FF2B5EF4-FFF2-40B4-BE49-F238E27FC236}">
                <a16:creationId xmlns:a16="http://schemas.microsoft.com/office/drawing/2014/main" id="{DF78B02C-6474-43DA-85B5-EDD64B7E057B}"/>
              </a:ext>
            </a:extLst>
          </p:cNvPr>
          <p:cNvSpPr>
            <a:spLocks noGrp="1"/>
          </p:cNvSpPr>
          <p:nvPr/>
        </p:nvSpPr>
        <p:spPr>
          <a:xfrm>
            <a:off x="6762750" y="5543550"/>
            <a:ext cx="474345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6 of the 10 reviewed customers</a:t>
            </a:r>
          </a:p>
        </p:txBody>
      </p:sp>
    </p:spTree>
    <p:extLst>
      <p:ext uri="{BB962C8B-B14F-4D97-AF65-F5344CB8AC3E}">
        <p14:creationId xmlns:p14="http://schemas.microsoft.com/office/powerpoint/2010/main" val="130419327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-121">
            <a:extLst>
              <a:ext uri="{FF2B5EF4-FFF2-40B4-BE49-F238E27FC236}">
                <a16:creationId xmlns:a16="http://schemas.microsoft.com/office/drawing/2014/main" id="{561D5596-3117-4035-B976-3AB190B24B5E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33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Fairness and the consequences of a risk flag</a:t>
            </a:r>
          </a:p>
        </p:txBody>
      </p:sp>
      <p:sp>
        <p:nvSpPr>
          <p:cNvPr id="2" name="rule-122">
            <a:extLst>
              <a:ext uri="{FF2B5EF4-FFF2-40B4-BE49-F238E27FC236}">
                <a16:creationId xmlns:a16="http://schemas.microsoft.com/office/drawing/2014/main" id="{C62C61FC-8606-420E-AEEA-F9E5BD70F42F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124">
            <a:extLst>
              <a:ext uri="{FF2B5EF4-FFF2-40B4-BE49-F238E27FC236}">
                <a16:creationId xmlns:a16="http://schemas.microsoft.com/office/drawing/2014/main" id="{C1F74D3D-CE85-4153-ACA9-876B096C4BE8}"/>
              </a:ext>
            </a:extLst>
          </p:cNvPr>
          <p:cNvSpPr>
            <a:spLocks noGrp="1"/>
          </p:cNvSpPr>
          <p:nvPr/>
        </p:nvSpPr>
        <p:spPr>
          <a:xfrm>
            <a:off x="10382250" y="6486525"/>
            <a:ext cx="112395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10 / 16</a:t>
            </a:r>
          </a:p>
        </p:txBody>
      </p:sp>
      <p:sp>
        <p:nvSpPr>
          <p:cNvPr id="5" name="text-125">
            <a:extLst>
              <a:ext uri="{FF2B5EF4-FFF2-40B4-BE49-F238E27FC236}">
                <a16:creationId xmlns:a16="http://schemas.microsoft.com/office/drawing/2014/main" id="{C40D5A64-4F2E-4F87-8A1F-B1C91741D72F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47750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75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6D26"/>
                </a:solidFill>
                <a:latin typeface="Arial"/>
                <a:ea typeface="Arial"/>
                <a:cs typeface="Arial"/>
              </a:rPr>
              <a:t>HYPOTHETICAL FEMALE AND MALE ERROR RATES</a:t>
            </a:r>
          </a:p>
        </p:txBody>
      </p:sp>
      <p:graphicFrame>
        <p:nvGraphicFramePr>
          <p:cNvPr id="6" name="Chart">
            <a:extLst>
              <a:ext uri="{FF2B5EF4-FFF2-40B4-BE49-F238E27FC236}">
                <a16:creationId xmlns:a16="http://schemas.microsoft.com/office/drawing/2014/main" id="{C41465AD-FE9F-46F0-B92A-BE199EC4B8C0}"/>
              </a:ext>
            </a:extLst>
          </p:cNvPr>
          <p:cNvGraphicFramePr/>
          <p:nvPr/>
        </p:nvGraphicFramePr>
        <p:xfrm>
          <a:off x="685800" y="2324100"/>
          <a:ext cx="6181725" cy="3400425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text-126">
            <a:extLst>
              <a:ext uri="{FF2B5EF4-FFF2-40B4-BE49-F238E27FC236}">
                <a16:creationId xmlns:a16="http://schemas.microsoft.com/office/drawing/2014/main" id="{3639D1C4-1D4D-446F-A72A-A29C07EB0721}"/>
              </a:ext>
            </a:extLst>
          </p:cNvPr>
          <p:cNvSpPr>
            <a:spLocks noGrp="1"/>
          </p:cNvSpPr>
          <p:nvPr/>
        </p:nvSpPr>
        <p:spPr>
          <a:xfrm>
            <a:off x="7410450" y="2333625"/>
            <a:ext cx="409575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0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True Positive Rate</a:t>
            </a:r>
          </a:p>
        </p:txBody>
      </p:sp>
      <p:sp>
        <p:nvSpPr>
          <p:cNvPr id="8" name="text-127">
            <a:extLst>
              <a:ext uri="{FF2B5EF4-FFF2-40B4-BE49-F238E27FC236}">
                <a16:creationId xmlns:a16="http://schemas.microsoft.com/office/drawing/2014/main" id="{6D3DEE07-B1A7-4C6C-B759-1275644A0B59}"/>
              </a:ext>
            </a:extLst>
          </p:cNvPr>
          <p:cNvSpPr>
            <a:spLocks noGrp="1"/>
          </p:cNvSpPr>
          <p:nvPr/>
        </p:nvSpPr>
        <p:spPr>
          <a:xfrm>
            <a:off x="7410450" y="2790825"/>
            <a:ext cx="4095750" cy="723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Of actual defaulters,</a:t>
            </a:r>
          </a:p>
          <a:p>
            <a:pPr algn="l"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how many do we flag?</a:t>
            </a:r>
          </a:p>
        </p:txBody>
      </p:sp>
      <p:sp>
        <p:nvSpPr>
          <p:cNvPr id="9" name="text-128">
            <a:extLst>
              <a:ext uri="{FF2B5EF4-FFF2-40B4-BE49-F238E27FC236}">
                <a16:creationId xmlns:a16="http://schemas.microsoft.com/office/drawing/2014/main" id="{F1B03873-E9FA-4E53-86A3-246705DF16C6}"/>
              </a:ext>
            </a:extLst>
          </p:cNvPr>
          <p:cNvSpPr>
            <a:spLocks noGrp="1"/>
          </p:cNvSpPr>
          <p:nvPr/>
        </p:nvSpPr>
        <p:spPr>
          <a:xfrm>
            <a:off x="7410450" y="3848100"/>
            <a:ext cx="409575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53769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00" b="1">
                <a:solidFill>
                  <a:srgbClr val="53769B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53769B"/>
                </a:solidFill>
                <a:latin typeface="Arial"/>
                <a:ea typeface="Arial"/>
                <a:cs typeface="Arial"/>
              </a:rPr>
              <a:t>False Positive Rate</a:t>
            </a:r>
          </a:p>
        </p:txBody>
      </p:sp>
      <p:sp>
        <p:nvSpPr>
          <p:cNvPr id="10" name="text-129">
            <a:extLst>
              <a:ext uri="{FF2B5EF4-FFF2-40B4-BE49-F238E27FC236}">
                <a16:creationId xmlns:a16="http://schemas.microsoft.com/office/drawing/2014/main" id="{055C9985-93EA-458B-810F-FCEC0B9EB83E}"/>
              </a:ext>
            </a:extLst>
          </p:cNvPr>
          <p:cNvSpPr>
            <a:spLocks noGrp="1"/>
          </p:cNvSpPr>
          <p:nvPr/>
        </p:nvSpPr>
        <p:spPr>
          <a:xfrm>
            <a:off x="7410450" y="4305300"/>
            <a:ext cx="4095750" cy="9144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Of non-defaulters,</a:t>
            </a:r>
          </a:p>
          <a:p>
            <a:pPr algn="l">
              <a:buNone/>
              <a:defRPr sz="1950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how many do we flag incorrectly?</a:t>
            </a:r>
          </a:p>
        </p:txBody>
      </p:sp>
      <p:sp>
        <p:nvSpPr>
          <p:cNvPr id="11" name="text-130">
            <a:extLst>
              <a:ext uri="{FF2B5EF4-FFF2-40B4-BE49-F238E27FC236}">
                <a16:creationId xmlns:a16="http://schemas.microsoft.com/office/drawing/2014/main" id="{A21E2DC4-93A7-42A0-A649-4F1D5C8EC02A}"/>
              </a:ext>
            </a:extLst>
          </p:cNvPr>
          <p:cNvSpPr>
            <a:spLocks noGrp="1"/>
          </p:cNvSpPr>
          <p:nvPr/>
        </p:nvSpPr>
        <p:spPr>
          <a:xfrm>
            <a:off x="685800" y="5867400"/>
            <a:ext cx="10820400" cy="4095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6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A disparity needs context and uncertainty. It does not by itself prove discrimination.</a:t>
            </a:r>
          </a:p>
        </p:txBody>
      </p:sp>
      <p:sp>
        <p:nvSpPr>
          <p:cNvPr id="13" name="v2-shape-1041">
            <a:extLst>
              <a:ext uri="{FF2B5EF4-FFF2-40B4-BE49-F238E27FC236}">
                <a16:creationId xmlns:a16="http://schemas.microsoft.com/office/drawing/2014/main" id="{DE9753ED-A6C2-451B-908C-C41841089950}"/>
              </a:ext>
            </a:extLst>
          </p:cNvPr>
          <p:cNvSpPr>
            <a:spLocks noGrp="1"/>
          </p:cNvSpPr>
          <p:nvPr/>
        </p:nvSpPr>
        <p:spPr>
          <a:xfrm>
            <a:off x="685800" y="1781175"/>
            <a:ext cx="108204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Illustration: a high-risk flag triggers extra review</a:t>
            </a:r>
          </a:p>
        </p:txBody>
      </p:sp>
    </p:spTree>
    <p:extLst>
      <p:ext uri="{BB962C8B-B14F-4D97-AF65-F5344CB8AC3E}">
        <p14:creationId xmlns:p14="http://schemas.microsoft.com/office/powerpoint/2010/main" val="20210463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2-shape-1042">
            <a:extLst>
              <a:ext uri="{FF2B5EF4-FFF2-40B4-BE49-F238E27FC236}">
                <a16:creationId xmlns:a16="http://schemas.microsoft.com/office/drawing/2014/main" id="{020FAFFC-4379-4DCB-84F6-6006917466AA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33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What SAFE tests and what the stress judge adds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85DDF678-322D-49C8-AA19-54D146C74833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v2-shape-1044">
            <a:extLst>
              <a:ext uri="{FF2B5EF4-FFF2-40B4-BE49-F238E27FC236}">
                <a16:creationId xmlns:a16="http://schemas.microsoft.com/office/drawing/2014/main" id="{AE3D62B5-3330-4183-9815-7015EBA2C8BA}"/>
              </a:ext>
            </a:extLst>
          </p:cNvPr>
          <p:cNvSpPr>
            <a:spLocks noGrp="1"/>
          </p:cNvSpPr>
          <p:nvPr/>
        </p:nvSpPr>
        <p:spPr>
          <a:xfrm>
            <a:off x="10382250" y="6486525"/>
            <a:ext cx="112395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11 / 16</a:t>
            </a:r>
          </a:p>
        </p:txBody>
      </p:sp>
      <p:sp>
        <p:nvSpPr>
          <p:cNvPr id="5" name="v2-shape-1045">
            <a:extLst>
              <a:ext uri="{FF2B5EF4-FFF2-40B4-BE49-F238E27FC236}">
                <a16:creationId xmlns:a16="http://schemas.microsoft.com/office/drawing/2014/main" id="{32CD2544-B779-4A0E-B74C-B7452E38C000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477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6D26"/>
                </a:solidFill>
                <a:latin typeface="Arial"/>
                <a:ea typeface="Arial"/>
                <a:cs typeface="Arial"/>
              </a:rPr>
              <a:t>HYPOTHETICAL DISTURBANCE / NO MEASURED RESULTS</a:t>
            </a:r>
          </a:p>
        </p:txBody>
      </p:sp>
      <p:sp>
        <p:nvSpPr>
          <p:cNvPr id="6" name="v2-shape-1046">
            <a:extLst>
              <a:ext uri="{FF2B5EF4-FFF2-40B4-BE49-F238E27FC236}">
                <a16:creationId xmlns:a16="http://schemas.microsoft.com/office/drawing/2014/main" id="{C4C70AD4-70E5-4DB8-B56A-40B2644FE772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6096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SAFE already disturbs inputs. The proposed judge also checks</a:t>
            </a:r>
          </a:p>
          <a:p>
            <a:pPr algn="l">
              <a:defRPr sz="19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9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prediction loss against actual default outcomes.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4C2957B-9B58-43A4-B598-66BA3A3CE7A2}"/>
              </a:ext>
            </a:extLst>
          </p:cNvPr>
          <p:cNvGraphicFramePr/>
          <p:nvPr/>
        </p:nvGraphicFramePr>
        <p:xfrm>
          <a:off x="685800" y="2647950"/>
          <a:ext cx="10820400" cy="2152652"/>
        </p:xfrm>
        <a:graphic>
          <a:graphicData uri="http://schemas.openxmlformats.org/drawingml/2006/table">
            <a:tbl>
              <a:tblPr/>
              <a:tblGrid>
                <a:gridCol w="381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33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3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38163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Customer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A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C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Actual outcome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No default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No default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Default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Clean risk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10%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20%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80%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38163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Stressed risk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60%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70%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90%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v2-shape-1047">
            <a:extLst>
              <a:ext uri="{FF2B5EF4-FFF2-40B4-BE49-F238E27FC236}">
                <a16:creationId xmlns:a16="http://schemas.microsoft.com/office/drawing/2014/main" id="{72A55E29-8152-47D4-B2A6-C3C36FFD870C}"/>
              </a:ext>
            </a:extLst>
          </p:cNvPr>
          <p:cNvSpPr>
            <a:spLocks noGrp="1"/>
          </p:cNvSpPr>
          <p:nvPr/>
        </p:nvSpPr>
        <p:spPr>
          <a:xfrm>
            <a:off x="685800" y="5095875"/>
            <a:ext cx="495300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PUBLISHED SAFE RGR</a:t>
            </a:r>
          </a:p>
        </p:txBody>
      </p:sp>
      <p:sp>
        <p:nvSpPr>
          <p:cNvPr id="9" name="v2-shape-1048">
            <a:extLst>
              <a:ext uri="{FF2B5EF4-FFF2-40B4-BE49-F238E27FC236}">
                <a16:creationId xmlns:a16="http://schemas.microsoft.com/office/drawing/2014/main" id="{1B468F77-AF94-4CAE-A51F-76078E65506A}"/>
              </a:ext>
            </a:extLst>
          </p:cNvPr>
          <p:cNvSpPr>
            <a:spLocks noGrp="1"/>
          </p:cNvSpPr>
          <p:nvPr/>
        </p:nvSpPr>
        <p:spPr>
          <a:xfrm>
            <a:off x="6600825" y="5095875"/>
            <a:ext cx="4905375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PROPOSED STRESS ASSESSMENT</a:t>
            </a:r>
          </a:p>
        </p:txBody>
      </p:sp>
      <p:sp>
        <p:nvSpPr>
          <p:cNvPr id="10" name="v2-shape-1049">
            <a:extLst>
              <a:ext uri="{FF2B5EF4-FFF2-40B4-BE49-F238E27FC236}">
                <a16:creationId xmlns:a16="http://schemas.microsoft.com/office/drawing/2014/main" id="{18268136-6D9F-4E7D-941E-C9FC92E51012}"/>
              </a:ext>
            </a:extLst>
          </p:cNvPr>
          <p:cNvSpPr>
            <a:spLocks noGrp="1"/>
          </p:cNvSpPr>
          <p:nvPr/>
        </p:nvSpPr>
        <p:spPr>
          <a:xfrm>
            <a:off x="685800" y="5467350"/>
            <a:ext cx="4953000" cy="4095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Does the risk order survive?</a:t>
            </a:r>
          </a:p>
        </p:txBody>
      </p:sp>
      <p:sp>
        <p:nvSpPr>
          <p:cNvPr id="11" name="v2-shape-1050">
            <a:extLst>
              <a:ext uri="{FF2B5EF4-FFF2-40B4-BE49-F238E27FC236}">
                <a16:creationId xmlns:a16="http://schemas.microsoft.com/office/drawing/2014/main" id="{CC952960-6B1C-4CA1-8BAF-3C7C65C29B1A}"/>
              </a:ext>
            </a:extLst>
          </p:cNvPr>
          <p:cNvSpPr>
            <a:spLocks noGrp="1"/>
          </p:cNvSpPr>
          <p:nvPr/>
        </p:nvSpPr>
        <p:spPr>
          <a:xfrm>
            <a:off x="685800" y="5943600"/>
            <a:ext cx="495300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Here: the ordering stays the same</a:t>
            </a:r>
          </a:p>
        </p:txBody>
      </p:sp>
      <p:sp>
        <p:nvSpPr>
          <p:cNvPr id="12" name="v2-shape-1051">
            <a:extLst>
              <a:ext uri="{FF2B5EF4-FFF2-40B4-BE49-F238E27FC236}">
                <a16:creationId xmlns:a16="http://schemas.microsoft.com/office/drawing/2014/main" id="{1F676A31-0CB4-4CEC-9775-2D28076DD406}"/>
              </a:ext>
            </a:extLst>
          </p:cNvPr>
          <p:cNvSpPr>
            <a:spLocks noGrp="1"/>
          </p:cNvSpPr>
          <p:nvPr/>
        </p:nvSpPr>
        <p:spPr>
          <a:xfrm>
            <a:off x="6600825" y="5467350"/>
            <a:ext cx="4905375" cy="4095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Clean Brier 0.030; stressed 0.287</a:t>
            </a:r>
          </a:p>
        </p:txBody>
      </p:sp>
      <p:sp>
        <p:nvSpPr>
          <p:cNvPr id="13" name="v2-shape-1052">
            <a:extLst>
              <a:ext uri="{FF2B5EF4-FFF2-40B4-BE49-F238E27FC236}">
                <a16:creationId xmlns:a16="http://schemas.microsoft.com/office/drawing/2014/main" id="{46391AB3-9D7F-435B-8C42-A61C8F07B083}"/>
              </a:ext>
            </a:extLst>
          </p:cNvPr>
          <p:cNvSpPr>
            <a:spLocks noGrp="1"/>
          </p:cNvSpPr>
          <p:nvPr/>
        </p:nvSpPr>
        <p:spPr>
          <a:xfrm>
            <a:off x="6600825" y="5943600"/>
            <a:ext cx="4905375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A96D26"/>
                </a:solidFill>
                <a:latin typeface="Arial"/>
                <a:ea typeface="Arial"/>
                <a:cs typeface="Arial"/>
              </a:rPr>
              <a:t>Deterioration: +0.257</a:t>
            </a:r>
          </a:p>
        </p:txBody>
      </p:sp>
    </p:spTree>
    <p:extLst>
      <p:ext uri="{BB962C8B-B14F-4D97-AF65-F5344CB8AC3E}">
        <p14:creationId xmlns:p14="http://schemas.microsoft.com/office/powerpoint/2010/main" val="10272081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88793C82-38E2-4F10-99CF-773F18B7A7B6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2781300" y="2828925"/>
            <a:ext cx="752475" cy="0"/>
          </a:xfrm>
          <a:prstGeom prst="straightConnector1">
            <a:avLst/>
          </a:prstGeom>
          <a:ln w="19050">
            <a:solidFill>
              <a:srgbClr val="51677B"/>
            </a:solidFill>
            <a:prstDash val="solid"/>
            <a:tailEnd type="triangle" w="sm" len="sm"/>
          </a:ln>
        </p:spPr>
      </p:cxnSp>
      <p:sp>
        <p:nvSpPr>
          <p:cNvPr id="15" name="text-143">
            <a:extLst>
              <a:ext uri="{FF2B5EF4-FFF2-40B4-BE49-F238E27FC236}">
                <a16:creationId xmlns:a16="http://schemas.microsoft.com/office/drawing/2014/main" id="{593FFB86-F16D-461C-8362-EBEFF5F2A587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33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Explainability remains an open part of the judge</a:t>
            </a:r>
          </a:p>
        </p:txBody>
      </p:sp>
      <p:sp>
        <p:nvSpPr>
          <p:cNvPr id="2" name="rule-144">
            <a:extLst>
              <a:ext uri="{FF2B5EF4-FFF2-40B4-BE49-F238E27FC236}">
                <a16:creationId xmlns:a16="http://schemas.microsoft.com/office/drawing/2014/main" id="{1DF21CA5-3646-4CA1-B2B7-54FACBAC63F2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146">
            <a:extLst>
              <a:ext uri="{FF2B5EF4-FFF2-40B4-BE49-F238E27FC236}">
                <a16:creationId xmlns:a16="http://schemas.microsoft.com/office/drawing/2014/main" id="{D6388187-27B5-4E46-BD47-C1E7E69A6820}"/>
              </a:ext>
            </a:extLst>
          </p:cNvPr>
          <p:cNvSpPr>
            <a:spLocks noGrp="1"/>
          </p:cNvSpPr>
          <p:nvPr/>
        </p:nvSpPr>
        <p:spPr>
          <a:xfrm>
            <a:off x="10382250" y="6486525"/>
            <a:ext cx="112395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12 / 16</a:t>
            </a:r>
          </a:p>
        </p:txBody>
      </p:sp>
      <p:sp>
        <p:nvSpPr>
          <p:cNvPr id="5" name="text-147">
            <a:extLst>
              <a:ext uri="{FF2B5EF4-FFF2-40B4-BE49-F238E27FC236}">
                <a16:creationId xmlns:a16="http://schemas.microsoft.com/office/drawing/2014/main" id="{1CE5782B-D58E-490A-A3A6-19E6CAD9A53D}"/>
              </a:ext>
            </a:extLst>
          </p:cNvPr>
          <p:cNvSpPr>
            <a:spLocks noGrp="1"/>
          </p:cNvSpPr>
          <p:nvPr/>
        </p:nvSpPr>
        <p:spPr>
          <a:xfrm>
            <a:off x="685800" y="1543050"/>
            <a:ext cx="561975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SAFE: FEATURE INFLUENCE</a:t>
            </a:r>
          </a:p>
        </p:txBody>
      </p:sp>
      <p:sp>
        <p:nvSpPr>
          <p:cNvPr id="6" name="diagram-node-148">
            <a:extLst>
              <a:ext uri="{FF2B5EF4-FFF2-40B4-BE49-F238E27FC236}">
                <a16:creationId xmlns:a16="http://schemas.microsoft.com/office/drawing/2014/main" id="{62C4763B-5521-4107-B1C8-8B7553FE555B}"/>
              </a:ext>
            </a:extLst>
          </p:cNvPr>
          <p:cNvSpPr>
            <a:spLocks noGrp="1"/>
          </p:cNvSpPr>
          <p:nvPr/>
        </p:nvSpPr>
        <p:spPr>
          <a:xfrm>
            <a:off x="685800" y="2276475"/>
            <a:ext cx="2095500" cy="1104900"/>
          </a:xfrm>
          <a:prstGeom prst="rect">
            <a:avLst/>
          </a:prstGeom>
          <a:solidFill>
            <a:srgbClr val="EAF3F3"/>
          </a:solidFill>
          <a:ln w="14288">
            <a:solidFill>
              <a:srgbClr val="007F83"/>
            </a:solidFill>
            <a:prstDash val="solid"/>
          </a:ln>
        </p:spPr>
        <p:txBody>
          <a:bodyPr wrap="square" lIns="114300" tIns="114300" rIns="114300" bIns="114300" anchor="ctr"/>
          <a:lstStyle>
            <a:defPPr algn="ctr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Full set</a:t>
            </a:r>
          </a:p>
          <a:p>
            <a:pPr algn="ctr">
              <a:buNone/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of inputs</a:t>
            </a:r>
          </a:p>
        </p:txBody>
      </p:sp>
      <p:sp>
        <p:nvSpPr>
          <p:cNvPr id="7" name="diagram-node-149">
            <a:extLst>
              <a:ext uri="{FF2B5EF4-FFF2-40B4-BE49-F238E27FC236}">
                <a16:creationId xmlns:a16="http://schemas.microsoft.com/office/drawing/2014/main" id="{830D07CA-3A8F-4BD0-B263-2E40F850E213}"/>
              </a:ext>
            </a:extLst>
          </p:cNvPr>
          <p:cNvSpPr>
            <a:spLocks noGrp="1"/>
          </p:cNvSpPr>
          <p:nvPr/>
        </p:nvSpPr>
        <p:spPr>
          <a:xfrm>
            <a:off x="3533775" y="2276475"/>
            <a:ext cx="2095500" cy="1104900"/>
          </a:xfrm>
          <a:prstGeom prst="rect">
            <a:avLst/>
          </a:prstGeom>
          <a:solidFill>
            <a:srgbClr val="FFFFFF"/>
          </a:solidFill>
          <a:ln w="14288">
            <a:solidFill>
              <a:srgbClr val="007F83"/>
            </a:solidFill>
            <a:prstDash val="dash"/>
          </a:ln>
        </p:spPr>
        <p:txBody>
          <a:bodyPr wrap="square" lIns="114300" tIns="114300" rIns="114300" bIns="114300" anchor="ctr"/>
          <a:lstStyle>
            <a:defPPr algn="ctr"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ctr">
              <a:buNone/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Remove</a:t>
            </a:r>
          </a:p>
          <a:p>
            <a:pPr algn="ctr">
              <a:buNone/>
              <a:defRPr sz="18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an input</a:t>
            </a:r>
          </a:p>
        </p:txBody>
      </p:sp>
      <p:sp>
        <p:nvSpPr>
          <p:cNvPr id="9" name="text-150">
            <a:extLst>
              <a:ext uri="{FF2B5EF4-FFF2-40B4-BE49-F238E27FC236}">
                <a16:creationId xmlns:a16="http://schemas.microsoft.com/office/drawing/2014/main" id="{35F503D0-3CD8-42CA-B493-E4D65E8FA304}"/>
              </a:ext>
            </a:extLst>
          </p:cNvPr>
          <p:cNvSpPr>
            <a:spLocks noGrp="1"/>
          </p:cNvSpPr>
          <p:nvPr/>
        </p:nvSpPr>
        <p:spPr>
          <a:xfrm>
            <a:off x="685800" y="3867150"/>
            <a:ext cx="4943475" cy="1066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How does the prediction</a:t>
            </a:r>
          </a:p>
          <a:p>
            <a:pPr algn="l">
              <a:buNone/>
              <a:defRPr sz="24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ranking change?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A17950E2-579A-47AF-98DB-93148E4D5799}"/>
              </a:ext>
            </a:extLst>
          </p:cNvPr>
          <p:cNvSpPr>
            <a:spLocks noGrp="1"/>
          </p:cNvSpPr>
          <p:nvPr/>
        </p:nvSpPr>
        <p:spPr>
          <a:xfrm>
            <a:off x="6210300" y="1628775"/>
            <a:ext cx="0" cy="3648075"/>
          </a:xfrm>
          <a:prstGeom prst="line">
            <a:avLst/>
          </a:prstGeom>
          <a:noFill/>
          <a:ln w="9525">
            <a:solidFill>
              <a:srgbClr val="CDDBE2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-151">
            <a:extLst>
              <a:ext uri="{FF2B5EF4-FFF2-40B4-BE49-F238E27FC236}">
                <a16:creationId xmlns:a16="http://schemas.microsoft.com/office/drawing/2014/main" id="{5F84EA0D-0E9A-470A-840E-D2E54A1910B4}"/>
              </a:ext>
            </a:extLst>
          </p:cNvPr>
          <p:cNvSpPr>
            <a:spLocks noGrp="1"/>
          </p:cNvSpPr>
          <p:nvPr/>
        </p:nvSpPr>
        <p:spPr>
          <a:xfrm>
            <a:off x="6905625" y="1543050"/>
            <a:ext cx="4600575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BROADER EXPLANATION QUALITY</a:t>
            </a:r>
          </a:p>
        </p:txBody>
      </p:sp>
      <p:sp>
        <p:nvSpPr>
          <p:cNvPr id="12" name="text-152">
            <a:extLst>
              <a:ext uri="{FF2B5EF4-FFF2-40B4-BE49-F238E27FC236}">
                <a16:creationId xmlns:a16="http://schemas.microsoft.com/office/drawing/2014/main" id="{3338AAD4-1DD4-499E-B919-9FB46D3CFEF8}"/>
              </a:ext>
            </a:extLst>
          </p:cNvPr>
          <p:cNvSpPr>
            <a:spLocks noGrp="1"/>
          </p:cNvSpPr>
          <p:nvPr/>
        </p:nvSpPr>
        <p:spPr>
          <a:xfrm>
            <a:off x="6905625" y="2266950"/>
            <a:ext cx="4600575" cy="1876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Faithful to the model?</a:t>
            </a:r>
          </a:p>
          <a:p>
            <a:pPr algn="l">
              <a:buNone/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Stable across similar cases?</a:t>
            </a:r>
          </a:p>
          <a:p>
            <a:pPr algn="l">
              <a:buNone/>
              <a:defRPr sz="23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Understandable to its users?</a:t>
            </a:r>
          </a:p>
        </p:txBody>
      </p:sp>
      <p:sp>
        <p:nvSpPr>
          <p:cNvPr id="13" name="text-153">
            <a:extLst>
              <a:ext uri="{FF2B5EF4-FFF2-40B4-BE49-F238E27FC236}">
                <a16:creationId xmlns:a16="http://schemas.microsoft.com/office/drawing/2014/main" id="{3E9CE00E-CBC2-4C18-91F6-918FD7D7EF09}"/>
              </a:ext>
            </a:extLst>
          </p:cNvPr>
          <p:cNvSpPr>
            <a:spLocks noGrp="1"/>
          </p:cNvSpPr>
          <p:nvPr/>
        </p:nvSpPr>
        <p:spPr>
          <a:xfrm>
            <a:off x="6905625" y="4581525"/>
            <a:ext cx="4600575" cy="9715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SHAP can help describe behaviour.</a:t>
            </a:r>
          </a:p>
          <a:p>
            <a:pPr algn="l">
              <a:buNone/>
              <a:defRPr sz="19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An independent metric is still open.</a:t>
            </a:r>
          </a:p>
        </p:txBody>
      </p:sp>
      <p:sp>
        <p:nvSpPr>
          <p:cNvPr id="14" name="text-154">
            <a:extLst>
              <a:ext uri="{FF2B5EF4-FFF2-40B4-BE49-F238E27FC236}">
                <a16:creationId xmlns:a16="http://schemas.microsoft.com/office/drawing/2014/main" id="{8A0F5541-55BB-4BD4-9A56-F80A1739451E}"/>
              </a:ext>
            </a:extLst>
          </p:cNvPr>
          <p:cNvSpPr>
            <a:spLocks noGrp="1"/>
          </p:cNvSpPr>
          <p:nvPr/>
        </p:nvSpPr>
        <p:spPr>
          <a:xfrm>
            <a:off x="685800" y="5838825"/>
            <a:ext cx="10820400" cy="3810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80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No definitive explainability criterion or hard gate has been selected.</a:t>
            </a:r>
          </a:p>
        </p:txBody>
      </p:sp>
    </p:spTree>
    <p:extLst>
      <p:ext uri="{BB962C8B-B14F-4D97-AF65-F5344CB8AC3E}">
        <p14:creationId xmlns:p14="http://schemas.microsoft.com/office/powerpoint/2010/main" val="150881482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v2-shape-1053">
            <a:extLst>
              <a:ext uri="{FF2B5EF4-FFF2-40B4-BE49-F238E27FC236}">
                <a16:creationId xmlns:a16="http://schemas.microsoft.com/office/drawing/2014/main" id="{57146A97-BA12-4364-8BA9-6014D46B5CD4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33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How we compare the selected models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E329743F-FC5B-4CAC-A255-372C7D9F93BE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v2-shape-1055">
            <a:extLst>
              <a:ext uri="{FF2B5EF4-FFF2-40B4-BE49-F238E27FC236}">
                <a16:creationId xmlns:a16="http://schemas.microsoft.com/office/drawing/2014/main" id="{EF8127D7-4E44-4F72-8621-F868CAA8101A}"/>
              </a:ext>
            </a:extLst>
          </p:cNvPr>
          <p:cNvSpPr>
            <a:spLocks noGrp="1"/>
          </p:cNvSpPr>
          <p:nvPr/>
        </p:nvSpPr>
        <p:spPr>
          <a:xfrm>
            <a:off x="10382250" y="6486525"/>
            <a:ext cx="112395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13 / 16</a:t>
            </a:r>
          </a:p>
        </p:txBody>
      </p:sp>
      <p:sp>
        <p:nvSpPr>
          <p:cNvPr id="5" name="v2-shape-1056">
            <a:extLst>
              <a:ext uri="{FF2B5EF4-FFF2-40B4-BE49-F238E27FC236}">
                <a16:creationId xmlns:a16="http://schemas.microsoft.com/office/drawing/2014/main" id="{4C822464-A302-4ED4-AB05-567CF3027848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4775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6D26"/>
                </a:solidFill>
                <a:latin typeface="Arial"/>
                <a:ea typeface="Arial"/>
                <a:cs typeface="Arial"/>
              </a:rPr>
              <a:t>HYPOTHETICAL CANDIDATE COMPARISON</a:t>
            </a:r>
          </a:p>
        </p:txBody>
      </p:sp>
      <p:sp>
        <p:nvSpPr>
          <p:cNvPr id="6" name="v2-shape-1057">
            <a:extLst>
              <a:ext uri="{FF2B5EF4-FFF2-40B4-BE49-F238E27FC236}">
                <a16:creationId xmlns:a16="http://schemas.microsoft.com/office/drawing/2014/main" id="{509513E0-515C-47E6-BE03-351DE9770F7A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10820400" cy="495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Illustration: published SAFE selects A; our method selects B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4CC0B05-69F0-44F9-9181-DC9A0F4BDA14}"/>
              </a:ext>
            </a:extLst>
          </p:cNvPr>
          <p:cNvGraphicFramePr/>
          <p:nvPr/>
        </p:nvGraphicFramePr>
        <p:xfrm>
          <a:off x="685800" y="2628900"/>
          <a:ext cx="6667500" cy="1971675"/>
        </p:xfrm>
        <a:graphic>
          <a:graphicData uri="http://schemas.openxmlformats.org/drawingml/2006/table">
            <a:tbl>
              <a:tblPr/>
              <a:tblGrid>
                <a:gridCol w="3086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907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57225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Outer-test assessment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Selected A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Selected B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Brier Score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0.140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0.145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57225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TPR disparity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12 points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3 points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8" name="v2-shape-1058">
            <a:extLst>
              <a:ext uri="{FF2B5EF4-FFF2-40B4-BE49-F238E27FC236}">
                <a16:creationId xmlns:a16="http://schemas.microsoft.com/office/drawing/2014/main" id="{9803AB2A-B4CC-40EF-87AA-61133285500B}"/>
              </a:ext>
            </a:extLst>
          </p:cNvPr>
          <p:cNvSpPr>
            <a:spLocks noGrp="1"/>
          </p:cNvSpPr>
          <p:nvPr/>
        </p:nvSpPr>
        <p:spPr>
          <a:xfrm>
            <a:off x="685800" y="4743450"/>
            <a:ext cx="666750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Disparities in percentage points</a:t>
            </a:r>
          </a:p>
        </p:txBody>
      </p:sp>
      <p:sp>
        <p:nvSpPr>
          <p:cNvPr id="9" name="v2-shape-1059">
            <a:extLst>
              <a:ext uri="{FF2B5EF4-FFF2-40B4-BE49-F238E27FC236}">
                <a16:creationId xmlns:a16="http://schemas.microsoft.com/office/drawing/2014/main" id="{F08D8BAF-EE21-4A06-B928-ECB95DF2D105}"/>
              </a:ext>
            </a:extLst>
          </p:cNvPr>
          <p:cNvSpPr>
            <a:spLocks noGrp="1"/>
          </p:cNvSpPr>
          <p:nvPr/>
        </p:nvSpPr>
        <p:spPr>
          <a:xfrm>
            <a:off x="8010525" y="2724150"/>
            <a:ext cx="3495675" cy="895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A: lower observed</a:t>
            </a:r>
          </a:p>
          <a:p>
            <a: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probability loss</a:t>
            </a:r>
          </a:p>
        </p:txBody>
      </p:sp>
      <p:sp>
        <p:nvSpPr>
          <p:cNvPr id="10" name="v2-shape-1060">
            <a:extLst>
              <a:ext uri="{FF2B5EF4-FFF2-40B4-BE49-F238E27FC236}">
                <a16:creationId xmlns:a16="http://schemas.microsoft.com/office/drawing/2014/main" id="{E2C04342-970C-48D4-A67C-B7374D1AF7E5}"/>
              </a:ext>
            </a:extLst>
          </p:cNvPr>
          <p:cNvSpPr>
            <a:spLocks noGrp="1"/>
          </p:cNvSpPr>
          <p:nvPr/>
        </p:nvSpPr>
        <p:spPr>
          <a:xfrm>
            <a:off x="8010525" y="3876675"/>
            <a:ext cx="3495675" cy="8763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B: smaller observed</a:t>
            </a:r>
          </a:p>
          <a:p>
            <a: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TPR gap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7689709A-F796-4A7C-9454-7F26184C86AF}"/>
              </a:ext>
            </a:extLst>
          </p:cNvPr>
          <p:cNvSpPr>
            <a:spLocks noGrp="1"/>
          </p:cNvSpPr>
          <p:nvPr/>
        </p:nvSpPr>
        <p:spPr>
          <a:xfrm>
            <a:off x="685800" y="5267325"/>
            <a:ext cx="10820400" cy="0"/>
          </a:xfrm>
          <a:prstGeom prst="line">
            <a:avLst/>
          </a:prstGeom>
          <a:noFill/>
          <a:ln w="19050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v2-shape-1061">
            <a:extLst>
              <a:ext uri="{FF2B5EF4-FFF2-40B4-BE49-F238E27FC236}">
                <a16:creationId xmlns:a16="http://schemas.microsoft.com/office/drawing/2014/main" id="{C0723D27-FA55-455B-8341-1128E5CFF52D}"/>
              </a:ext>
            </a:extLst>
          </p:cNvPr>
          <p:cNvSpPr>
            <a:spLocks noGrp="1"/>
          </p:cNvSpPr>
          <p:nvPr/>
        </p:nvSpPr>
        <p:spPr>
          <a:xfrm>
            <a:off x="685800" y="5505450"/>
            <a:ext cx="10820400" cy="4191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Observed Pareto trade-off: neither is better on both measures</a:t>
            </a:r>
          </a:p>
        </p:txBody>
      </p:sp>
      <p:sp>
        <p:nvSpPr>
          <p:cNvPr id="13" name="v2-shape-1062">
            <a:extLst>
              <a:ext uri="{FF2B5EF4-FFF2-40B4-BE49-F238E27FC236}">
                <a16:creationId xmlns:a16="http://schemas.microsoft.com/office/drawing/2014/main" id="{0187B56F-82D4-4D3D-9815-806EBE5AB584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1082040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6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Assess uncertainty and practical importance before claiming improvement.</a:t>
            </a:r>
          </a:p>
        </p:txBody>
      </p:sp>
    </p:spTree>
    <p:extLst>
      <p:ext uri="{BB962C8B-B14F-4D97-AF65-F5344CB8AC3E}">
        <p14:creationId xmlns:p14="http://schemas.microsoft.com/office/powerpoint/2010/main" val="20318081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v2-shape-1063">
            <a:extLst>
              <a:ext uri="{FF2B5EF4-FFF2-40B4-BE49-F238E27FC236}">
                <a16:creationId xmlns:a16="http://schemas.microsoft.com/office/drawing/2014/main" id="{A3EF080F-B3B3-43D8-AFBD-BC5E436843C7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33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What would the evidence allow us to conclude?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1DFD94FF-0CC1-4609-8948-7E4823A40D01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v2-shape-1065">
            <a:extLst>
              <a:ext uri="{FF2B5EF4-FFF2-40B4-BE49-F238E27FC236}">
                <a16:creationId xmlns:a16="http://schemas.microsoft.com/office/drawing/2014/main" id="{23F22D7D-D6C5-405D-88ED-D6E3DC3BE20D}"/>
              </a:ext>
            </a:extLst>
          </p:cNvPr>
          <p:cNvSpPr>
            <a:spLocks noGrp="1"/>
          </p:cNvSpPr>
          <p:nvPr/>
        </p:nvSpPr>
        <p:spPr>
          <a:xfrm>
            <a:off x="10382250" y="6486525"/>
            <a:ext cx="112395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14 / 16</a:t>
            </a:r>
          </a:p>
        </p:txBody>
      </p:sp>
      <p:sp>
        <p:nvSpPr>
          <p:cNvPr id="5" name="v2-shape-1066">
            <a:extLst>
              <a:ext uri="{FF2B5EF4-FFF2-40B4-BE49-F238E27FC236}">
                <a16:creationId xmlns:a16="http://schemas.microsoft.com/office/drawing/2014/main" id="{2ACC4450-E12F-4058-BF8D-66815F6752DC}"/>
              </a:ext>
            </a:extLst>
          </p:cNvPr>
          <p:cNvSpPr>
            <a:spLocks noGrp="1"/>
          </p:cNvSpPr>
          <p:nvPr/>
        </p:nvSpPr>
        <p:spPr>
          <a:xfrm>
            <a:off x="685800" y="1800225"/>
            <a:ext cx="3162300" cy="8858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Observed</a:t>
            </a:r>
          </a:p>
          <a:p>
            <a:pPr algn="l">
              <a:defRPr sz="25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difference</a:t>
            </a:r>
          </a:p>
        </p:txBody>
      </p:sp>
      <p:sp>
        <p:nvSpPr>
          <p:cNvPr id="6" name="v2-shape-1067">
            <a:extLst>
              <a:ext uri="{FF2B5EF4-FFF2-40B4-BE49-F238E27FC236}">
                <a16:creationId xmlns:a16="http://schemas.microsoft.com/office/drawing/2014/main" id="{B1EE6ED3-CD12-48B9-AE7F-9C6893DF4FF2}"/>
              </a:ext>
            </a:extLst>
          </p:cNvPr>
          <p:cNvSpPr>
            <a:spLocks noGrp="1"/>
          </p:cNvSpPr>
          <p:nvPr/>
        </p:nvSpPr>
        <p:spPr>
          <a:xfrm>
            <a:off x="685800" y="2924175"/>
            <a:ext cx="3162300" cy="12287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Which choice looks</a:t>
            </a:r>
          </a:p>
          <a:p>
            <a:pPr algn="l"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better in our sample?</a:t>
            </a:r>
          </a:p>
        </p:txBody>
      </p:sp>
      <p:sp>
        <p:nvSpPr>
          <p:cNvPr id="7" name="v2-shape-1068">
            <a:extLst>
              <a:ext uri="{FF2B5EF4-FFF2-40B4-BE49-F238E27FC236}">
                <a16:creationId xmlns:a16="http://schemas.microsoft.com/office/drawing/2014/main" id="{AE66FFE8-CC5A-41AB-B98C-4F8795408022}"/>
              </a:ext>
            </a:extLst>
          </p:cNvPr>
          <p:cNvSpPr>
            <a:spLocks noGrp="1"/>
          </p:cNvSpPr>
          <p:nvPr/>
        </p:nvSpPr>
        <p:spPr>
          <a:xfrm>
            <a:off x="4514850" y="1800225"/>
            <a:ext cx="3162300" cy="8858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Uncertainty</a:t>
            </a:r>
          </a:p>
        </p:txBody>
      </p:sp>
      <p:sp>
        <p:nvSpPr>
          <p:cNvPr id="8" name="v2-shape-1069">
            <a:extLst>
              <a:ext uri="{FF2B5EF4-FFF2-40B4-BE49-F238E27FC236}">
                <a16:creationId xmlns:a16="http://schemas.microsoft.com/office/drawing/2014/main" id="{A0D5E54F-D5BF-4242-8D4B-EA398FD94FB2}"/>
              </a:ext>
            </a:extLst>
          </p:cNvPr>
          <p:cNvSpPr>
            <a:spLocks noGrp="1"/>
          </p:cNvSpPr>
          <p:nvPr/>
        </p:nvSpPr>
        <p:spPr>
          <a:xfrm>
            <a:off x="4514850" y="2924175"/>
            <a:ext cx="3162300" cy="12287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Could training and</a:t>
            </a:r>
          </a:p>
          <a:p>
            <a:pPr algn="l"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sampling variation</a:t>
            </a:r>
          </a:p>
          <a:p>
            <a:pPr algn="l"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change that finding?</a:t>
            </a:r>
          </a:p>
        </p:txBody>
      </p:sp>
      <p:sp>
        <p:nvSpPr>
          <p:cNvPr id="9" name="v2-shape-1070">
            <a:extLst>
              <a:ext uri="{FF2B5EF4-FFF2-40B4-BE49-F238E27FC236}">
                <a16:creationId xmlns:a16="http://schemas.microsoft.com/office/drawing/2014/main" id="{BBCB325A-46D8-4A8F-A58B-4FDEAC100D32}"/>
              </a:ext>
            </a:extLst>
          </p:cNvPr>
          <p:cNvSpPr>
            <a:spLocks noGrp="1"/>
          </p:cNvSpPr>
          <p:nvPr/>
        </p:nvSpPr>
        <p:spPr>
          <a:xfrm>
            <a:off x="8343900" y="1800225"/>
            <a:ext cx="3162300" cy="8858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5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Practical</a:t>
            </a:r>
          </a:p>
          <a:p>
            <a:pPr algn="l">
              <a:defRPr sz="25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importance</a:t>
            </a:r>
          </a:p>
        </p:txBody>
      </p:sp>
      <p:sp>
        <p:nvSpPr>
          <p:cNvPr id="10" name="v2-shape-1071">
            <a:extLst>
              <a:ext uri="{FF2B5EF4-FFF2-40B4-BE49-F238E27FC236}">
                <a16:creationId xmlns:a16="http://schemas.microsoft.com/office/drawing/2014/main" id="{6BF4E241-1E7B-4815-A39C-F12FFB224158}"/>
              </a:ext>
            </a:extLst>
          </p:cNvPr>
          <p:cNvSpPr>
            <a:spLocks noGrp="1"/>
          </p:cNvSpPr>
          <p:nvPr/>
        </p:nvSpPr>
        <p:spPr>
          <a:xfrm>
            <a:off x="8343900" y="2924175"/>
            <a:ext cx="3162300" cy="12287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Is the difference</a:t>
            </a:r>
          </a:p>
          <a:p>
            <a:pPr algn="l">
              <a:defRPr sz="202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large enough to matter?</a:t>
            </a:r>
          </a:p>
        </p:txBody>
      </p:sp>
      <p:sp>
        <p:nvSpPr>
          <p:cNvPr id="11" name="Straight Connector 10">
            <a:extLst>
              <a:ext uri="{FF2B5EF4-FFF2-40B4-BE49-F238E27FC236}">
                <a16:creationId xmlns:a16="http://schemas.microsoft.com/office/drawing/2014/main" id="{E9593DA4-2336-4B71-AC32-1F053CC60B5F}"/>
              </a:ext>
            </a:extLst>
          </p:cNvPr>
          <p:cNvSpPr>
            <a:spLocks noGrp="1"/>
          </p:cNvSpPr>
          <p:nvPr/>
        </p:nvSpPr>
        <p:spPr>
          <a:xfrm>
            <a:off x="685800" y="450532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2" name="v2-shape-1072">
            <a:extLst>
              <a:ext uri="{FF2B5EF4-FFF2-40B4-BE49-F238E27FC236}">
                <a16:creationId xmlns:a16="http://schemas.microsoft.com/office/drawing/2014/main" id="{CD04E382-5EA7-4C31-AAA0-E0C8403D54AD}"/>
              </a:ext>
            </a:extLst>
          </p:cNvPr>
          <p:cNvSpPr>
            <a:spLocks noGrp="1"/>
          </p:cNvSpPr>
          <p:nvPr/>
        </p:nvSpPr>
        <p:spPr>
          <a:xfrm>
            <a:off x="685800" y="4752975"/>
            <a:ext cx="1082040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POSSIBLE CONCLUSIONS</a:t>
            </a:r>
          </a:p>
        </p:txBody>
      </p:sp>
      <p:sp>
        <p:nvSpPr>
          <p:cNvPr id="13" name="v2-shape-1073">
            <a:extLst>
              <a:ext uri="{FF2B5EF4-FFF2-40B4-BE49-F238E27FC236}">
                <a16:creationId xmlns:a16="http://schemas.microsoft.com/office/drawing/2014/main" id="{03841929-9953-4E58-BD54-24164269FFE4}"/>
              </a:ext>
            </a:extLst>
          </p:cNvPr>
          <p:cNvSpPr>
            <a:spLocks noGrp="1"/>
          </p:cNvSpPr>
          <p:nvPr/>
        </p:nvSpPr>
        <p:spPr>
          <a:xfrm>
            <a:off x="685800" y="5219700"/>
            <a:ext cx="5095875" cy="4191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Predictive improvement</a:t>
            </a:r>
          </a:p>
        </p:txBody>
      </p:sp>
      <p:sp>
        <p:nvSpPr>
          <p:cNvPr id="14" name="v2-shape-1074">
            <a:extLst>
              <a:ext uri="{FF2B5EF4-FFF2-40B4-BE49-F238E27FC236}">
                <a16:creationId xmlns:a16="http://schemas.microsoft.com/office/drawing/2014/main" id="{C72BBF37-5737-4D4E-84BF-57AC9A59A37F}"/>
              </a:ext>
            </a:extLst>
          </p:cNvPr>
          <p:cNvSpPr>
            <a:spLocks noGrp="1"/>
          </p:cNvSpPr>
          <p:nvPr/>
        </p:nvSpPr>
        <p:spPr>
          <a:xfrm>
            <a:off x="6638925" y="5219700"/>
            <a:ext cx="4867275" cy="4191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An explicit trade-off</a:t>
            </a:r>
          </a:p>
        </p:txBody>
      </p:sp>
      <p:sp>
        <p:nvSpPr>
          <p:cNvPr id="15" name="v2-shape-1075">
            <a:extLst>
              <a:ext uri="{FF2B5EF4-FFF2-40B4-BE49-F238E27FC236}">
                <a16:creationId xmlns:a16="http://schemas.microsoft.com/office/drawing/2014/main" id="{781A524E-FF0E-44D1-9F62-63BBD0411EBF}"/>
              </a:ext>
            </a:extLst>
          </p:cNvPr>
          <p:cNvSpPr>
            <a:spLocks noGrp="1"/>
          </p:cNvSpPr>
          <p:nvPr/>
        </p:nvSpPr>
        <p:spPr>
          <a:xfrm>
            <a:off x="685800" y="5800725"/>
            <a:ext cx="5334000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Equivalence within an agreed margin</a:t>
            </a:r>
          </a:p>
        </p:txBody>
      </p:sp>
      <p:sp>
        <p:nvSpPr>
          <p:cNvPr id="16" name="v2-shape-1076">
            <a:extLst>
              <a:ext uri="{FF2B5EF4-FFF2-40B4-BE49-F238E27FC236}">
                <a16:creationId xmlns:a16="http://schemas.microsoft.com/office/drawing/2014/main" id="{421AE57F-B9D0-4215-88D7-970A1E241172}"/>
              </a:ext>
            </a:extLst>
          </p:cNvPr>
          <p:cNvSpPr>
            <a:spLocks noGrp="1"/>
          </p:cNvSpPr>
          <p:nvPr/>
        </p:nvSpPr>
        <p:spPr>
          <a:xfrm>
            <a:off x="6638925" y="5800725"/>
            <a:ext cx="4867275" cy="3619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9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Inconclusive evidence</a:t>
            </a:r>
          </a:p>
        </p:txBody>
      </p:sp>
    </p:spTree>
    <p:extLst>
      <p:ext uri="{BB962C8B-B14F-4D97-AF65-F5344CB8AC3E}">
        <p14:creationId xmlns:p14="http://schemas.microsoft.com/office/powerpoint/2010/main" val="55449159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v2-shape-1077">
            <a:extLst>
              <a:ext uri="{FF2B5EF4-FFF2-40B4-BE49-F238E27FC236}">
                <a16:creationId xmlns:a16="http://schemas.microsoft.com/office/drawing/2014/main" id="{C17647B6-5116-4555-9B6A-03287A8AFC21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33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How we keep the comparison fair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E260F664-7D77-4B02-BFF3-022E0FE9D6D6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v2-shape-1079">
            <a:extLst>
              <a:ext uri="{FF2B5EF4-FFF2-40B4-BE49-F238E27FC236}">
                <a16:creationId xmlns:a16="http://schemas.microsoft.com/office/drawing/2014/main" id="{00B83953-4036-4793-A47F-4EA081AB024E}"/>
              </a:ext>
            </a:extLst>
          </p:cNvPr>
          <p:cNvSpPr>
            <a:spLocks noGrp="1"/>
          </p:cNvSpPr>
          <p:nvPr/>
        </p:nvSpPr>
        <p:spPr>
          <a:xfrm>
            <a:off x="10382250" y="6486525"/>
            <a:ext cx="112395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15 / 16</a:t>
            </a:r>
          </a:p>
        </p:txBody>
      </p:sp>
      <p:sp>
        <p:nvSpPr>
          <p:cNvPr id="5" name="v2-shape-1080">
            <a:extLst>
              <a:ext uri="{FF2B5EF4-FFF2-40B4-BE49-F238E27FC236}">
                <a16:creationId xmlns:a16="http://schemas.microsoft.com/office/drawing/2014/main" id="{427BDD2B-D952-4ECC-903B-4BE731F09213}"/>
              </a:ext>
            </a:extLst>
          </p:cNvPr>
          <p:cNvSpPr>
            <a:spLocks noGrp="1"/>
          </p:cNvSpPr>
          <p:nvPr/>
        </p:nvSpPr>
        <p:spPr>
          <a:xfrm>
            <a:off x="685800" y="1685925"/>
            <a:ext cx="657225" cy="5238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v2-shape-1081">
            <a:extLst>
              <a:ext uri="{FF2B5EF4-FFF2-40B4-BE49-F238E27FC236}">
                <a16:creationId xmlns:a16="http://schemas.microsoft.com/office/drawing/2014/main" id="{E2441CC3-F916-4F15-9D0B-EBE45D0457CF}"/>
              </a:ext>
            </a:extLst>
          </p:cNvPr>
          <p:cNvSpPr>
            <a:spLocks noGrp="1"/>
          </p:cNvSpPr>
          <p:nvPr/>
        </p:nvSpPr>
        <p:spPr>
          <a:xfrm>
            <a:off x="1552575" y="1685925"/>
            <a:ext cx="4191000" cy="723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Same model options</a:t>
            </a:r>
          </a:p>
        </p:txBody>
      </p:sp>
      <p:sp>
        <p:nvSpPr>
          <p:cNvPr id="7" name="v2-shape-1082">
            <a:extLst>
              <a:ext uri="{FF2B5EF4-FFF2-40B4-BE49-F238E27FC236}">
                <a16:creationId xmlns:a16="http://schemas.microsoft.com/office/drawing/2014/main" id="{318FDB45-605F-47DC-B286-6239D35F0047}"/>
              </a:ext>
            </a:extLst>
          </p:cNvPr>
          <p:cNvSpPr>
            <a:spLocks noGrp="1"/>
          </p:cNvSpPr>
          <p:nvPr/>
        </p:nvSpPr>
        <p:spPr>
          <a:xfrm>
            <a:off x="1552575" y="2428875"/>
            <a:ext cx="4191000" cy="8191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Each method gets the same choices</a:t>
            </a:r>
          </a:p>
          <a:p>
            <a:pPr algn="l">
              <a:defRPr sz="18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and a comparable development budget.</a:t>
            </a:r>
          </a:p>
        </p:txBody>
      </p:sp>
      <p:sp>
        <p:nvSpPr>
          <p:cNvPr id="8" name="v2-shape-1083">
            <a:extLst>
              <a:ext uri="{FF2B5EF4-FFF2-40B4-BE49-F238E27FC236}">
                <a16:creationId xmlns:a16="http://schemas.microsoft.com/office/drawing/2014/main" id="{C86E8BA4-D614-4EB1-ABD2-88F34482D480}"/>
              </a:ext>
            </a:extLst>
          </p:cNvPr>
          <p:cNvSpPr>
            <a:spLocks noGrp="1"/>
          </p:cNvSpPr>
          <p:nvPr/>
        </p:nvSpPr>
        <p:spPr>
          <a:xfrm>
            <a:off x="6448425" y="1685925"/>
            <a:ext cx="657225" cy="5238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9" name="v2-shape-1084">
            <a:extLst>
              <a:ext uri="{FF2B5EF4-FFF2-40B4-BE49-F238E27FC236}">
                <a16:creationId xmlns:a16="http://schemas.microsoft.com/office/drawing/2014/main" id="{594C2C27-BD2C-4F84-B3CE-4E325E2E61C7}"/>
              </a:ext>
            </a:extLst>
          </p:cNvPr>
          <p:cNvSpPr>
            <a:spLocks noGrp="1"/>
          </p:cNvSpPr>
          <p:nvPr/>
        </p:nvSpPr>
        <p:spPr>
          <a:xfrm>
            <a:off x="7315200" y="1685925"/>
            <a:ext cx="4191000" cy="723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Choose before the final test</a:t>
            </a:r>
          </a:p>
        </p:txBody>
      </p:sp>
      <p:sp>
        <p:nvSpPr>
          <p:cNvPr id="10" name="v2-shape-1085">
            <a:extLst>
              <a:ext uri="{FF2B5EF4-FFF2-40B4-BE49-F238E27FC236}">
                <a16:creationId xmlns:a16="http://schemas.microsoft.com/office/drawing/2014/main" id="{C793C67C-E4D3-40F9-8216-5613B69D8CF9}"/>
              </a:ext>
            </a:extLst>
          </p:cNvPr>
          <p:cNvSpPr>
            <a:spLocks noGrp="1"/>
          </p:cNvSpPr>
          <p:nvPr/>
        </p:nvSpPr>
        <p:spPr>
          <a:xfrm>
            <a:off x="7315200" y="2428875"/>
            <a:ext cx="4191000" cy="8191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Keep final test results out</a:t>
            </a:r>
          </a:p>
          <a:p>
            <a:pPr algn="l">
              <a:defRPr sz="18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of model selection.</a:t>
            </a:r>
          </a:p>
        </p:txBody>
      </p:sp>
      <p:sp>
        <p:nvSpPr>
          <p:cNvPr id="11" name="v2-shape-1086">
            <a:extLst>
              <a:ext uri="{FF2B5EF4-FFF2-40B4-BE49-F238E27FC236}">
                <a16:creationId xmlns:a16="http://schemas.microsoft.com/office/drawing/2014/main" id="{B1959CB0-9AEA-4572-A0D1-8EAA69A6284C}"/>
              </a:ext>
            </a:extLst>
          </p:cNvPr>
          <p:cNvSpPr>
            <a:spLocks noGrp="1"/>
          </p:cNvSpPr>
          <p:nvPr/>
        </p:nvSpPr>
        <p:spPr>
          <a:xfrm>
            <a:off x="685800" y="3495675"/>
            <a:ext cx="657225" cy="5238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2" name="v2-shape-1087">
            <a:extLst>
              <a:ext uri="{FF2B5EF4-FFF2-40B4-BE49-F238E27FC236}">
                <a16:creationId xmlns:a16="http://schemas.microsoft.com/office/drawing/2014/main" id="{75078B54-A764-4AE9-8D20-4B92DEBA1587}"/>
              </a:ext>
            </a:extLst>
          </p:cNvPr>
          <p:cNvSpPr>
            <a:spLocks noGrp="1"/>
          </p:cNvSpPr>
          <p:nvPr/>
        </p:nvSpPr>
        <p:spPr>
          <a:xfrm>
            <a:off x="1552575" y="3495675"/>
            <a:ext cx="4191000" cy="723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Test on the same customers</a:t>
            </a:r>
          </a:p>
        </p:txBody>
      </p:sp>
      <p:sp>
        <p:nvSpPr>
          <p:cNvPr id="13" name="v2-shape-1088">
            <a:extLst>
              <a:ext uri="{FF2B5EF4-FFF2-40B4-BE49-F238E27FC236}">
                <a16:creationId xmlns:a16="http://schemas.microsoft.com/office/drawing/2014/main" id="{8D1B2248-316A-403E-985F-2C9A58C35412}"/>
              </a:ext>
            </a:extLst>
          </p:cNvPr>
          <p:cNvSpPr>
            <a:spLocks noGrp="1"/>
          </p:cNvSpPr>
          <p:nvPr/>
        </p:nvSpPr>
        <p:spPr>
          <a:xfrm>
            <a:off x="1552575" y="4238625"/>
            <a:ext cx="4191000" cy="8191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Compare all choices using</a:t>
            </a:r>
          </a:p>
          <a:p>
            <a:pPr algn="l">
              <a:defRPr sz="18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the same test customers.</a:t>
            </a:r>
          </a:p>
        </p:txBody>
      </p:sp>
      <p:sp>
        <p:nvSpPr>
          <p:cNvPr id="14" name="v2-shape-1089">
            <a:extLst>
              <a:ext uri="{FF2B5EF4-FFF2-40B4-BE49-F238E27FC236}">
                <a16:creationId xmlns:a16="http://schemas.microsoft.com/office/drawing/2014/main" id="{135741B5-533D-43C5-8182-03A973A56481}"/>
              </a:ext>
            </a:extLst>
          </p:cNvPr>
          <p:cNvSpPr>
            <a:spLocks noGrp="1"/>
          </p:cNvSpPr>
          <p:nvPr/>
        </p:nvSpPr>
        <p:spPr>
          <a:xfrm>
            <a:off x="6448425" y="3495675"/>
            <a:ext cx="657225" cy="5238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9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9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9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15" name="v2-shape-1090">
            <a:extLst>
              <a:ext uri="{FF2B5EF4-FFF2-40B4-BE49-F238E27FC236}">
                <a16:creationId xmlns:a16="http://schemas.microsoft.com/office/drawing/2014/main" id="{F1B62024-8CA5-4085-89CE-67B891D1AD2A}"/>
              </a:ext>
            </a:extLst>
          </p:cNvPr>
          <p:cNvSpPr>
            <a:spLocks noGrp="1"/>
          </p:cNvSpPr>
          <p:nvPr/>
        </p:nvSpPr>
        <p:spPr>
          <a:xfrm>
            <a:off x="7315200" y="3495675"/>
            <a:ext cx="4191000" cy="723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Repeat and check the evidence</a:t>
            </a:r>
          </a:p>
        </p:txBody>
      </p:sp>
      <p:sp>
        <p:nvSpPr>
          <p:cNvPr id="16" name="v2-shape-1091">
            <a:extLst>
              <a:ext uri="{FF2B5EF4-FFF2-40B4-BE49-F238E27FC236}">
                <a16:creationId xmlns:a16="http://schemas.microsoft.com/office/drawing/2014/main" id="{86F52BA3-3ADA-4677-9F3E-84CD1E731F10}"/>
              </a:ext>
            </a:extLst>
          </p:cNvPr>
          <p:cNvSpPr>
            <a:spLocks noGrp="1"/>
          </p:cNvSpPr>
          <p:nvPr/>
        </p:nvSpPr>
        <p:spPr>
          <a:xfrm>
            <a:off x="7315200" y="4238625"/>
            <a:ext cx="4191000" cy="8191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Repeat the process and account</a:t>
            </a:r>
          </a:p>
          <a:p>
            <a:pPr algn="l">
              <a:defRPr sz="18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80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for overlap between tests.</a:t>
            </a:r>
          </a:p>
        </p:txBody>
      </p:sp>
      <p:sp>
        <p:nvSpPr>
          <p:cNvPr id="17" name="Straight Connector 16">
            <a:extLst>
              <a:ext uri="{FF2B5EF4-FFF2-40B4-BE49-F238E27FC236}">
                <a16:creationId xmlns:a16="http://schemas.microsoft.com/office/drawing/2014/main" id="{04D99800-8AE4-4FFD-9049-FB0BA9611040}"/>
              </a:ext>
            </a:extLst>
          </p:cNvPr>
          <p:cNvSpPr>
            <a:spLocks noGrp="1"/>
          </p:cNvSpPr>
          <p:nvPr/>
        </p:nvSpPr>
        <p:spPr>
          <a:xfrm>
            <a:off x="685800" y="5286375"/>
            <a:ext cx="10820400" cy="0"/>
          </a:xfrm>
          <a:prstGeom prst="line">
            <a:avLst/>
          </a:prstGeom>
          <a:noFill/>
          <a:ln w="19050">
            <a:solidFill>
              <a:srgbClr val="007F83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8" name="v2-shape-1092">
            <a:extLst>
              <a:ext uri="{FF2B5EF4-FFF2-40B4-BE49-F238E27FC236}">
                <a16:creationId xmlns:a16="http://schemas.microsoft.com/office/drawing/2014/main" id="{4367D170-68E4-4975-807B-231B5B7D1C72}"/>
              </a:ext>
            </a:extLst>
          </p:cNvPr>
          <p:cNvSpPr>
            <a:spLocks noGrp="1"/>
          </p:cNvSpPr>
          <p:nvPr/>
        </p:nvSpPr>
        <p:spPr>
          <a:xfrm>
            <a:off x="685800" y="5514975"/>
            <a:ext cx="10820400" cy="4000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Agree on the rules before the formal comparison</a:t>
            </a:r>
          </a:p>
        </p:txBody>
      </p:sp>
      <p:sp>
        <p:nvSpPr>
          <p:cNvPr id="19" name="v2-shape-1093">
            <a:extLst>
              <a:ext uri="{FF2B5EF4-FFF2-40B4-BE49-F238E27FC236}">
                <a16:creationId xmlns:a16="http://schemas.microsoft.com/office/drawing/2014/main" id="{F1DA910E-F323-4FF4-9E48-22F9B33D31F1}"/>
              </a:ext>
            </a:extLst>
          </p:cNvPr>
          <p:cNvSpPr>
            <a:spLocks noGrp="1"/>
          </p:cNvSpPr>
          <p:nvPr/>
        </p:nvSpPr>
        <p:spPr>
          <a:xfrm>
            <a:off x="685800" y="6000750"/>
            <a:ext cx="10820400" cy="3048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6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>
              <a:defRPr sz="16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Taiwan </a:t>
            </a:r>
            <a:r>
              <a:rPr lang="en-US" sz="1650">
                <a:solidFill>
                  <a:srgbClr val="51677B"/>
                </a:solidFill>
                <a:latin typeface="Arial"/>
                <a:ea typeface="Arial"/>
                <a:cs typeface="Arial"/>
              </a:rPr>
              <a:t>data has</a:t>
            </a:r>
            <a:r>
              <a:rPr sz="165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 already informed our work. Fresh data would strengthen the evidence.</a:t>
            </a:r>
          </a:p>
        </p:txBody>
      </p:sp>
    </p:spTree>
    <p:extLst>
      <p:ext uri="{BB962C8B-B14F-4D97-AF65-F5344CB8AC3E}">
        <p14:creationId xmlns:p14="http://schemas.microsoft.com/office/powerpoint/2010/main" val="11509420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question-1">
            <a:extLst>
              <a:ext uri="{FF2B5EF4-FFF2-40B4-BE49-F238E27FC236}">
                <a16:creationId xmlns:a16="http://schemas.microsoft.com/office/drawing/2014/main" id="{30C236CC-48D8-4024-9E68-8682CBF1B83D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Questions for the professor</a:t>
            </a:r>
            <a:r>
              <a:rPr lang="en-US" sz="3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</a:t>
            </a:r>
            <a:r>
              <a:rPr sz="3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: the judge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D09BA8FB-3F39-4DE3-8C48-623ADC9CB5EF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question-2">
            <a:extLst>
              <a:ext uri="{FF2B5EF4-FFF2-40B4-BE49-F238E27FC236}">
                <a16:creationId xmlns:a16="http://schemas.microsoft.com/office/drawing/2014/main" id="{252DF7D8-5AD5-427C-9840-FA3E5CE79AC3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857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51677B"/>
                </a:solidFill>
                <a:latin typeface="Arial"/>
                <a:ea typeface="Arial"/>
                <a:cs typeface="Arial"/>
              </a:rPr>
              <a:t>Presentation </a:t>
            </a:r>
            <a:r>
              <a:rPr lang="en-US" sz="1125" b="0" dirty="0">
                <a:solidFill>
                  <a:srgbClr val="51677B"/>
                </a:solidFill>
                <a:latin typeface="Arial"/>
                <a:ea typeface="Arial"/>
                <a:cs typeface="Arial"/>
              </a:rPr>
              <a:t>– discussions and questions</a:t>
            </a:r>
            <a:endParaRPr sz="1125" b="0" dirty="0">
              <a:solidFill>
                <a:srgbClr val="51677B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4" name="question-3">
            <a:extLst>
              <a:ext uri="{FF2B5EF4-FFF2-40B4-BE49-F238E27FC236}">
                <a16:creationId xmlns:a16="http://schemas.microsoft.com/office/drawing/2014/main" id="{07C0B67C-1DF1-4F31-B987-06786A4ACA15}"/>
              </a:ext>
            </a:extLst>
          </p:cNvPr>
          <p:cNvSpPr>
            <a:spLocks noGrp="1"/>
          </p:cNvSpPr>
          <p:nvPr/>
        </p:nvSpPr>
        <p:spPr>
          <a:xfrm>
            <a:off x="10382250" y="6486525"/>
            <a:ext cx="1123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16 / 17</a:t>
            </a:r>
          </a:p>
        </p:txBody>
      </p:sp>
      <p:sp>
        <p:nvSpPr>
          <p:cNvPr id="5" name="question-4">
            <a:extLst>
              <a:ext uri="{FF2B5EF4-FFF2-40B4-BE49-F238E27FC236}">
                <a16:creationId xmlns:a16="http://schemas.microsoft.com/office/drawing/2014/main" id="{BFAFFA43-4FEF-44C4-946E-304CB97109A6}"/>
              </a:ext>
            </a:extLst>
          </p:cNvPr>
          <p:cNvSpPr>
            <a:spLocks noGrp="1"/>
          </p:cNvSpPr>
          <p:nvPr/>
        </p:nvSpPr>
        <p:spPr>
          <a:xfrm>
            <a:off x="685800" y="1524000"/>
            <a:ext cx="609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6" name="question-5">
            <a:extLst>
              <a:ext uri="{FF2B5EF4-FFF2-40B4-BE49-F238E27FC236}">
                <a16:creationId xmlns:a16="http://schemas.microsoft.com/office/drawing/2014/main" id="{4A409C61-111C-4C87-9F30-A0A7BB837EFE}"/>
              </a:ext>
            </a:extLst>
          </p:cNvPr>
          <p:cNvSpPr>
            <a:spLocks noGrp="1"/>
          </p:cNvSpPr>
          <p:nvPr/>
        </p:nvSpPr>
        <p:spPr>
          <a:xfrm>
            <a:off x="1504950" y="1524000"/>
            <a:ext cx="10001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What form should the independent judge take?</a:t>
            </a:r>
          </a:p>
        </p:txBody>
      </p:sp>
      <p:sp>
        <p:nvSpPr>
          <p:cNvPr id="7" name="question-6">
            <a:extLst>
              <a:ext uri="{FF2B5EF4-FFF2-40B4-BE49-F238E27FC236}">
                <a16:creationId xmlns:a16="http://schemas.microsoft.com/office/drawing/2014/main" id="{AA8A2EF8-1FD2-4189-B43B-62B892E7ACE2}"/>
              </a:ext>
            </a:extLst>
          </p:cNvPr>
          <p:cNvSpPr>
            <a:spLocks noGrp="1"/>
          </p:cNvSpPr>
          <p:nvPr/>
        </p:nvSpPr>
        <p:spPr>
          <a:xfrm>
            <a:off x="1504950" y="2190750"/>
            <a:ext cx="10001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Performance first: primary predictive criterion, with other dimensions reported</a:t>
            </a:r>
          </a:p>
        </p:txBody>
      </p:sp>
      <p:sp>
        <p:nvSpPr>
          <p:cNvPr id="8" name="question-7">
            <a:extLst>
              <a:ext uri="{FF2B5EF4-FFF2-40B4-BE49-F238E27FC236}">
                <a16:creationId xmlns:a16="http://schemas.microsoft.com/office/drawing/2014/main" id="{04971C35-E4DE-4D1A-BF34-498E34E13040}"/>
              </a:ext>
            </a:extLst>
          </p:cNvPr>
          <p:cNvSpPr>
            <a:spLocks noGrp="1"/>
          </p:cNvSpPr>
          <p:nvPr/>
        </p:nvSpPr>
        <p:spPr>
          <a:xfrm>
            <a:off x="1504950" y="2847975"/>
            <a:ext cx="10001250" cy="40957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Hybrid: minimum requirements, then predictive performance</a:t>
            </a:r>
          </a:p>
        </p:txBody>
      </p:sp>
      <p:sp>
        <p:nvSpPr>
          <p:cNvPr id="9" name="question-8">
            <a:extLst>
              <a:ext uri="{FF2B5EF4-FFF2-40B4-BE49-F238E27FC236}">
                <a16:creationId xmlns:a16="http://schemas.microsoft.com/office/drawing/2014/main" id="{388DAF63-1D9E-411B-AF4E-436FF8C75BE4}"/>
              </a:ext>
            </a:extLst>
          </p:cNvPr>
          <p:cNvSpPr>
            <a:spLocks noGrp="1"/>
          </p:cNvSpPr>
          <p:nvPr/>
        </p:nvSpPr>
        <p:spPr>
          <a:xfrm>
            <a:off x="1504950" y="3371850"/>
            <a:ext cx="10001250" cy="5905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875" b="1" dirty="0">
                <a:solidFill>
                  <a:srgbClr val="51677B"/>
                </a:solidFill>
                <a:latin typeface="Arial"/>
                <a:ea typeface="Arial"/>
                <a:cs typeface="Arial"/>
              </a:rPr>
              <a:t>Multidimensional: present Pareto compromises across the criteria</a:t>
            </a:r>
          </a:p>
        </p:txBody>
      </p:sp>
      <p:sp>
        <p:nvSpPr>
          <p:cNvPr id="10" name="Straight Connector 9">
            <a:extLst>
              <a:ext uri="{FF2B5EF4-FFF2-40B4-BE49-F238E27FC236}">
                <a16:creationId xmlns:a16="http://schemas.microsoft.com/office/drawing/2014/main" id="{17D799EA-34EB-443B-8D1C-2689378EFF66}"/>
              </a:ext>
            </a:extLst>
          </p:cNvPr>
          <p:cNvSpPr>
            <a:spLocks noGrp="1"/>
          </p:cNvSpPr>
          <p:nvPr/>
        </p:nvSpPr>
        <p:spPr>
          <a:xfrm>
            <a:off x="685800" y="414337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1" name="question-9">
            <a:extLst>
              <a:ext uri="{FF2B5EF4-FFF2-40B4-BE49-F238E27FC236}">
                <a16:creationId xmlns:a16="http://schemas.microsoft.com/office/drawing/2014/main" id="{42FEE887-7963-4600-9ABE-FB7357E85A38}"/>
              </a:ext>
            </a:extLst>
          </p:cNvPr>
          <p:cNvSpPr>
            <a:spLocks noGrp="1"/>
          </p:cNvSpPr>
          <p:nvPr/>
        </p:nvSpPr>
        <p:spPr>
          <a:xfrm>
            <a:off x="685800" y="4476750"/>
            <a:ext cx="609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question-10">
            <a:extLst>
              <a:ext uri="{FF2B5EF4-FFF2-40B4-BE49-F238E27FC236}">
                <a16:creationId xmlns:a16="http://schemas.microsoft.com/office/drawing/2014/main" id="{368F1200-140C-499A-A6B6-969306066D46}"/>
              </a:ext>
            </a:extLst>
          </p:cNvPr>
          <p:cNvSpPr>
            <a:spLocks noGrp="1"/>
          </p:cNvSpPr>
          <p:nvPr/>
        </p:nvSpPr>
        <p:spPr>
          <a:xfrm>
            <a:off x="1504950" y="4476750"/>
            <a:ext cx="10001250" cy="4381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25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If we use thresholds, how should we justify them?</a:t>
            </a:r>
          </a:p>
        </p:txBody>
      </p:sp>
      <p:sp>
        <p:nvSpPr>
          <p:cNvPr id="13" name="question-11">
            <a:extLst>
              <a:ext uri="{FF2B5EF4-FFF2-40B4-BE49-F238E27FC236}">
                <a16:creationId xmlns:a16="http://schemas.microsoft.com/office/drawing/2014/main" id="{458F1A06-DF44-47DE-97AF-DE5C1AC50CF5}"/>
              </a:ext>
            </a:extLst>
          </p:cNvPr>
          <p:cNvSpPr>
            <a:spLocks noGrp="1"/>
          </p:cNvSpPr>
          <p:nvPr/>
        </p:nvSpPr>
        <p:spPr>
          <a:xfrm>
            <a:off x="1504950" y="5114925"/>
            <a:ext cx="10001250" cy="8858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What makes fairness, robustness or explainability limits defensible?</a:t>
            </a:r>
          </a:p>
          <a:p>
            <a:pPr algn="l">
              <a:defRPr sz="18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If no justified threshold exists, should we report that dimension separately?</a:t>
            </a:r>
          </a:p>
        </p:txBody>
      </p:sp>
    </p:spTree>
    <p:extLst>
      <p:ext uri="{BB962C8B-B14F-4D97-AF65-F5344CB8AC3E}">
        <p14:creationId xmlns:p14="http://schemas.microsoft.com/office/powerpoint/2010/main" val="318567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question-12">
            <a:extLst>
              <a:ext uri="{FF2B5EF4-FFF2-40B4-BE49-F238E27FC236}">
                <a16:creationId xmlns:a16="http://schemas.microsoft.com/office/drawing/2014/main" id="{9E15CE9D-5899-405C-971C-0974E5508277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334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Questions for the professor</a:t>
            </a:r>
            <a:r>
              <a:rPr lang="en-US" sz="3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s</a:t>
            </a:r>
            <a:r>
              <a:rPr sz="3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: the study</a:t>
            </a: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1D1267D5-83D9-437A-845C-B0B052DA3C24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3" name="question-13">
            <a:extLst>
              <a:ext uri="{FF2B5EF4-FFF2-40B4-BE49-F238E27FC236}">
                <a16:creationId xmlns:a16="http://schemas.microsoft.com/office/drawing/2014/main" id="{3F6DF378-25F1-4280-84DB-8FE2B373BAFE}"/>
              </a:ext>
            </a:extLst>
          </p:cNvPr>
          <p:cNvSpPr>
            <a:spLocks noGrp="1"/>
          </p:cNvSpPr>
          <p:nvPr/>
        </p:nvSpPr>
        <p:spPr>
          <a:xfrm>
            <a:off x="685800" y="6515100"/>
            <a:ext cx="8572500" cy="19050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12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12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125" b="0" dirty="0">
                <a:solidFill>
                  <a:srgbClr val="51677B"/>
                </a:solidFill>
                <a:latin typeface="Arial"/>
                <a:ea typeface="Arial"/>
                <a:cs typeface="Arial"/>
              </a:rPr>
              <a:t>Presentation </a:t>
            </a:r>
            <a:r>
              <a:rPr lang="en-US" sz="1125" b="0" dirty="0">
                <a:solidFill>
                  <a:srgbClr val="51677B"/>
                </a:solidFill>
                <a:latin typeface="Arial"/>
                <a:ea typeface="Arial"/>
                <a:cs typeface="Arial"/>
              </a:rPr>
              <a:t>draft - </a:t>
            </a:r>
            <a:r>
              <a:rPr sz="1125" b="0" dirty="0">
                <a:solidFill>
                  <a:srgbClr val="51677B"/>
                </a:solidFill>
                <a:latin typeface="Arial"/>
                <a:ea typeface="Arial"/>
                <a:cs typeface="Arial"/>
              </a:rPr>
              <a:t>discussion</a:t>
            </a:r>
          </a:p>
        </p:txBody>
      </p:sp>
      <p:sp>
        <p:nvSpPr>
          <p:cNvPr id="4" name="question-14">
            <a:extLst>
              <a:ext uri="{FF2B5EF4-FFF2-40B4-BE49-F238E27FC236}">
                <a16:creationId xmlns:a16="http://schemas.microsoft.com/office/drawing/2014/main" id="{7FAA5302-2565-47F5-8A84-0F378EB0CC7B}"/>
              </a:ext>
            </a:extLst>
          </p:cNvPr>
          <p:cNvSpPr>
            <a:spLocks noGrp="1"/>
          </p:cNvSpPr>
          <p:nvPr/>
        </p:nvSpPr>
        <p:spPr>
          <a:xfrm>
            <a:off x="10382250" y="6486525"/>
            <a:ext cx="1123950" cy="238125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17 / 17</a:t>
            </a:r>
          </a:p>
        </p:txBody>
      </p:sp>
      <p:sp>
        <p:nvSpPr>
          <p:cNvPr id="5" name="question-15">
            <a:extLst>
              <a:ext uri="{FF2B5EF4-FFF2-40B4-BE49-F238E27FC236}">
                <a16:creationId xmlns:a16="http://schemas.microsoft.com/office/drawing/2014/main" id="{9232A413-51CB-4673-9A36-FBF9F259F71C}"/>
              </a:ext>
            </a:extLst>
          </p:cNvPr>
          <p:cNvSpPr>
            <a:spLocks noGrp="1"/>
          </p:cNvSpPr>
          <p:nvPr/>
        </p:nvSpPr>
        <p:spPr>
          <a:xfrm>
            <a:off x="685800" y="1495425"/>
            <a:ext cx="609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6" name="question-16">
            <a:extLst>
              <a:ext uri="{FF2B5EF4-FFF2-40B4-BE49-F238E27FC236}">
                <a16:creationId xmlns:a16="http://schemas.microsoft.com/office/drawing/2014/main" id="{CDAA0E72-08BA-4108-9ADA-3A2C4C6B2D85}"/>
              </a:ext>
            </a:extLst>
          </p:cNvPr>
          <p:cNvSpPr>
            <a:spLocks noGrp="1"/>
          </p:cNvSpPr>
          <p:nvPr/>
        </p:nvSpPr>
        <p:spPr>
          <a:xfrm>
            <a:off x="1504950" y="1495425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Is our proposed contribution worthwhile and focused?</a:t>
            </a:r>
          </a:p>
        </p:txBody>
      </p:sp>
      <p:sp>
        <p:nvSpPr>
          <p:cNvPr id="7" name="question-17">
            <a:extLst>
              <a:ext uri="{FF2B5EF4-FFF2-40B4-BE49-F238E27FC236}">
                <a16:creationId xmlns:a16="http://schemas.microsoft.com/office/drawing/2014/main" id="{26E15602-C95D-4030-899C-E1602B32AAEA}"/>
              </a:ext>
            </a:extLst>
          </p:cNvPr>
          <p:cNvSpPr>
            <a:spLocks noGrp="1"/>
          </p:cNvSpPr>
          <p:nvPr/>
        </p:nvSpPr>
        <p:spPr>
          <a:xfrm>
            <a:off x="1504950" y="2114550"/>
            <a:ext cx="100012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51677B"/>
                </a:solidFill>
                <a:latin typeface="Arial"/>
                <a:ea typeface="Arial"/>
                <a:cs typeface="Arial"/>
              </a:rPr>
              <a:t>We propose comparing model choices and their predictive results</a:t>
            </a:r>
          </a:p>
          <a:p>
            <a:pPr algn="l">
              <a:defRPr sz="18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51677B"/>
                </a:solidFill>
                <a:latin typeface="Arial"/>
                <a:ea typeface="Arial"/>
                <a:cs typeface="Arial"/>
              </a:rPr>
              <a:t>or meaningful Pareto compromises. Is this a sufficient contribution?</a:t>
            </a:r>
          </a:p>
        </p:txBody>
      </p:sp>
      <p:sp>
        <p:nvSpPr>
          <p:cNvPr id="8" name="question-18">
            <a:extLst>
              <a:ext uri="{FF2B5EF4-FFF2-40B4-BE49-F238E27FC236}">
                <a16:creationId xmlns:a16="http://schemas.microsoft.com/office/drawing/2014/main" id="{94C05CFA-9385-4C76-BA7F-C558D99E8E63}"/>
              </a:ext>
            </a:extLst>
          </p:cNvPr>
          <p:cNvSpPr>
            <a:spLocks noGrp="1"/>
          </p:cNvSpPr>
          <p:nvPr/>
        </p:nvSpPr>
        <p:spPr>
          <a:xfrm>
            <a:off x="685800" y="2990850"/>
            <a:ext cx="609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9" name="question-19">
            <a:extLst>
              <a:ext uri="{FF2B5EF4-FFF2-40B4-BE49-F238E27FC236}">
                <a16:creationId xmlns:a16="http://schemas.microsoft.com/office/drawing/2014/main" id="{BF3552E2-EF29-4377-A880-27E139193700}"/>
              </a:ext>
            </a:extLst>
          </p:cNvPr>
          <p:cNvSpPr>
            <a:spLocks noGrp="1"/>
          </p:cNvSpPr>
          <p:nvPr/>
        </p:nvSpPr>
        <p:spPr>
          <a:xfrm>
            <a:off x="1504950" y="2990850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Is our proposed experimental comparison convincing?</a:t>
            </a:r>
          </a:p>
        </p:txBody>
      </p:sp>
      <p:sp>
        <p:nvSpPr>
          <p:cNvPr id="10" name="question-20">
            <a:extLst>
              <a:ext uri="{FF2B5EF4-FFF2-40B4-BE49-F238E27FC236}">
                <a16:creationId xmlns:a16="http://schemas.microsoft.com/office/drawing/2014/main" id="{8C908704-22CE-4AA6-A42A-98BE885739D5}"/>
              </a:ext>
            </a:extLst>
          </p:cNvPr>
          <p:cNvSpPr>
            <a:spLocks noGrp="1"/>
          </p:cNvSpPr>
          <p:nvPr/>
        </p:nvSpPr>
        <p:spPr>
          <a:xfrm>
            <a:off x="1504950" y="3609975"/>
            <a:ext cx="100012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We will specify the SAFE variant, candidate models and evaluation plan.</a:t>
            </a:r>
          </a:p>
          <a:p>
            <a:pPr algn="l">
              <a:defRPr sz="18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8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What weakness or missing comparison could undermine the conclusions?</a:t>
            </a:r>
          </a:p>
        </p:txBody>
      </p:sp>
      <p:sp>
        <p:nvSpPr>
          <p:cNvPr id="11" name="question-21">
            <a:extLst>
              <a:ext uri="{FF2B5EF4-FFF2-40B4-BE49-F238E27FC236}">
                <a16:creationId xmlns:a16="http://schemas.microsoft.com/office/drawing/2014/main" id="{97911037-3B22-4A88-97DF-B6B48126F503}"/>
              </a:ext>
            </a:extLst>
          </p:cNvPr>
          <p:cNvSpPr>
            <a:spLocks noGrp="1"/>
          </p:cNvSpPr>
          <p:nvPr/>
        </p:nvSpPr>
        <p:spPr>
          <a:xfrm>
            <a:off x="685800" y="4486275"/>
            <a:ext cx="609600" cy="400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12" name="question-22">
            <a:extLst>
              <a:ext uri="{FF2B5EF4-FFF2-40B4-BE49-F238E27FC236}">
                <a16:creationId xmlns:a16="http://schemas.microsoft.com/office/drawing/2014/main" id="{30A943C4-EDE8-4F2D-AE6E-779AD9DA537B}"/>
              </a:ext>
            </a:extLst>
          </p:cNvPr>
          <p:cNvSpPr>
            <a:spLocks noGrp="1"/>
          </p:cNvSpPr>
          <p:nvPr/>
        </p:nvSpPr>
        <p:spPr>
          <a:xfrm>
            <a:off x="1504950" y="4486275"/>
            <a:ext cx="10001250" cy="6667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What additional evidence would strengthen the study most?</a:t>
            </a:r>
          </a:p>
        </p:txBody>
      </p:sp>
      <p:sp>
        <p:nvSpPr>
          <p:cNvPr id="13" name="question-23">
            <a:extLst>
              <a:ext uri="{FF2B5EF4-FFF2-40B4-BE49-F238E27FC236}">
                <a16:creationId xmlns:a16="http://schemas.microsoft.com/office/drawing/2014/main" id="{A6DDAEDF-1184-468F-8194-B83C7A48F915}"/>
              </a:ext>
            </a:extLst>
          </p:cNvPr>
          <p:cNvSpPr>
            <a:spLocks noGrp="1"/>
          </p:cNvSpPr>
          <p:nvPr/>
        </p:nvSpPr>
        <p:spPr>
          <a:xfrm>
            <a:off x="1504950" y="5105400"/>
            <a:ext cx="10001250" cy="781050"/>
          </a:xfrm>
          <a:prstGeom prst="rect">
            <a:avLst/>
          </a:prstGeom>
          <a:noFill/>
          <a:ln w="0">
            <a:noFill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51677B"/>
                </a:solidFill>
                <a:latin typeface="Arial"/>
                <a:ea typeface="Arial"/>
                <a:cs typeface="Arial"/>
              </a:rPr>
              <a:t>Taiwan has already informed development. We propose confirmation</a:t>
            </a:r>
          </a:p>
          <a:p>
            <a:pPr algn="l">
              <a:defRPr sz="18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875" b="0" dirty="0">
                <a:solidFill>
                  <a:srgbClr val="51677B"/>
                </a:solidFill>
                <a:latin typeface="Arial"/>
                <a:ea typeface="Arial"/>
                <a:cs typeface="Arial"/>
              </a:rPr>
              <a:t>on another dataset. Is that sufficient, and what suitable data could we use</a:t>
            </a:r>
            <a:r>
              <a:rPr lang="en-US" sz="1875" b="0" dirty="0">
                <a:solidFill>
                  <a:srgbClr val="51677B"/>
                </a:solidFill>
                <a:latin typeface="Arial"/>
                <a:ea typeface="Arial"/>
                <a:cs typeface="Arial"/>
              </a:rPr>
              <a:t> </a:t>
            </a:r>
            <a:r>
              <a:rPr sz="1875" b="0" dirty="0">
                <a:solidFill>
                  <a:srgbClr val="51677B"/>
                </a:solidFill>
                <a:latin typeface="Arial"/>
                <a:ea typeface="Arial"/>
                <a:cs typeface="Arial"/>
              </a:rPr>
              <a:t>?</a:t>
            </a:r>
          </a:p>
        </p:txBody>
      </p:sp>
    </p:spTree>
    <p:extLst>
      <p:ext uri="{BB962C8B-B14F-4D97-AF65-F5344CB8AC3E}">
        <p14:creationId xmlns:p14="http://schemas.microsoft.com/office/powerpoint/2010/main" val="7949056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-208">
            <a:extLst>
              <a:ext uri="{FF2B5EF4-FFF2-40B4-BE49-F238E27FC236}">
                <a16:creationId xmlns:a16="http://schemas.microsoft.com/office/drawing/2014/main" id="{EAEDC7B7-04F0-4E73-97D0-CD3E0448EDA0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33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Appendix A  Existing exploratory results</a:t>
            </a:r>
            <a:r>
              <a:rPr lang="en-US" sz="3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– what we tested</a:t>
            </a:r>
            <a:endParaRPr sz="3000" b="1" dirty="0">
              <a:solidFill>
                <a:srgbClr val="17324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ule-209">
            <a:extLst>
              <a:ext uri="{FF2B5EF4-FFF2-40B4-BE49-F238E27FC236}">
                <a16:creationId xmlns:a16="http://schemas.microsoft.com/office/drawing/2014/main" id="{9935C994-AC6D-494D-9066-1A2ACAE4D388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text-212">
            <a:extLst>
              <a:ext uri="{FF2B5EF4-FFF2-40B4-BE49-F238E27FC236}">
                <a16:creationId xmlns:a16="http://schemas.microsoft.com/office/drawing/2014/main" id="{94D91DBB-CAEC-4676-8484-BFFA1717C73E}"/>
              </a:ext>
            </a:extLst>
          </p:cNvPr>
          <p:cNvSpPr>
            <a:spLocks noGrp="1"/>
          </p:cNvSpPr>
          <p:nvPr/>
        </p:nvSpPr>
        <p:spPr>
          <a:xfrm>
            <a:off x="685800" y="1523998"/>
            <a:ext cx="10820400" cy="2667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425" b="1" dirty="0">
                <a:solidFill>
                  <a:srgbClr val="007F83"/>
                </a:solidFill>
                <a:latin typeface="Arial"/>
                <a:ea typeface="Arial"/>
                <a:cs typeface="Arial"/>
              </a:rPr>
              <a:t>EXISTING RESULTS / INSPECTED HOLDOUT OF 5,996 RECORDS</a:t>
            </a:r>
            <a:r>
              <a:rPr lang="en-US" sz="1425" b="1" dirty="0">
                <a:solidFill>
                  <a:srgbClr val="007F83"/>
                </a:solidFill>
                <a:latin typeface="Arial"/>
                <a:ea typeface="Arial"/>
                <a:cs typeface="Arial"/>
              </a:rPr>
              <a:t> – we will change it with models proposed at slide 7: LR, DT, RF, GBX</a:t>
            </a:r>
            <a:endParaRPr sz="1425" b="1" dirty="0">
              <a:solidFill>
                <a:srgbClr val="007F83"/>
              </a:solidFill>
              <a:latin typeface="Arial"/>
              <a:ea typeface="Arial"/>
              <a:cs typeface="Arial"/>
            </a:endParaRPr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6766B04-917A-4403-8AFD-6D50B65245F2}"/>
              </a:ext>
            </a:extLst>
          </p:cNvPr>
          <p:cNvGraphicFramePr/>
          <p:nvPr/>
        </p:nvGraphicFramePr>
        <p:xfrm>
          <a:off x="685800" y="2238375"/>
          <a:ext cx="10820400" cy="2571752"/>
        </p:xfrm>
        <a:graphic>
          <a:graphicData uri="http://schemas.openxmlformats.org/drawingml/2006/table">
            <a:tbl>
              <a:tblPr/>
              <a:tblGrid>
                <a:gridCol w="56578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144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240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42938"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Model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Inputs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ROC-AUC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Brier Score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dirty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Regularized Logistic Regression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0.7569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0.1382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Full Gradient Boosting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22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0.7781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0.1350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2938">
                <a:tc>
                  <a:txBody>
                    <a:bodyPr/>
                    <a:lstStyle/>
                    <a:p>
                      <a:r>
                        <a:rPr sz="1875" dirty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2024 selected Gradient Boosting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3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0.7512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875" dirty="0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0.1402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" name="text-213">
            <a:extLst>
              <a:ext uri="{FF2B5EF4-FFF2-40B4-BE49-F238E27FC236}">
                <a16:creationId xmlns:a16="http://schemas.microsoft.com/office/drawing/2014/main" id="{DB346AFB-CC73-4B7C-B52C-4E195DBCE7FA}"/>
              </a:ext>
            </a:extLst>
          </p:cNvPr>
          <p:cNvSpPr>
            <a:spLocks noGrp="1"/>
          </p:cNvSpPr>
          <p:nvPr/>
        </p:nvSpPr>
        <p:spPr>
          <a:xfrm>
            <a:off x="685800" y="5238750"/>
            <a:ext cx="10820400" cy="4286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3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3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Existing exploratory model results</a:t>
            </a:r>
          </a:p>
        </p:txBody>
      </p:sp>
      <p:sp>
        <p:nvSpPr>
          <p:cNvPr id="8" name="text-214">
            <a:extLst>
              <a:ext uri="{FF2B5EF4-FFF2-40B4-BE49-F238E27FC236}">
                <a16:creationId xmlns:a16="http://schemas.microsoft.com/office/drawing/2014/main" id="{DB1B7DB9-EBD1-43D0-83AD-63882EB7AF44}"/>
              </a:ext>
            </a:extLst>
          </p:cNvPr>
          <p:cNvSpPr>
            <a:spLocks noGrp="1"/>
          </p:cNvSpPr>
          <p:nvPr/>
        </p:nvSpPr>
        <p:spPr>
          <a:xfrm>
            <a:off x="685800" y="5724525"/>
            <a:ext cx="10820400" cy="6000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72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These do not compare choices made by published SAFE 2026 and extended SAFE.</a:t>
            </a:r>
          </a:p>
          <a:p>
            <a:pPr algn="l">
              <a:buNone/>
              <a:defRPr sz="172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The already-viewed holdout is not pristine confirmatory evidence.</a:t>
            </a:r>
          </a:p>
        </p:txBody>
      </p:sp>
    </p:spTree>
    <p:extLst>
      <p:ext uri="{BB962C8B-B14F-4D97-AF65-F5344CB8AC3E}">
        <p14:creationId xmlns:p14="http://schemas.microsoft.com/office/powerpoint/2010/main" val="4108801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-215">
            <a:extLst>
              <a:ext uri="{FF2B5EF4-FFF2-40B4-BE49-F238E27FC236}">
                <a16:creationId xmlns:a16="http://schemas.microsoft.com/office/drawing/2014/main" id="{BD376675-0189-4DE0-84F1-EAE7338222AB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33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8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Appendix B  The published aggregation in detail</a:t>
            </a:r>
            <a:r>
              <a:rPr lang="en-US" sz="28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(SAFE, 2026)</a:t>
            </a:r>
            <a:endParaRPr sz="2800" b="1" dirty="0">
              <a:solidFill>
                <a:srgbClr val="17324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rule-216">
            <a:extLst>
              <a:ext uri="{FF2B5EF4-FFF2-40B4-BE49-F238E27FC236}">
                <a16:creationId xmlns:a16="http://schemas.microsoft.com/office/drawing/2014/main" id="{0F5E9B07-3F95-44B3-B247-26D5246FB03B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4" name="text-218">
            <a:extLst>
              <a:ext uri="{FF2B5EF4-FFF2-40B4-BE49-F238E27FC236}">
                <a16:creationId xmlns:a16="http://schemas.microsoft.com/office/drawing/2014/main" id="{0A5BDC80-83F1-4BBC-89A0-5F5B2680D403}"/>
              </a:ext>
            </a:extLst>
          </p:cNvPr>
          <p:cNvSpPr>
            <a:spLocks noGrp="1"/>
          </p:cNvSpPr>
          <p:nvPr/>
        </p:nvSpPr>
        <p:spPr>
          <a:xfrm>
            <a:off x="10382250" y="6486525"/>
            <a:ext cx="112395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r"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r">
              <a:buNone/>
              <a:defRPr sz="1275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Appendix B</a:t>
            </a:r>
          </a:p>
        </p:txBody>
      </p:sp>
      <p:sp>
        <p:nvSpPr>
          <p:cNvPr id="5" name="text-219">
            <a:extLst>
              <a:ext uri="{FF2B5EF4-FFF2-40B4-BE49-F238E27FC236}">
                <a16:creationId xmlns:a16="http://schemas.microsoft.com/office/drawing/2014/main" id="{679C51AF-93F7-45E1-AF85-AFA9F0A88382}"/>
              </a:ext>
            </a:extLst>
          </p:cNvPr>
          <p:cNvSpPr>
            <a:spLocks noGrp="1"/>
          </p:cNvSpPr>
          <p:nvPr/>
        </p:nvSpPr>
        <p:spPr>
          <a:xfrm>
            <a:off x="685800" y="1381125"/>
            <a:ext cx="10477500" cy="2381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275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275" b="1">
                <a:solidFill>
                  <a:srgbClr val="A96D26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A96D26"/>
                </a:solidFill>
                <a:latin typeface="Arial"/>
                <a:ea typeface="Arial"/>
                <a:cs typeface="Arial"/>
              </a:rPr>
              <a:t>HYPOTHETICAL ARITHMETIC EXAMPLE</a:t>
            </a:r>
          </a:p>
        </p:txBody>
      </p:sp>
      <p:sp>
        <p:nvSpPr>
          <p:cNvPr id="6" name="text-220">
            <a:extLst>
              <a:ext uri="{FF2B5EF4-FFF2-40B4-BE49-F238E27FC236}">
                <a16:creationId xmlns:a16="http://schemas.microsoft.com/office/drawing/2014/main" id="{62E9BDAC-77FA-43ED-8539-E47153C52C8F}"/>
              </a:ext>
            </a:extLst>
          </p:cNvPr>
          <p:cNvSpPr>
            <a:spLocks noGrp="1"/>
          </p:cNvSpPr>
          <p:nvPr/>
        </p:nvSpPr>
        <p:spPr>
          <a:xfrm>
            <a:off x="685800" y="1790700"/>
            <a:ext cx="4000500" cy="3905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75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324D"/>
                </a:solidFill>
                <a:latin typeface="Arial"/>
                <a:ea typeface="Arial"/>
                <a:cs typeface="Arial"/>
              </a:rPr>
              <a:t>Raw curve samples</a:t>
            </a:r>
          </a:p>
        </p:txBody>
      </p:sp>
      <p:sp>
        <p:nvSpPr>
          <p:cNvPr id="7" name="text-221">
            <a:extLst>
              <a:ext uri="{FF2B5EF4-FFF2-40B4-BE49-F238E27FC236}">
                <a16:creationId xmlns:a16="http://schemas.microsoft.com/office/drawing/2014/main" id="{8C17C3F5-B22E-41B1-9144-7B6C35C40E53}"/>
              </a:ext>
            </a:extLst>
          </p:cNvPr>
          <p:cNvSpPr>
            <a:spLocks noGrp="1"/>
          </p:cNvSpPr>
          <p:nvPr/>
        </p:nvSpPr>
        <p:spPr>
          <a:xfrm>
            <a:off x="685800" y="2324100"/>
            <a:ext cx="4000500" cy="13049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1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1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RGA = [0.8, 0.0]</a:t>
            </a:r>
          </a:p>
          <a:p>
            <a:pPr algn="l">
              <a:buNone/>
              <a:defRPr sz="21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RGE* = [1.0, 0.5]</a:t>
            </a:r>
          </a:p>
          <a:p>
            <a:pPr algn="l">
              <a:buNone/>
              <a:defRPr sz="2175" b="0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RGR = [1.0, 0.4]</a:t>
            </a:r>
          </a:p>
        </p:txBody>
      </p:sp>
      <p:sp>
        <p:nvSpPr>
          <p:cNvPr id="8" name="text-222">
            <a:extLst>
              <a:ext uri="{FF2B5EF4-FFF2-40B4-BE49-F238E27FC236}">
                <a16:creationId xmlns:a16="http://schemas.microsoft.com/office/drawing/2014/main" id="{B05BEBC8-F854-462F-8CB2-5C750F39F5B0}"/>
              </a:ext>
            </a:extLst>
          </p:cNvPr>
          <p:cNvSpPr>
            <a:spLocks noGrp="1"/>
          </p:cNvSpPr>
          <p:nvPr/>
        </p:nvSpPr>
        <p:spPr>
          <a:xfrm>
            <a:off x="685800" y="4105275"/>
            <a:ext cx="4000500" cy="4476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40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40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2 × 2 × 2 = 8 triplets</a:t>
            </a:r>
          </a:p>
        </p:txBody>
      </p:sp>
      <p:sp>
        <p:nvSpPr>
          <p:cNvPr id="9" name="text-223">
            <a:extLst>
              <a:ext uri="{FF2B5EF4-FFF2-40B4-BE49-F238E27FC236}">
                <a16:creationId xmlns:a16="http://schemas.microsoft.com/office/drawing/2014/main" id="{37D109DF-DDBE-47DD-A8CC-0C4832DF7C48}"/>
              </a:ext>
            </a:extLst>
          </p:cNvPr>
          <p:cNvSpPr>
            <a:spLocks noGrp="1"/>
          </p:cNvSpPr>
          <p:nvPr/>
        </p:nvSpPr>
        <p:spPr>
          <a:xfrm>
            <a:off x="685800" y="4733925"/>
            <a:ext cx="4000500" cy="9048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9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19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Arithmetic mean inside each triplet.</a:t>
            </a:r>
          </a:p>
          <a:p>
            <a:pPr algn="l">
              <a:buNone/>
              <a:defRPr sz="195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Then average all eight cells.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E803FF98-A63C-49C8-A0A5-E76848B97B37}"/>
              </a:ext>
            </a:extLst>
          </p:cNvPr>
          <p:cNvGraphicFramePr/>
          <p:nvPr/>
        </p:nvGraphicFramePr>
        <p:xfrm>
          <a:off x="5210175" y="1790700"/>
          <a:ext cx="6296025" cy="3305175"/>
        </p:xfrm>
        <a:graphic>
          <a:graphicData uri="http://schemas.openxmlformats.org/drawingml/2006/table">
            <a:tbl>
              <a:tblPr/>
              <a:tblGrid>
                <a:gridCol w="1143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000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09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661035"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RGR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RGA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RGE* = 1.0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 b="1">
                          <a:solidFill>
                            <a:srgbClr val="FFFFFF"/>
                          </a:solidFill>
                          <a:latin typeface="Arial"/>
                          <a:ea typeface="Arial"/>
                          <a:cs typeface="Arial"/>
                        </a:rPr>
                        <a:t>RGE* = 0.5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>
                      <a:solidFill>
                        <a:srgbClr val="CDDBE2"/>
                      </a:solidFill>
                      <a:prstDash val="soli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17324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6103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1.0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0.8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0.933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0.767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6103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1.0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0.0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0.667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0.500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6103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0.4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0.8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0.733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0.567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61035"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0.4</a:t>
                      </a:r>
                    </a:p>
                  </a:txBody>
                  <a:tcPr marL="152400" marR="152400" marT="114300" marB="95250" anchor="ctr">
                    <a:lnL w="6668">
                      <a:solidFill>
                        <a:srgbClr val="CDDBE2"/>
                      </a:solidFill>
                      <a:prstDash val="soli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0.0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0.467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725">
                          <a:solidFill>
                            <a:srgbClr val="17324D"/>
                          </a:solidFill>
                          <a:latin typeface="Arial"/>
                          <a:ea typeface="Arial"/>
                          <a:cs typeface="Arial"/>
                        </a:rPr>
                        <a:t>0.300</a:t>
                      </a:r>
                    </a:p>
                  </a:txBody>
                  <a:tcPr marL="152400" marR="152400" marT="114300" marB="95250" anchor="ctr">
                    <a:lnL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668">
                      <a:solidFill>
                        <a:srgbClr val="CDDBE2"/>
                      </a:solidFill>
                      <a:prstDash val="solid"/>
                    </a:lnR>
                    <a:lnT w="6668" cap="flat" cmpd="sng" algn="ctr">
                      <a:solidFill>
                        <a:srgbClr val="CDDBE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668">
                      <a:solidFill>
                        <a:srgbClr val="CDDBE2"/>
                      </a:solidFill>
                      <a:prstDash val="solid"/>
                    </a:lnB>
                    <a:solidFill>
                      <a:srgbClr val="F2F5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1" name="text-224">
            <a:extLst>
              <a:ext uri="{FF2B5EF4-FFF2-40B4-BE49-F238E27FC236}">
                <a16:creationId xmlns:a16="http://schemas.microsoft.com/office/drawing/2014/main" id="{C37B3C5C-346F-46DF-9EE6-7872E17B6AEA}"/>
              </a:ext>
            </a:extLst>
          </p:cNvPr>
          <p:cNvSpPr>
            <a:spLocks noGrp="1"/>
          </p:cNvSpPr>
          <p:nvPr/>
        </p:nvSpPr>
        <p:spPr>
          <a:xfrm>
            <a:off x="5210175" y="5334000"/>
            <a:ext cx="6296025" cy="5143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5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buNone/>
              <a:defRPr sz="2550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Integrated toy score: V = 0.617</a:t>
            </a:r>
          </a:p>
        </p:txBody>
      </p:sp>
    </p:spTree>
    <p:extLst>
      <p:ext uri="{BB962C8B-B14F-4D97-AF65-F5344CB8AC3E}">
        <p14:creationId xmlns:p14="http://schemas.microsoft.com/office/powerpoint/2010/main" val="57131241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CFDF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v2-shape-1128">
            <a:extLst>
              <a:ext uri="{FF2B5EF4-FFF2-40B4-BE49-F238E27FC236}">
                <a16:creationId xmlns:a16="http://schemas.microsoft.com/office/drawing/2014/main" id="{94286DC3-EC74-4E70-8B97-125D3FEBF1C3}"/>
              </a:ext>
            </a:extLst>
          </p:cNvPr>
          <p:cNvSpPr>
            <a:spLocks noGrp="1"/>
          </p:cNvSpPr>
          <p:nvPr/>
        </p:nvSpPr>
        <p:spPr>
          <a:xfrm>
            <a:off x="685800" y="495300"/>
            <a:ext cx="10820400" cy="733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3000" b="1">
                <a:solidFill>
                  <a:srgbClr val="17324D"/>
                </a:solidFill>
                <a:latin typeface="Arial"/>
                <a:ea typeface="Arial"/>
                <a:cs typeface="Arial"/>
              </a:defRPr>
            </a:pPr>
            <a:r>
              <a:rPr sz="3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Appendix </a:t>
            </a:r>
            <a:r>
              <a:rPr lang="en-US" sz="3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C</a:t>
            </a:r>
            <a:r>
              <a:rPr sz="3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  </a:t>
            </a:r>
            <a:r>
              <a:rPr lang="en-US" sz="3000" b="1" dirty="0">
                <a:solidFill>
                  <a:srgbClr val="17324D"/>
                </a:solidFill>
                <a:latin typeface="Arial"/>
                <a:ea typeface="Arial"/>
                <a:cs typeface="Arial"/>
              </a:rPr>
              <a:t>References</a:t>
            </a:r>
            <a:endParaRPr sz="3000" b="1" dirty="0">
              <a:solidFill>
                <a:srgbClr val="17324D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Straight Connector 1">
            <a:extLst>
              <a:ext uri="{FF2B5EF4-FFF2-40B4-BE49-F238E27FC236}">
                <a16:creationId xmlns:a16="http://schemas.microsoft.com/office/drawing/2014/main" id="{D3FF993C-446D-46F0-A4AD-F48E74B61FC2}"/>
              </a:ext>
            </a:extLst>
          </p:cNvPr>
          <p:cNvSpPr>
            <a:spLocks noGrp="1"/>
          </p:cNvSpPr>
          <p:nvPr/>
        </p:nvSpPr>
        <p:spPr>
          <a:xfrm>
            <a:off x="685800" y="6391275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5" name="v2-shape-1131">
            <a:extLst>
              <a:ext uri="{FF2B5EF4-FFF2-40B4-BE49-F238E27FC236}">
                <a16:creationId xmlns:a16="http://schemas.microsoft.com/office/drawing/2014/main" id="{E69DA8D0-6895-4F53-ACD7-E83E545FC0E8}"/>
              </a:ext>
            </a:extLst>
          </p:cNvPr>
          <p:cNvSpPr>
            <a:spLocks noGrp="1"/>
          </p:cNvSpPr>
          <p:nvPr/>
        </p:nvSpPr>
        <p:spPr>
          <a:xfrm>
            <a:off x="685800" y="1438275"/>
            <a:ext cx="10820400" cy="2857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4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PRINCIPAL PAPERS / LINKED TITLES</a:t>
            </a:r>
          </a:p>
        </p:txBody>
      </p:sp>
      <p:sp>
        <p:nvSpPr>
          <p:cNvPr id="6" name="v2-shape-1132">
            <a:extLst>
              <a:ext uri="{FF2B5EF4-FFF2-40B4-BE49-F238E27FC236}">
                <a16:creationId xmlns:a16="http://schemas.microsoft.com/office/drawing/2014/main" id="{5390E0D9-F2E3-4A40-A48F-F10BF9591DF7}"/>
              </a:ext>
            </a:extLst>
          </p:cNvPr>
          <p:cNvSpPr>
            <a:spLocks noGrp="1"/>
          </p:cNvSpPr>
          <p:nvPr/>
        </p:nvSpPr>
        <p:spPr>
          <a:xfrm>
            <a:off x="685800" y="1990725"/>
            <a:ext cx="1190625" cy="352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2024</a:t>
            </a:r>
          </a:p>
        </p:txBody>
      </p:sp>
      <p:sp>
        <p:nvSpPr>
          <p:cNvPr id="7" name="v2-shape-1133">
            <a:extLst>
              <a:ext uri="{FF2B5EF4-FFF2-40B4-BE49-F238E27FC236}">
                <a16:creationId xmlns:a16="http://schemas.microsoft.com/office/drawing/2014/main" id="{FC1A8DFC-D415-4940-ACA5-F33319676464}"/>
              </a:ext>
            </a:extLst>
          </p:cNvPr>
          <p:cNvSpPr>
            <a:spLocks noGrp="1"/>
          </p:cNvSpPr>
          <p:nvPr/>
        </p:nvSpPr>
        <p:spPr>
          <a:xfrm>
            <a:off x="2095500" y="1990725"/>
            <a:ext cx="94107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83"/>
                </a:solidFill>
                <a:latin typeface="Arial"/>
                <a:ea typeface="Arial"/>
                <a:cs typeface="Arial"/>
                <a:hlinkClick r:id="rId3"/>
              </a:rPr>
              <a:t>Artificial Intelligence risk measurement</a:t>
            </a:r>
          </a:p>
        </p:txBody>
      </p:sp>
      <p:sp>
        <p:nvSpPr>
          <p:cNvPr id="8" name="v2-shape-1134">
            <a:extLst>
              <a:ext uri="{FF2B5EF4-FFF2-40B4-BE49-F238E27FC236}">
                <a16:creationId xmlns:a16="http://schemas.microsoft.com/office/drawing/2014/main" id="{9D833C35-A1B2-4D07-A78C-580F154B0C9F}"/>
              </a:ext>
            </a:extLst>
          </p:cNvPr>
          <p:cNvSpPr>
            <a:spLocks noGrp="1"/>
          </p:cNvSpPr>
          <p:nvPr/>
        </p:nvSpPr>
        <p:spPr>
          <a:xfrm>
            <a:off x="2095500" y="2362200"/>
            <a:ext cx="941070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https://doi.org/10.1016/j.eswa.2023.121220</a:t>
            </a:r>
          </a:p>
        </p:txBody>
      </p:sp>
      <p:sp>
        <p:nvSpPr>
          <p:cNvPr id="9" name="v2-shape-1135">
            <a:extLst>
              <a:ext uri="{FF2B5EF4-FFF2-40B4-BE49-F238E27FC236}">
                <a16:creationId xmlns:a16="http://schemas.microsoft.com/office/drawing/2014/main" id="{B1C70A97-31EA-4B0F-99FA-E72A11AF2302}"/>
              </a:ext>
            </a:extLst>
          </p:cNvPr>
          <p:cNvSpPr>
            <a:spLocks noGrp="1"/>
          </p:cNvSpPr>
          <p:nvPr/>
        </p:nvSpPr>
        <p:spPr>
          <a:xfrm>
            <a:off x="685800" y="2781300"/>
            <a:ext cx="1190625" cy="352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10" name="v2-shape-1136">
            <a:extLst>
              <a:ext uri="{FF2B5EF4-FFF2-40B4-BE49-F238E27FC236}">
                <a16:creationId xmlns:a16="http://schemas.microsoft.com/office/drawing/2014/main" id="{5F13759A-7D27-43CA-A5A8-0103DEF6626E}"/>
              </a:ext>
            </a:extLst>
          </p:cNvPr>
          <p:cNvSpPr>
            <a:spLocks noGrp="1"/>
          </p:cNvSpPr>
          <p:nvPr/>
        </p:nvSpPr>
        <p:spPr>
          <a:xfrm>
            <a:off x="2095500" y="2781300"/>
            <a:ext cx="94107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83"/>
                </a:solidFill>
                <a:latin typeface="Arial"/>
                <a:ea typeface="Arial"/>
                <a:cs typeface="Arial"/>
                <a:hlinkClick r:id="rId4"/>
              </a:rPr>
              <a:t>A Rank Graduation Box for SAFE AI</a:t>
            </a:r>
          </a:p>
        </p:txBody>
      </p:sp>
      <p:sp>
        <p:nvSpPr>
          <p:cNvPr id="11" name="v2-shape-1137">
            <a:extLst>
              <a:ext uri="{FF2B5EF4-FFF2-40B4-BE49-F238E27FC236}">
                <a16:creationId xmlns:a16="http://schemas.microsoft.com/office/drawing/2014/main" id="{C0513C36-A198-47BB-85A1-704886EF81FC}"/>
              </a:ext>
            </a:extLst>
          </p:cNvPr>
          <p:cNvSpPr>
            <a:spLocks noGrp="1"/>
          </p:cNvSpPr>
          <p:nvPr/>
        </p:nvSpPr>
        <p:spPr>
          <a:xfrm>
            <a:off x="2095500" y="3152775"/>
            <a:ext cx="941070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https://doi.org/10.1016/j.eswa.2024.125239</a:t>
            </a:r>
          </a:p>
        </p:txBody>
      </p:sp>
      <p:sp>
        <p:nvSpPr>
          <p:cNvPr id="12" name="v2-shape-1138">
            <a:extLst>
              <a:ext uri="{FF2B5EF4-FFF2-40B4-BE49-F238E27FC236}">
                <a16:creationId xmlns:a16="http://schemas.microsoft.com/office/drawing/2014/main" id="{29774F28-17C0-4CA0-993C-E6872CD14266}"/>
              </a:ext>
            </a:extLst>
          </p:cNvPr>
          <p:cNvSpPr>
            <a:spLocks noGrp="1"/>
          </p:cNvSpPr>
          <p:nvPr/>
        </p:nvSpPr>
        <p:spPr>
          <a:xfrm>
            <a:off x="685800" y="3571875"/>
            <a:ext cx="1190625" cy="352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2025</a:t>
            </a:r>
          </a:p>
        </p:txBody>
      </p:sp>
      <p:sp>
        <p:nvSpPr>
          <p:cNvPr id="13" name="v2-shape-1139">
            <a:extLst>
              <a:ext uri="{FF2B5EF4-FFF2-40B4-BE49-F238E27FC236}">
                <a16:creationId xmlns:a16="http://schemas.microsoft.com/office/drawing/2014/main" id="{DF5A06E5-5004-4A47-A860-7E4B5DF32C8F}"/>
              </a:ext>
            </a:extLst>
          </p:cNvPr>
          <p:cNvSpPr>
            <a:spLocks noGrp="1"/>
          </p:cNvSpPr>
          <p:nvPr/>
        </p:nvSpPr>
        <p:spPr>
          <a:xfrm>
            <a:off x="2095500" y="3571875"/>
            <a:ext cx="94107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83"/>
                </a:solidFill>
                <a:latin typeface="Arial"/>
                <a:ea typeface="Arial"/>
                <a:cs typeface="Arial"/>
                <a:hlinkClick r:id="rId5"/>
              </a:rPr>
              <a:t>Correlation Metrics for Safe Artificial Intelligence</a:t>
            </a:r>
          </a:p>
        </p:txBody>
      </p:sp>
      <p:sp>
        <p:nvSpPr>
          <p:cNvPr id="14" name="v2-shape-1140">
            <a:extLst>
              <a:ext uri="{FF2B5EF4-FFF2-40B4-BE49-F238E27FC236}">
                <a16:creationId xmlns:a16="http://schemas.microsoft.com/office/drawing/2014/main" id="{1E5DC9A5-606C-41D3-9A0F-4479FADD31AB}"/>
              </a:ext>
            </a:extLst>
          </p:cNvPr>
          <p:cNvSpPr>
            <a:spLocks noGrp="1"/>
          </p:cNvSpPr>
          <p:nvPr/>
        </p:nvSpPr>
        <p:spPr>
          <a:xfrm>
            <a:off x="2095500" y="3943350"/>
            <a:ext cx="941070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https://doi.org/10.3390/risks13090178</a:t>
            </a:r>
          </a:p>
        </p:txBody>
      </p:sp>
      <p:sp>
        <p:nvSpPr>
          <p:cNvPr id="15" name="v2-shape-1141">
            <a:extLst>
              <a:ext uri="{FF2B5EF4-FFF2-40B4-BE49-F238E27FC236}">
                <a16:creationId xmlns:a16="http://schemas.microsoft.com/office/drawing/2014/main" id="{B8A15CC9-14EE-4A55-820D-DC45753E0874}"/>
              </a:ext>
            </a:extLst>
          </p:cNvPr>
          <p:cNvSpPr>
            <a:spLocks noGrp="1"/>
          </p:cNvSpPr>
          <p:nvPr/>
        </p:nvSpPr>
        <p:spPr>
          <a:xfrm>
            <a:off x="685800" y="4362450"/>
            <a:ext cx="1190625" cy="35242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20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20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007F83"/>
                </a:solidFill>
                <a:latin typeface="Arial"/>
                <a:ea typeface="Arial"/>
                <a:cs typeface="Arial"/>
              </a:rPr>
              <a:t>2026</a:t>
            </a:r>
          </a:p>
        </p:txBody>
      </p:sp>
      <p:sp>
        <p:nvSpPr>
          <p:cNvPr id="16" name="v2-shape-1142">
            <a:extLst>
              <a:ext uri="{FF2B5EF4-FFF2-40B4-BE49-F238E27FC236}">
                <a16:creationId xmlns:a16="http://schemas.microsoft.com/office/drawing/2014/main" id="{25FAFE62-04AB-44B7-A2AD-94C977499C37}"/>
              </a:ext>
            </a:extLst>
          </p:cNvPr>
          <p:cNvSpPr>
            <a:spLocks noGrp="1"/>
          </p:cNvSpPr>
          <p:nvPr/>
        </p:nvSpPr>
        <p:spPr>
          <a:xfrm>
            <a:off x="2095500" y="4362450"/>
            <a:ext cx="9410700" cy="34290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8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87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007F83"/>
                </a:solidFill>
                <a:latin typeface="Arial"/>
                <a:ea typeface="Arial"/>
                <a:cs typeface="Arial"/>
                <a:hlinkClick r:id="rId6"/>
              </a:rPr>
              <a:t>SAFE AI metrics: An integrated approach</a:t>
            </a:r>
          </a:p>
        </p:txBody>
      </p:sp>
      <p:sp>
        <p:nvSpPr>
          <p:cNvPr id="17" name="v2-shape-1143">
            <a:extLst>
              <a:ext uri="{FF2B5EF4-FFF2-40B4-BE49-F238E27FC236}">
                <a16:creationId xmlns:a16="http://schemas.microsoft.com/office/drawing/2014/main" id="{854E93FB-7939-4B24-9360-30991683CA90}"/>
              </a:ext>
            </a:extLst>
          </p:cNvPr>
          <p:cNvSpPr>
            <a:spLocks noGrp="1"/>
          </p:cNvSpPr>
          <p:nvPr/>
        </p:nvSpPr>
        <p:spPr>
          <a:xfrm>
            <a:off x="2095500" y="4733925"/>
            <a:ext cx="9410700" cy="295275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5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500" b="0">
                <a:solidFill>
                  <a:srgbClr val="51677B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1677B"/>
                </a:solidFill>
                <a:latin typeface="Arial"/>
                <a:ea typeface="Arial"/>
                <a:cs typeface="Arial"/>
              </a:rPr>
              <a:t>https://doi.org/10.1016/j.mlwa.2025.100821</a:t>
            </a:r>
          </a:p>
        </p:txBody>
      </p:sp>
      <p:sp>
        <p:nvSpPr>
          <p:cNvPr id="18" name="Straight Connector 17">
            <a:extLst>
              <a:ext uri="{FF2B5EF4-FFF2-40B4-BE49-F238E27FC236}">
                <a16:creationId xmlns:a16="http://schemas.microsoft.com/office/drawing/2014/main" id="{E45BE572-2B87-4C16-9500-956A6EB510BC}"/>
              </a:ext>
            </a:extLst>
          </p:cNvPr>
          <p:cNvSpPr>
            <a:spLocks noGrp="1"/>
          </p:cNvSpPr>
          <p:nvPr/>
        </p:nvSpPr>
        <p:spPr>
          <a:xfrm>
            <a:off x="685800" y="5314950"/>
            <a:ext cx="10820400" cy="0"/>
          </a:xfrm>
          <a:prstGeom prst="line">
            <a:avLst/>
          </a:prstGeom>
          <a:noFill/>
          <a:ln w="9525">
            <a:solidFill>
              <a:srgbClr val="CDDBE2"/>
            </a:solidFill>
          </a:ln>
        </p:spPr>
        <p:txBody>
          <a:bodyPr/>
          <a:lstStyle/>
          <a:p>
            <a:endParaRPr lang="en-US"/>
          </a:p>
        </p:txBody>
      </p:sp>
      <p:sp>
        <p:nvSpPr>
          <p:cNvPr id="19" name="v2-shape-1144">
            <a:extLst>
              <a:ext uri="{FF2B5EF4-FFF2-40B4-BE49-F238E27FC236}">
                <a16:creationId xmlns:a16="http://schemas.microsoft.com/office/drawing/2014/main" id="{92FFFA45-8256-43EA-A470-B8D9D860485D}"/>
              </a:ext>
            </a:extLst>
          </p:cNvPr>
          <p:cNvSpPr>
            <a:spLocks noGrp="1"/>
          </p:cNvSpPr>
          <p:nvPr/>
        </p:nvSpPr>
        <p:spPr>
          <a:xfrm>
            <a:off x="685800" y="5534025"/>
            <a:ext cx="10820400" cy="323850"/>
          </a:xfrm>
          <a:prstGeom prst="rect">
            <a:avLst/>
          </a:prstGeom>
          <a:noFill/>
          <a:ln w="9525">
            <a:noFill/>
            <a:prstDash val="solid"/>
          </a:ln>
        </p:spPr>
        <p:txBody>
          <a:bodyPr wrap="square" lIns="0" tIns="0" rIns="0" bIns="0" anchor="t">
            <a:noAutofit/>
          </a:bodyPr>
          <a:lstStyle>
            <a:defPPr algn="l">
              <a:defRPr sz="17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defPPr>
          </a:lstStyle>
          <a:p>
            <a:pPr algn="l">
              <a:defRPr sz="1725" b="1">
                <a:solidFill>
                  <a:srgbClr val="007F83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007F83"/>
                </a:solidFill>
                <a:latin typeface="Arial"/>
                <a:ea typeface="Arial"/>
                <a:cs typeface="Arial"/>
                <a:hlinkClick r:id="rId7"/>
              </a:rPr>
              <a:t>Related branch: Wasserstein assessment of SAFE principles</a:t>
            </a:r>
          </a:p>
        </p:txBody>
      </p:sp>
    </p:spTree>
    <p:extLst>
      <p:ext uri="{BB962C8B-B14F-4D97-AF65-F5344CB8AC3E}">
        <p14:creationId xmlns:p14="http://schemas.microsoft.com/office/powerpoint/2010/main" val="821765394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6c448b02-4488-4a47-a34a-2c3d811a2e28}" enabled="1" method="Privileged" siteId="{b1c14d5c-3625-45b3-a430-9552373a0c2f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1499</Words>
  <Application>Microsoft Office PowerPoint</Application>
  <DocSecurity>0</DocSecurity>
  <PresentationFormat>Widescreen</PresentationFormat>
  <Paragraphs>365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4" baseType="lpstr">
      <vt:lpstr>Aptos</vt:lpstr>
      <vt:lpstr>Arial</vt:lpstr>
      <vt:lpstr>ChatGPT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Alina Luchian</cp:lastModifiedBy>
  <cp:revision>108</cp:revision>
  <dcterms:created xsi:type="dcterms:W3CDTF">2026-10-15T11:19:52Z</dcterms:created>
  <dcterms:modified xsi:type="dcterms:W3CDTF">2026-10-16T09:05:45Z</dcterms:modified>
</cp:coreProperties>
</file>